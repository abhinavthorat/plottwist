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PlotTwist, from Sony Research India. The talk follows the three acts of The Prestige: the pledge (the task), the turn (what makes it hard and how PlotTwist restructures it), and the prestige (what it achieves).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 the Pledge: the ordinary-looking task. A short premise has to become a full plot, and we need a clear standard for what a good plot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constantly turn a concise premise into a narrative outline. The premise gives minimal guidance, yet has to expand into a causally connected sequence: setup, development, climax, resolution. Early motivations must align with later decisions, tonal shifts must feel earned, pacing must sustain engagement. Unlike summarization or QA, local context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 judged along five Narrative Quality Dimensions. Together they cover structural, temporal, stylistic, character-centric and affective aspects while keeping the evaluation space compact. These five dimensions recur through every component of PlotTwist.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 the Turn: the complications, and the change in approach PlotTwist makes in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obstacles. Generation: task-specific alignment beats general-purpose models, but aligning frontier-scale models is computationally prohibitive, and scale alone does not fix long-horizon coherence. Evaluation: LLM judges show positivity bias, same-family preference, verbosity bias and limited agreement with experts, and their errors are correlated across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hypothesis: the key lies not in model scale, but in externalizing narrative structure into explicit evaluative and training signals. Rather than asking one monolithic model to learn every aspect of narrative quality implicitly through token prediction, PlotTwist decomposes the problem into specialized components, trading model capacity for structured workflow design. The research question: can SLMs, meaning at most 3B active parameters per token, match frontier LLMs with the right scaffolding?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modules. The Aspect Rating Reward Model scores plots on the five NQDs. Its rankings produce preference pairs for DPO on the MoE generator. The Agentic Evaluation module sits outside the training pipeline and assesses outputs post hoc. Colors stay fixed from here: purple for the reward model, blue for the generator, green for the jury.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dataset has aspect-level plot ratings, so PlotTwist builds one. 5,000 MovieLens films, plots from Wikipedia, at most 4,000 words. IMDb ratings are used only for curation and stratification, not training. Five LLMs each rate every aspect twice: once considering only positives, once only negatives. The final rating sums the differences. This mitigates LLM positivity bias. Qwen-3-32B, 4-bit, is then fine-tuned with cross-entropy plus a Huber loss on the ratings.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Premises are generated for each of the 5,000 plots with Gemma-27B. The base MoE and three frontier models write plots for each premise, and the reward model scores them. A sample is kept only if a frontier model has the highest reward, above 8, by a margin of at least 0.5. That leaves 160 high-confidence preference pairs. DPO is then run on Qwen-3-30B-A3B: 30B total parameters, 3B active per token. SFT is skipped because the base model already follows instructions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jury is independent of training. Five open-weight jurors from five families, none of them Qwen, score each plot on every NQD. Disagreements of two points or more go through two rounds of structured deliberation, then a held-out sixth-family judge, Llama-3.3-70B. Neither step changes the conclusions, so results report the independent first-round panel. Each NQD has a ten-criterion rubric, and every criterion score must quote a verbatim span from the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III, the Prestige: first, do the evaluators themselves hold up; then, how PlotTwist compares with eleven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the scores, both evaluators are tested on known-good and known-bad plots: 94 from the 101 Greatest Screenplays of All Time, 37 Razzie winners. The Razzie set is fixed and an equal GSAT sample is drawn over 1,000 runs. Reward model: 8.28 vs 7.21, a gap of +1.07. Jury: 8.33 vs 6.58, +1.75. GSAT wins in 100% of runs, on all five NQDs, with large effect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reliable is the jury itself? Raw inter-juror agreement is moderate, Krippendorff's alpha 0.41, but that mostly reflects calibration: jurors differ in leniency, not in ordering. Gwet's AC2 is 0.89, recentering raises alpha to 0.64, and system rankings are highly consistent: mean pairwise Spearman 0.97, Kendall's W 0.98. Because judgments are correlated, the panel counts as roughly 1.3 effective independent judges, not five, which is why the per-judge and leave-one-judge-out analyses carry the evidential weight. Same-family judges inflate scores by 0.82, but PlotTwist does not benefit: its corrected same-family inflation is negative. The ranking holds across all 113 analysis specifications.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pre-specified primary endpoint is per-premise paired win rate over 160 held-out premises, ties counted as 0.5, with bootstrap CIs and Holm-corrected sign tests. PlotTwist wins at least 0.95 against every open-weight baseline, 0.94 against Gemini 2.0 Flash, 0.91 against GPT-4.1, 0.73 against Agents' Room, all significant. Against Claude Sonnet 4 the result is inconclusive: 0.56, CI crossing parity, p = 0.13. We only claim PlotTwist is competitive with it. Ablations: the dense Qwen3-32B scores 7.90 with about ten times the active parameters; DPO alone lifts the base MoE from 8.03 to 8.81 on the development evaluator.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Ablations. The gains are not attributable to scale, architecture or generation paradigm. PlotTwist outperforms similarly sized instruction-tuned models (Qwen2.5-14B 7.62, DeepSeek-R1-14B 7.60) and the dense Qwen3-32B (7.90) with about one-tenth the active parameters per token, win rate 0.99. It beats the multi-agent Agents' Room, 8.36 vs 8.25, win rate 0.73, with a single model and a single inference pass. Isolating preference optimization: the base Qwen-3-30B-A3B goes from 8.03 to 8.81 after DPO on 160 pairs. Note that last comparison uses the single-judge development evaluator, not the jury.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Quality-stratified analysis. 160 films in four IMDb strata, 40 each. A premise is derived from each source plot, PlotTwist generates a plot, and the jury compares original and generated pairs. The improvement grows monotonically as source quality drops: +0.31, +0.65, +0.98, +1.28. For Excellent films pacing is unchanged within uncertainty, while in the Low stratum generated plots beat their originals on at least 97.5% of films on every NQD. PlotTwist adapts the size of its intervention rather than uniformly inflating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prestige. A model with 3B active parameters, aligned with structure rather than scale, beats ten of eleven baselines and is competitive with Claude Sonnet 4. The paper's conclusion: structured, preference-based alignment is a resource-efficient approach to high-quality creative plot generation. Limitations: LLM judges rather than expert readers, English synopsis-style plots only, and the Claude Sonnet 4 comparison is unresolved at 160 premises.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Scan the code to visit the project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13.png"/><Relationship Id="rId14" Type="http://schemas.openxmlformats.org/officeDocument/2006/relationships/slideLayout" Target="../slideLayouts/slideLayout1.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image" Target="../media/image-6-13.png"/><Relationship Id="rId14" Type="http://schemas.openxmlformats.org/officeDocument/2006/relationships/image" Target="../media/image-6-14.svg"/><Relationship Id="rId15" Type="http://schemas.openxmlformats.org/officeDocument/2006/relationships/image" Target="../media/image-6-15.png"/><Relationship Id="rId16" Type="http://schemas.openxmlformats.org/officeDocument/2006/relationships/slideLayout" Target="../slideLayouts/slideLayout1.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image" Target="../media/image-7-13.png"/><Relationship Id="rId14" Type="http://schemas.openxmlformats.org/officeDocument/2006/relationships/image" Target="../media/image-7-14.svg"/><Relationship Id="rId15" Type="http://schemas.openxmlformats.org/officeDocument/2006/relationships/image" Target="../media/image-7-15.png"/><Relationship Id="rId16" Type="http://schemas.openxmlformats.org/officeDocument/2006/relationships/image" Target="../media/image-7-16.svg"/><Relationship Id="rId17" Type="http://schemas.openxmlformats.org/officeDocument/2006/relationships/image" Target="../media/image-7-17.png"/><Relationship Id="rId18" Type="http://schemas.openxmlformats.org/officeDocument/2006/relationships/slideLayout" Target="../slideLayouts/slideLayout1.xml"/><Relationship Id="rId1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image" Target="../media/image-11-9.png"/><Relationship Id="rId10" Type="http://schemas.openxmlformats.org/officeDocument/2006/relationships/image" Target="../media/image-11-10.sv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image" Target="../media/image-18-8.svg"/><Relationship Id="rId9" Type="http://schemas.openxmlformats.org/officeDocument/2006/relationships/image" Target="../media/image-18-9.png"/><Relationship Id="rId10" Type="http://schemas.openxmlformats.org/officeDocument/2006/relationships/image" Target="../media/image-18-10.svg"/><Relationship Id="rId11" Type="http://schemas.openxmlformats.org/officeDocument/2006/relationships/image" Target="../media/image-18-11.png"/><Relationship Id="rId12" Type="http://schemas.openxmlformats.org/officeDocument/2006/relationships/image" Target="../media/image-18-12.svg"/><Relationship Id="rId13" Type="http://schemas.openxmlformats.org/officeDocument/2006/relationships/image" Target="../media/image-18-13.png"/><Relationship Id="rId14" Type="http://schemas.openxmlformats.org/officeDocument/2006/relationships/slideLayout" Target="../slideLayouts/slideLayout1.xml"/><Relationship Id="rId1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657225"/>
            <a:ext cx="1835944" cy="323850"/>
          </a:xfrm>
          <a:prstGeom prst="rect">
            <a:avLst/>
          </a:prstGeom>
        </p:spPr>
      </p:pic>
      <p:pic>
        <p:nvPicPr>
          <p:cNvPr id="3" name="Image 1" descr="preencoded.png">    </p:cNvPr>
          <p:cNvPicPr>
            <a:picLocks noChangeAspect="1"/>
          </p:cNvPicPr>
          <p:nvPr/>
        </p:nvPicPr>
        <p:blipFill>
          <a:blip r:embed="rId2"/>
          <a:stretch>
            <a:fillRect/>
          </a:stretch>
        </p:blipFill>
        <p:spPr>
          <a:xfrm>
            <a:off x="14054679" y="533400"/>
            <a:ext cx="3280822" cy="571500"/>
          </a:xfrm>
          <a:prstGeom prst="rect">
            <a:avLst/>
          </a:prstGeom>
        </p:spPr>
      </p:pic>
      <p:sp>
        <p:nvSpPr>
          <p:cNvPr id="4" name="Text 0"/>
          <p:cNvSpPr/>
          <p:nvPr/>
        </p:nvSpPr>
        <p:spPr>
          <a:xfrm>
            <a:off x="952500" y="2476500"/>
            <a:ext cx="11525250" cy="2095500"/>
          </a:xfrm>
          <a:prstGeom prst="rect">
            <a:avLst/>
          </a:prstGeom>
          <a:noFill/>
          <a:ln/>
        </p:spPr>
        <p:txBody>
          <a:bodyPr wrap="square" lIns="25400" tIns="25400" rIns="25400" bIns="25400" rtlCol="0" anchor="t">
            <a:normAutofit/>
          </a:bodyPr>
          <a:lstStyle/>
          <a:p>
            <a:pPr algn="l" indent="0" marL="0">
              <a:lnSpc>
                <a:spcPct val="74250"/>
              </a:lnSpc>
              <a:buNone/>
            </a:pPr>
            <a:r>
              <a:rPr lang="en-US" sz="18000" b="1" spc="-810" kern="0" dirty="0">
                <a:solidFill>
                  <a:srgbClr val="16191F"/>
                </a:solidFill>
                <a:latin typeface="Inter" pitchFamily="34" charset="0"/>
                <a:ea typeface="Inter" pitchFamily="34" charset="-122"/>
                <a:cs typeface="Inter" pitchFamily="34" charset="-120"/>
              </a:rPr>
              <a:t>PlotTwist</a:t>
            </a:r>
            <a:endParaRPr lang="en-US" sz="18000" dirty="0"/>
          </a:p>
        </p:txBody>
      </p:sp>
      <p:sp>
        <p:nvSpPr>
          <p:cNvPr id="5" name="Text 1"/>
          <p:cNvSpPr/>
          <p:nvPr/>
        </p:nvSpPr>
        <p:spPr>
          <a:xfrm>
            <a:off x="952500" y="4914900"/>
            <a:ext cx="10791825" cy="1177203"/>
          </a:xfrm>
          <a:prstGeom prst="rect">
            <a:avLst/>
          </a:prstGeom>
          <a:noFill/>
          <a:ln/>
        </p:spPr>
        <p:txBody>
          <a:bodyPr wrap="square" lIns="25400" tIns="25400" rIns="25400" bIns="25400" rtlCol="0" anchor="t">
            <a:normAutofit/>
          </a:bodyPr>
          <a:lstStyle/>
          <a:p>
            <a:pPr algn="l" indent="0" marL="0">
              <a:lnSpc>
                <a:spcPct val="95610"/>
              </a:lnSpc>
              <a:buNone/>
            </a:pPr>
            <a:r>
              <a:rPr lang="en-US" sz="3900" spc="-58" kern="0" dirty="0">
                <a:solidFill>
                  <a:srgbClr val="414750"/>
                </a:solidFill>
                <a:latin typeface="Inter" pitchFamily="34" charset="0"/>
                <a:ea typeface="Inter" pitchFamily="34" charset="-122"/>
                <a:cs typeface="Inter" pitchFamily="34" charset="-120"/>
              </a:rPr>
              <a:t>A Creative Plot Generation Framework with Small Language Models</a:t>
            </a:r>
            <a:endParaRPr lang="en-US" sz="3900" dirty="0"/>
          </a:p>
        </p:txBody>
      </p:sp>
      <p:sp>
        <p:nvSpPr>
          <p:cNvPr id="6" name="Text 2"/>
          <p:cNvSpPr/>
          <p:nvPr/>
        </p:nvSpPr>
        <p:spPr>
          <a:xfrm>
            <a:off x="952500" y="8082396"/>
            <a:ext cx="2117646" cy="356755"/>
          </a:xfrm>
          <a:prstGeom prst="rect">
            <a:avLst/>
          </a:prstGeom>
          <a:noFill/>
          <a:ln/>
        </p:spPr>
        <p:txBody>
          <a:bodyPr wrap="none" lIns="25400" tIns="25400" rIns="25400" bIns="25400" rtlCol="0" anchor="t">
            <a:normAutofit/>
          </a:bodyPr>
          <a:lstStyle/>
          <a:p>
            <a:pPr algn="l" indent="0" marL="0">
              <a:buNone/>
            </a:pPr>
            <a:r>
              <a:rPr lang="en-US" sz="2100" dirty="0">
                <a:solidFill>
                  <a:srgbClr val="16191F"/>
                </a:solidFill>
                <a:latin typeface="Inter" pitchFamily="34" charset="0"/>
                <a:ea typeface="Inter" pitchFamily="34" charset="-122"/>
                <a:cs typeface="Inter" pitchFamily="34" charset="-120"/>
              </a:rPr>
              <a:t>Abhinav Thorat</a:t>
            </a:r>
            <a:endParaRPr lang="en-US" sz="2100" dirty="0"/>
          </a:p>
        </p:txBody>
      </p:sp>
      <p:sp>
        <p:nvSpPr>
          <p:cNvPr id="7" name="Text 3"/>
          <p:cNvSpPr/>
          <p:nvPr/>
        </p:nvSpPr>
        <p:spPr>
          <a:xfrm>
            <a:off x="3144332" y="8082396"/>
            <a:ext cx="1334572" cy="356755"/>
          </a:xfrm>
          <a:prstGeom prst="rect">
            <a:avLst/>
          </a:prstGeom>
          <a:noFill/>
          <a:ln/>
        </p:spPr>
        <p:txBody>
          <a:bodyPr wrap="none" lIns="25400" tIns="25400" rIns="25400" bIns="25400" rtlCol="0" anchor="t">
            <a:normAutofit/>
          </a:bodyPr>
          <a:lstStyle/>
          <a:p>
            <a:pPr algn="l" indent="0" marL="0">
              <a:buNone/>
            </a:pPr>
            <a:r>
              <a:rPr lang="en-US" sz="2100" dirty="0">
                <a:solidFill>
                  <a:srgbClr val="16191F"/>
                </a:solidFill>
                <a:latin typeface="Inter" pitchFamily="34" charset="0"/>
                <a:ea typeface="Inter" pitchFamily="34" charset="-122"/>
                <a:cs typeface="Inter" pitchFamily="34" charset="-120"/>
              </a:rPr>
              <a:t>Ravi Kolla</a:t>
            </a:r>
            <a:endParaRPr lang="en-US" sz="2100" dirty="0"/>
          </a:p>
        </p:txBody>
      </p:sp>
      <p:sp>
        <p:nvSpPr>
          <p:cNvPr id="8" name="Text 4"/>
          <p:cNvSpPr/>
          <p:nvPr/>
        </p:nvSpPr>
        <p:spPr>
          <a:xfrm>
            <a:off x="4624279" y="8082396"/>
            <a:ext cx="1562338" cy="356755"/>
          </a:xfrm>
          <a:prstGeom prst="rect">
            <a:avLst/>
          </a:prstGeom>
          <a:noFill/>
          <a:ln/>
        </p:spPr>
        <p:txBody>
          <a:bodyPr wrap="none" lIns="25400" tIns="25400" rIns="25400" bIns="25400" rtlCol="0" anchor="t">
            <a:normAutofit/>
          </a:bodyPr>
          <a:lstStyle/>
          <a:p>
            <a:pPr algn="l" indent="0" marL="0">
              <a:buNone/>
            </a:pPr>
            <a:r>
              <a:rPr lang="en-US" sz="2100" dirty="0">
                <a:solidFill>
                  <a:srgbClr val="16191F"/>
                </a:solidFill>
                <a:latin typeface="Inter" pitchFamily="34" charset="0"/>
                <a:ea typeface="Inter" pitchFamily="34" charset="-122"/>
                <a:cs typeface="Inter" pitchFamily="34" charset="-120"/>
              </a:rPr>
              <a:t>Jyotin Goel</a:t>
            </a:r>
            <a:endParaRPr lang="en-US" sz="2100" dirty="0"/>
          </a:p>
        </p:txBody>
      </p:sp>
      <p:sp>
        <p:nvSpPr>
          <p:cNvPr id="9" name="Text 5"/>
          <p:cNvSpPr/>
          <p:nvPr/>
        </p:nvSpPr>
        <p:spPr>
          <a:xfrm>
            <a:off x="6311287" y="8082396"/>
            <a:ext cx="2163842" cy="356755"/>
          </a:xfrm>
          <a:prstGeom prst="rect">
            <a:avLst/>
          </a:prstGeom>
          <a:noFill/>
          <a:ln/>
        </p:spPr>
        <p:txBody>
          <a:bodyPr wrap="none" lIns="25400" tIns="25400" rIns="25400" bIns="25400" rtlCol="0" anchor="t">
            <a:normAutofit/>
          </a:bodyPr>
          <a:lstStyle/>
          <a:p>
            <a:pPr algn="l" indent="0" marL="0">
              <a:buNone/>
            </a:pPr>
            <a:r>
              <a:rPr lang="en-US" sz="2100" dirty="0">
                <a:solidFill>
                  <a:srgbClr val="16191F"/>
                </a:solidFill>
                <a:latin typeface="Inter" pitchFamily="34" charset="0"/>
                <a:ea typeface="Inter" pitchFamily="34" charset="-122"/>
                <a:cs typeface="Inter" pitchFamily="34" charset="-120"/>
              </a:rPr>
              <a:t>Madhav Kataria</a:t>
            </a:r>
            <a:endParaRPr lang="en-US" sz="2100" dirty="0"/>
          </a:p>
        </p:txBody>
      </p:sp>
      <p:sp>
        <p:nvSpPr>
          <p:cNvPr id="10" name="Text 6"/>
          <p:cNvSpPr/>
          <p:nvPr/>
        </p:nvSpPr>
        <p:spPr>
          <a:xfrm>
            <a:off x="8545116" y="8082396"/>
            <a:ext cx="2714030" cy="356755"/>
          </a:xfrm>
          <a:prstGeom prst="rect">
            <a:avLst/>
          </a:prstGeom>
          <a:noFill/>
          <a:ln/>
        </p:spPr>
        <p:txBody>
          <a:bodyPr wrap="none" lIns="25400" tIns="25400" rIns="25400" bIns="25400" rtlCol="0" anchor="t">
            <a:normAutofit/>
          </a:bodyPr>
          <a:lstStyle/>
          <a:p>
            <a:pPr algn="l" indent="0" marL="0">
              <a:buNone/>
            </a:pPr>
            <a:r>
              <a:rPr lang="en-US" sz="2100" dirty="0">
                <a:solidFill>
                  <a:srgbClr val="16191F"/>
                </a:solidFill>
                <a:latin typeface="Inter" pitchFamily="34" charset="0"/>
                <a:ea typeface="Inter" pitchFamily="34" charset="-122"/>
                <a:cs typeface="Inter" pitchFamily="34" charset="-120"/>
              </a:rPr>
              <a:t>Niranjan Pedanekar</a:t>
            </a:r>
            <a:endParaRPr lang="en-US" sz="2100" dirty="0"/>
          </a:p>
        </p:txBody>
      </p:sp>
      <p:sp>
        <p:nvSpPr>
          <p:cNvPr id="11" name="Text 7"/>
          <p:cNvSpPr/>
          <p:nvPr/>
        </p:nvSpPr>
        <p:spPr>
          <a:xfrm>
            <a:off x="952500" y="8534400"/>
            <a:ext cx="11065908" cy="342900"/>
          </a:xfrm>
          <a:prstGeom prst="rect">
            <a:avLst/>
          </a:prstGeom>
          <a:noFill/>
          <a:ln/>
        </p:spPr>
        <p:txBody>
          <a:bodyPr wrap="square" lIns="25400" tIns="25400" rIns="25400" bIns="25400" rtlCol="0" anchor="t">
            <a:normAutofit/>
          </a:bodyPr>
          <a:lstStyle/>
          <a:p>
            <a:pPr algn="l" indent="0" marL="0">
              <a:buNone/>
            </a:pPr>
            <a:r>
              <a:rPr lang="en-US" sz="1950" dirty="0">
                <a:solidFill>
                  <a:srgbClr val="414750"/>
                </a:solidFill>
                <a:latin typeface="Inter" pitchFamily="34" charset="0"/>
                <a:ea typeface="Inter" pitchFamily="34" charset="-122"/>
                <a:cs typeface="Inter" pitchFamily="34" charset="-120"/>
              </a:rPr>
              <a:t>User Engagement Research, Sony Research India</a:t>
            </a:r>
            <a:endParaRPr lang="en-US" sz="1950" dirty="0"/>
          </a:p>
        </p:txBody>
      </p:sp>
      <p:sp>
        <p:nvSpPr>
          <p:cNvPr id="12" name="Text 8"/>
          <p:cNvSpPr/>
          <p:nvPr/>
        </p:nvSpPr>
        <p:spPr>
          <a:xfrm>
            <a:off x="952500" y="9144000"/>
            <a:ext cx="239399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I · THE PLEDGE</a:t>
            </a:r>
            <a:endParaRPr lang="en-US" sz="1800" dirty="0"/>
          </a:p>
        </p:txBody>
      </p:sp>
      <p:sp>
        <p:nvSpPr>
          <p:cNvPr id="13" name="Text 9"/>
          <p:cNvSpPr/>
          <p:nvPr/>
        </p:nvSpPr>
        <p:spPr>
          <a:xfrm>
            <a:off x="3547954" y="9144000"/>
            <a:ext cx="2223016"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II · THE TURN</a:t>
            </a:r>
            <a:endParaRPr lang="en-US" sz="1800" dirty="0"/>
          </a:p>
        </p:txBody>
      </p:sp>
      <p:sp>
        <p:nvSpPr>
          <p:cNvPr id="14" name="Text 10"/>
          <p:cNvSpPr/>
          <p:nvPr/>
        </p:nvSpPr>
        <p:spPr>
          <a:xfrm>
            <a:off x="5987978" y="9144000"/>
            <a:ext cx="3077885"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III · THE PRESTIGE</a:t>
            </a:r>
            <a:endParaRPr lang="en-US" sz="1800" dirty="0"/>
          </a:p>
        </p:txBody>
      </p:sp>
      <p:pic>
        <p:nvPicPr>
          <p:cNvPr id="15" name="Image 2" descr="preencoded.png">    </p:cNvPr>
          <p:cNvPicPr>
            <a:picLocks noChangeAspect="1"/>
          </p:cNvPicPr>
          <p:nvPr/>
        </p:nvPicPr>
        <p:blipFill>
          <a:blip r:embed="rId3"/>
          <a:stretch>
            <a:fillRect/>
          </a:stretch>
        </p:blipFill>
        <p:spPr>
          <a:xfrm>
            <a:off x="11674404" y="4572000"/>
            <a:ext cx="5470597" cy="571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91F"/>
        </a:solidFill>
      </p:bgPr>
    </p:bg>
    <p:spTree>
      <p:nvGrpSpPr>
        <p:cNvPr id="1" name=""/>
        <p:cNvGrpSpPr/>
        <p:nvPr/>
      </p:nvGrpSpPr>
      <p:grpSpPr>
        <a:xfrm>
          <a:off x="0" y="0"/>
          <a:ext cx="0" cy="0"/>
          <a:chOff x="0" y="0"/>
          <a:chExt cx="0" cy="0"/>
        </a:xfrm>
      </p:grpSpPr>
      <p:sp>
        <p:nvSpPr>
          <p:cNvPr id="2" name="Text 0"/>
          <p:cNvSpPr/>
          <p:nvPr/>
        </p:nvSpPr>
        <p:spPr>
          <a:xfrm>
            <a:off x="952500" y="533400"/>
            <a:ext cx="1539002"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PLOTTWIST</a:t>
            </a:r>
            <a:endParaRPr lang="en-US" sz="1800" dirty="0"/>
          </a:p>
        </p:txBody>
      </p:sp>
      <p:sp>
        <p:nvSpPr>
          <p:cNvPr id="3" name="Shape 1"/>
          <p:cNvSpPr/>
          <p:nvPr/>
        </p:nvSpPr>
        <p:spPr>
          <a:xfrm>
            <a:off x="15271931" y="666750"/>
            <a:ext cx="457200" cy="38100"/>
          </a:xfrm>
          <a:prstGeom prst="rect">
            <a:avLst/>
          </a:prstGeom>
          <a:solidFill>
            <a:srgbClr val="FFFFFF"/>
          </a:solidFill>
          <a:ln/>
        </p:spPr>
      </p:sp>
      <p:sp>
        <p:nvSpPr>
          <p:cNvPr id="4" name="Shape 2"/>
          <p:cNvSpPr/>
          <p:nvPr/>
        </p:nvSpPr>
        <p:spPr>
          <a:xfrm>
            <a:off x="15805331" y="666750"/>
            <a:ext cx="457200" cy="38100"/>
          </a:xfrm>
          <a:prstGeom prst="rect">
            <a:avLst/>
          </a:prstGeom>
          <a:solidFill>
            <a:srgbClr val="414750"/>
          </a:solidFill>
          <a:ln/>
        </p:spPr>
      </p:sp>
      <p:sp>
        <p:nvSpPr>
          <p:cNvPr id="5" name="Shape 3"/>
          <p:cNvSpPr/>
          <p:nvPr/>
        </p:nvSpPr>
        <p:spPr>
          <a:xfrm>
            <a:off x="16338731" y="666750"/>
            <a:ext cx="457200" cy="38100"/>
          </a:xfrm>
          <a:prstGeom prst="rect">
            <a:avLst/>
          </a:prstGeom>
          <a:solidFill>
            <a:srgbClr val="414750"/>
          </a:solidFill>
          <a:ln/>
        </p:spPr>
      </p:sp>
      <p:sp>
        <p:nvSpPr>
          <p:cNvPr id="6" name="Text 4"/>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02</a:t>
            </a:r>
            <a:endParaRPr lang="en-US" sz="1800" dirty="0"/>
          </a:p>
        </p:txBody>
      </p:sp>
      <p:sp>
        <p:nvSpPr>
          <p:cNvPr id="7" name="Text 5"/>
          <p:cNvSpPr/>
          <p:nvPr/>
        </p:nvSpPr>
        <p:spPr>
          <a:xfrm>
            <a:off x="952500" y="3143250"/>
            <a:ext cx="8473559" cy="391391"/>
          </a:xfrm>
          <a:prstGeom prst="rect">
            <a:avLst/>
          </a:prstGeom>
          <a:noFill/>
          <a:ln/>
        </p:spPr>
        <p:txBody>
          <a:bodyPr wrap="square" lIns="25400" tIns="25400" rIns="25400" bIns="25400" rtlCol="0" anchor="t">
            <a:normAutofit/>
          </a:bodyPr>
          <a:lstStyle/>
          <a:p>
            <a:pPr algn="l" indent="0" marL="0">
              <a:buNone/>
            </a:pPr>
            <a:r>
              <a:rPr lang="en-US" sz="2100" spc="420" kern="0" dirty="0">
                <a:solidFill>
                  <a:srgbClr val="99A1AE"/>
                </a:solidFill>
                <a:latin typeface="JetBrains Mono" pitchFamily="34" charset="0"/>
                <a:ea typeface="JetBrains Mono" pitchFamily="34" charset="-122"/>
                <a:cs typeface="JetBrains Mono" pitchFamily="34" charset="-120"/>
              </a:rPr>
              <a:t>ACT I</a:t>
            </a:r>
            <a:endParaRPr lang="en-US" sz="2100" dirty="0"/>
          </a:p>
        </p:txBody>
      </p:sp>
      <p:sp>
        <p:nvSpPr>
          <p:cNvPr id="8" name="Text 6"/>
          <p:cNvSpPr/>
          <p:nvPr/>
        </p:nvSpPr>
        <p:spPr>
          <a:xfrm>
            <a:off x="952500" y="3763241"/>
            <a:ext cx="8473559" cy="1485900"/>
          </a:xfrm>
          <a:prstGeom prst="rect">
            <a:avLst/>
          </a:prstGeom>
          <a:noFill/>
          <a:ln/>
        </p:spPr>
        <p:txBody>
          <a:bodyPr wrap="none" lIns="25400" tIns="25400" rIns="25400" bIns="25400" rtlCol="0" anchor="t">
            <a:normAutofit/>
          </a:bodyPr>
          <a:lstStyle/>
          <a:p>
            <a:pPr algn="l" indent="0" marL="0">
              <a:lnSpc>
                <a:spcPct val="78571"/>
              </a:lnSpc>
              <a:buNone/>
            </a:pPr>
            <a:r>
              <a:rPr lang="en-US" sz="12000" b="1" spc="-480" kern="0" dirty="0">
                <a:solidFill>
                  <a:srgbClr val="FFFFFF"/>
                </a:solidFill>
                <a:latin typeface="Inter" pitchFamily="34" charset="0"/>
                <a:ea typeface="Inter" pitchFamily="34" charset="-122"/>
                <a:cs typeface="Inter" pitchFamily="34" charset="-120"/>
              </a:rPr>
              <a:t>The Pledge</a:t>
            </a:r>
            <a:endParaRPr lang="en-US" sz="12000" dirty="0"/>
          </a:p>
        </p:txBody>
      </p:sp>
      <p:sp>
        <p:nvSpPr>
          <p:cNvPr id="9" name="Text 7"/>
          <p:cNvSpPr/>
          <p:nvPr/>
        </p:nvSpPr>
        <p:spPr>
          <a:xfrm>
            <a:off x="952500" y="5477741"/>
            <a:ext cx="8473559" cy="533400"/>
          </a:xfrm>
          <a:prstGeom prst="rect">
            <a:avLst/>
          </a:prstGeom>
          <a:noFill/>
          <a:ln/>
        </p:spPr>
        <p:txBody>
          <a:bodyPr wrap="square" lIns="25400" tIns="25400" rIns="25400" bIns="25400" rtlCol="0" anchor="t">
            <a:normAutofit/>
          </a:bodyPr>
          <a:lstStyle/>
          <a:p>
            <a:pPr algn="l" indent="0" marL="0">
              <a:lnSpc>
                <a:spcPct val="108333"/>
              </a:lnSpc>
              <a:buNone/>
            </a:pPr>
            <a:r>
              <a:rPr lang="en-US" sz="3000" dirty="0">
                <a:solidFill>
                  <a:srgbClr val="99A1AE"/>
                </a:solidFill>
                <a:latin typeface="Inter" pitchFamily="34" charset="0"/>
                <a:ea typeface="Inter" pitchFamily="34" charset="-122"/>
                <a:cs typeface="Inter" pitchFamily="34" charset="-120"/>
              </a:rPr>
              <a:t>The task, and the standard it is held to.</a:t>
            </a:r>
            <a:endParaRPr lang="en-US" sz="3000" dirty="0"/>
          </a:p>
        </p:txBody>
      </p:sp>
      <p:sp>
        <p:nvSpPr>
          <p:cNvPr id="10" name="Shape 8"/>
          <p:cNvSpPr/>
          <p:nvPr/>
        </p:nvSpPr>
        <p:spPr>
          <a:xfrm>
            <a:off x="8953500" y="3048000"/>
            <a:ext cx="9525000" cy="9525000"/>
          </a:xfrm>
          <a:prstGeom prst="ellipse">
            <a:avLst/>
          </a:prstGeom>
          <a:gradFill rotWithShape="1">
            <a:gsLst>
              <a:gs pos="0">
                <a:srgbClr val="FFFFFF">
                  <a:alpha val="13000"/>
                </a:srgbClr>
              </a:gs>
              <a:gs pos="100000">
                <a:srgbClr val="FFFFFF">
                  <a:alpha val="0"/>
                </a:srgbClr>
              </a:gs>
            </a:gsLst>
            <a:path path="circle">
              <a:fillToRect l="50000" t="50000" r="50000" b="50000"/>
            </a:path>
          </a:gradFill>
          <a:ln/>
        </p:spPr>
      </p:sp>
      <p:pic>
        <p:nvPicPr>
          <p:cNvPr id="11" name="Image 0" descr="preencoded.png">    </p:cNvPr>
          <p:cNvPicPr>
            <a:picLocks noChangeAspect="1"/>
          </p:cNvPicPr>
          <p:nvPr/>
        </p:nvPicPr>
        <p:blipFill>
          <a:blip r:embed="rId1"/>
          <a:stretch>
            <a:fillRect/>
          </a:stretch>
        </p:blipFill>
        <p:spPr>
          <a:xfrm>
            <a:off x="10542660" y="4572000"/>
            <a:ext cx="6126091" cy="5715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952500" y="533400"/>
            <a:ext cx="231739"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I</a:t>
            </a:r>
            <a:endParaRPr lang="en-US" sz="1800" dirty="0"/>
          </a:p>
        </p:txBody>
      </p:sp>
      <p:sp>
        <p:nvSpPr>
          <p:cNvPr id="3" name="Text 1"/>
          <p:cNvSpPr/>
          <p:nvPr/>
        </p:nvSpPr>
        <p:spPr>
          <a:xfrm>
            <a:off x="1279489" y="533400"/>
            <a:ext cx="1709976"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THE PLEDGE</a:t>
            </a:r>
            <a:endParaRPr lang="en-US" sz="1800" dirty="0"/>
          </a:p>
        </p:txBody>
      </p:sp>
      <p:sp>
        <p:nvSpPr>
          <p:cNvPr id="4" name="Shape 2"/>
          <p:cNvSpPr/>
          <p:nvPr/>
        </p:nvSpPr>
        <p:spPr>
          <a:xfrm>
            <a:off x="15271931" y="666750"/>
            <a:ext cx="457200" cy="38100"/>
          </a:xfrm>
          <a:prstGeom prst="rect">
            <a:avLst/>
          </a:prstGeom>
          <a:solidFill>
            <a:srgbClr val="16191F"/>
          </a:solidFill>
          <a:ln/>
        </p:spPr>
      </p:sp>
      <p:sp>
        <p:nvSpPr>
          <p:cNvPr id="5" name="Shape 3"/>
          <p:cNvSpPr/>
          <p:nvPr/>
        </p:nvSpPr>
        <p:spPr>
          <a:xfrm>
            <a:off x="15805331" y="666750"/>
            <a:ext cx="457200" cy="38100"/>
          </a:xfrm>
          <a:prstGeom prst="rect">
            <a:avLst/>
          </a:prstGeom>
          <a:solidFill>
            <a:srgbClr val="CFD4DC"/>
          </a:solidFill>
          <a:ln/>
        </p:spPr>
      </p:sp>
      <p:sp>
        <p:nvSpPr>
          <p:cNvPr id="6" name="Shape 4"/>
          <p:cNvSpPr/>
          <p:nvPr/>
        </p:nvSpPr>
        <p:spPr>
          <a:xfrm>
            <a:off x="16338731" y="666750"/>
            <a:ext cx="457200" cy="38100"/>
          </a:xfrm>
          <a:prstGeom prst="rect">
            <a:avLst/>
          </a:prstGeom>
          <a:solidFill>
            <a:srgbClr val="CFD4DC"/>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03</a:t>
            </a:r>
            <a:endParaRPr lang="en-US" sz="1800" dirty="0"/>
          </a:p>
        </p:txBody>
      </p:sp>
      <p:sp>
        <p:nvSpPr>
          <p:cNvPr id="8" name="Text 6"/>
          <p:cNvSpPr/>
          <p:nvPr/>
        </p:nvSpPr>
        <p:spPr>
          <a:xfrm>
            <a:off x="952500" y="1333500"/>
            <a:ext cx="14246186"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16191F"/>
                </a:solidFill>
                <a:latin typeface="Inter" pitchFamily="34" charset="0"/>
                <a:ea typeface="Inter" pitchFamily="34" charset="-122"/>
                <a:cs typeface="Inter" pitchFamily="34" charset="-120"/>
              </a:rPr>
              <a:t>A premise must expand into a full narrative arc</a:t>
            </a:r>
            <a:endParaRPr lang="en-US" sz="4800" dirty="0"/>
          </a:p>
        </p:txBody>
      </p:sp>
      <p:sp>
        <p:nvSpPr>
          <p:cNvPr id="9" name="Shape 7"/>
          <p:cNvSpPr/>
          <p:nvPr/>
        </p:nvSpPr>
        <p:spPr>
          <a:xfrm>
            <a:off x="952500" y="3143250"/>
            <a:ext cx="4953000" cy="2547505"/>
          </a:xfrm>
          <a:prstGeom prst="roundRect">
            <a:avLst>
              <a:gd name="adj" fmla="val 5982"/>
            </a:avLst>
          </a:prstGeom>
          <a:solidFill>
            <a:srgbClr val="FFFFFF"/>
          </a:solidFill>
          <a:ln w="6927">
            <a:solidFill>
              <a:srgbClr val="CFD4DC"/>
            </a:solidFill>
            <a:prstDash val="solid"/>
          </a:ln>
        </p:spPr>
      </p:sp>
      <p:sp>
        <p:nvSpPr>
          <p:cNvPr id="10" name="Text 8"/>
          <p:cNvSpPr/>
          <p:nvPr/>
        </p:nvSpPr>
        <p:spPr>
          <a:xfrm>
            <a:off x="1340427" y="3493077"/>
            <a:ext cx="4594860"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6B7380"/>
                </a:solidFill>
                <a:latin typeface="JetBrains Mono" pitchFamily="34" charset="0"/>
                <a:ea typeface="JetBrains Mono" pitchFamily="34" charset="-122"/>
                <a:cs typeface="JetBrains Mono" pitchFamily="34" charset="-120"/>
              </a:rPr>
              <a:t>PREMISE</a:t>
            </a:r>
            <a:endParaRPr lang="en-US" sz="1800" dirty="0"/>
          </a:p>
        </p:txBody>
      </p:sp>
      <p:sp>
        <p:nvSpPr>
          <p:cNvPr id="11" name="Text 9"/>
          <p:cNvSpPr/>
          <p:nvPr/>
        </p:nvSpPr>
        <p:spPr>
          <a:xfrm>
            <a:off x="1340427" y="3969327"/>
            <a:ext cx="4302460" cy="1409700"/>
          </a:xfrm>
          <a:prstGeom prst="rect">
            <a:avLst/>
          </a:prstGeom>
          <a:noFill/>
          <a:ln/>
        </p:spPr>
        <p:txBody>
          <a:bodyPr wrap="square" lIns="25400" tIns="25400" rIns="25400" bIns="25400" rtlCol="0" anchor="t">
            <a:normAutofit/>
          </a:bodyPr>
          <a:lstStyle/>
          <a:p>
            <a:pPr algn="l" indent="0" marL="0">
              <a:lnSpc>
                <a:spcPct val="100000"/>
              </a:lnSpc>
              <a:buNone/>
            </a:pPr>
            <a:r>
              <a:rPr lang="en-US" sz="3000" spc="-30" kern="0" dirty="0">
                <a:solidFill>
                  <a:srgbClr val="16191F"/>
                </a:solidFill>
                <a:latin typeface="Inter" pitchFamily="34" charset="0"/>
                <a:ea typeface="Inter" pitchFamily="34" charset="-122"/>
                <a:cs typeface="Inter" pitchFamily="34" charset="-120"/>
              </a:rPr>
              <a:t>“A romantic comedy set in the modern tech startup era”</a:t>
            </a:r>
            <a:endParaRPr lang="en-US" sz="3000" dirty="0"/>
          </a:p>
        </p:txBody>
      </p:sp>
      <p:sp>
        <p:nvSpPr>
          <p:cNvPr id="12" name="Shape 10"/>
          <p:cNvSpPr/>
          <p:nvPr/>
        </p:nvSpPr>
        <p:spPr>
          <a:xfrm>
            <a:off x="6096000" y="4229100"/>
            <a:ext cx="723900" cy="19050"/>
          </a:xfrm>
          <a:prstGeom prst="rect">
            <a:avLst/>
          </a:prstGeom>
          <a:solidFill>
            <a:srgbClr val="16191F"/>
          </a:solidFill>
          <a:ln/>
        </p:spPr>
      </p:sp>
      <p:sp>
        <p:nvSpPr>
          <p:cNvPr id="13" name="Shape 11"/>
          <p:cNvSpPr/>
          <p:nvPr/>
        </p:nvSpPr>
        <p:spPr>
          <a:xfrm>
            <a:off x="6726382" y="4162425"/>
            <a:ext cx="131618" cy="152400"/>
          </a:xfrm>
          <a:prstGeom prst="rect">
            <a:avLst/>
          </a:prstGeom>
          <a:solidFill>
            <a:srgbClr val="16191F"/>
          </a:solidFill>
          <a:ln/>
        </p:spPr>
      </p:sp>
      <p:pic>
        <p:nvPicPr>
          <p:cNvPr id="1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48500" y="2857500"/>
            <a:ext cx="7810500" cy="2476500"/>
          </a:xfrm>
          <a:prstGeom prst="rect">
            <a:avLst/>
          </a:prstGeom>
        </p:spPr>
      </p:pic>
      <p:sp>
        <p:nvSpPr>
          <p:cNvPr id="15" name="Text 12"/>
          <p:cNvSpPr/>
          <p:nvPr/>
        </p:nvSpPr>
        <p:spPr>
          <a:xfrm>
            <a:off x="7048500" y="5200650"/>
            <a:ext cx="831273" cy="356755"/>
          </a:xfrm>
          <a:prstGeom prst="rect">
            <a:avLst/>
          </a:prstGeom>
          <a:noFill/>
          <a:ln/>
        </p:spPr>
        <p:txBody>
          <a:bodyPr wrap="square" lIns="25400" tIns="25400" rIns="25400" bIns="25400" rtlCol="0" anchor="t">
            <a:normAutofit/>
          </a:bodyPr>
          <a:lstStyle/>
          <a:p>
            <a:pPr algn="l" indent="0" marL="0">
              <a:buNone/>
            </a:pPr>
            <a:r>
              <a:rPr lang="en-US" sz="2100" b="1" dirty="0">
                <a:solidFill>
                  <a:srgbClr val="16191F"/>
                </a:solidFill>
                <a:latin typeface="Inter" pitchFamily="34" charset="0"/>
                <a:ea typeface="Inter" pitchFamily="34" charset="-122"/>
                <a:cs typeface="Inter" pitchFamily="34" charset="-120"/>
              </a:rPr>
              <a:t>Setup</a:t>
            </a:r>
            <a:endParaRPr lang="en-US" sz="2100" dirty="0"/>
          </a:p>
        </p:txBody>
      </p:sp>
      <p:sp>
        <p:nvSpPr>
          <p:cNvPr id="16" name="Text 13"/>
          <p:cNvSpPr/>
          <p:nvPr/>
        </p:nvSpPr>
        <p:spPr>
          <a:xfrm>
            <a:off x="9620250" y="4676775"/>
            <a:ext cx="1879402" cy="356755"/>
          </a:xfrm>
          <a:prstGeom prst="rect">
            <a:avLst/>
          </a:prstGeom>
          <a:noFill/>
          <a:ln/>
        </p:spPr>
        <p:txBody>
          <a:bodyPr wrap="square" lIns="25400" tIns="25400" rIns="25400" bIns="25400" rtlCol="0" anchor="t">
            <a:normAutofit/>
          </a:bodyPr>
          <a:lstStyle/>
          <a:p>
            <a:pPr algn="l" indent="0" marL="0">
              <a:buNone/>
            </a:pPr>
            <a:r>
              <a:rPr lang="en-US" sz="2100" b="1" dirty="0">
                <a:solidFill>
                  <a:srgbClr val="16191F"/>
                </a:solidFill>
                <a:latin typeface="Inter" pitchFamily="34" charset="0"/>
                <a:ea typeface="Inter" pitchFamily="34" charset="-122"/>
                <a:cs typeface="Inter" pitchFamily="34" charset="-120"/>
              </a:rPr>
              <a:t>Development</a:t>
            </a:r>
            <a:endParaRPr lang="en-US" sz="2100" dirty="0"/>
          </a:p>
        </p:txBody>
      </p:sp>
      <p:sp>
        <p:nvSpPr>
          <p:cNvPr id="17" name="Text 14"/>
          <p:cNvSpPr/>
          <p:nvPr/>
        </p:nvSpPr>
        <p:spPr>
          <a:xfrm>
            <a:off x="12573000" y="3067050"/>
            <a:ext cx="957371" cy="356755"/>
          </a:xfrm>
          <a:prstGeom prst="rect">
            <a:avLst/>
          </a:prstGeom>
          <a:noFill/>
          <a:ln/>
        </p:spPr>
        <p:txBody>
          <a:bodyPr wrap="square" lIns="25400" tIns="25400" rIns="25400" bIns="25400" rtlCol="0" anchor="t">
            <a:normAutofit/>
          </a:bodyPr>
          <a:lstStyle/>
          <a:p>
            <a:pPr algn="l" indent="0" marL="0">
              <a:buNone/>
            </a:pPr>
            <a:r>
              <a:rPr lang="en-US" sz="2100" b="1" dirty="0">
                <a:solidFill>
                  <a:srgbClr val="16191F"/>
                </a:solidFill>
                <a:latin typeface="Inter" pitchFamily="34" charset="0"/>
                <a:ea typeface="Inter" pitchFamily="34" charset="-122"/>
                <a:cs typeface="Inter" pitchFamily="34" charset="-120"/>
              </a:rPr>
              <a:t>Climax</a:t>
            </a:r>
            <a:endParaRPr lang="en-US" sz="2100" dirty="0"/>
          </a:p>
        </p:txBody>
      </p:sp>
      <p:sp>
        <p:nvSpPr>
          <p:cNvPr id="18" name="Text 15"/>
          <p:cNvSpPr/>
          <p:nvPr/>
        </p:nvSpPr>
        <p:spPr>
          <a:xfrm>
            <a:off x="13716000" y="4724400"/>
            <a:ext cx="1495782" cy="356755"/>
          </a:xfrm>
          <a:prstGeom prst="rect">
            <a:avLst/>
          </a:prstGeom>
          <a:noFill/>
          <a:ln/>
        </p:spPr>
        <p:txBody>
          <a:bodyPr wrap="square" lIns="25400" tIns="25400" rIns="25400" bIns="25400" rtlCol="0" anchor="t">
            <a:normAutofit/>
          </a:bodyPr>
          <a:lstStyle/>
          <a:p>
            <a:pPr algn="l" indent="0" marL="0">
              <a:buNone/>
            </a:pPr>
            <a:r>
              <a:rPr lang="en-US" sz="2100" b="1" dirty="0">
                <a:solidFill>
                  <a:srgbClr val="16191F"/>
                </a:solidFill>
                <a:latin typeface="Inter" pitchFamily="34" charset="0"/>
                <a:ea typeface="Inter" pitchFamily="34" charset="-122"/>
                <a:cs typeface="Inter" pitchFamily="34" charset="-120"/>
              </a:rPr>
              <a:t>Resolution</a:t>
            </a:r>
            <a:endParaRPr lang="en-US" sz="2100" dirty="0"/>
          </a:p>
        </p:txBody>
      </p:sp>
      <p:sp>
        <p:nvSpPr>
          <p:cNvPr id="19" name="Shape 16"/>
          <p:cNvSpPr/>
          <p:nvPr/>
        </p:nvSpPr>
        <p:spPr>
          <a:xfrm>
            <a:off x="952500" y="6572250"/>
            <a:ext cx="11811000" cy="9525"/>
          </a:xfrm>
          <a:prstGeom prst="rect">
            <a:avLst/>
          </a:prstGeom>
          <a:solidFill>
            <a:srgbClr val="CFD4DC"/>
          </a:solidFill>
          <a:ln/>
        </p:spPr>
      </p:sp>
      <p:sp>
        <p:nvSpPr>
          <p:cNvPr id="20" name="Text 17"/>
          <p:cNvSpPr/>
          <p:nvPr/>
        </p:nvSpPr>
        <p:spPr>
          <a:xfrm>
            <a:off x="952500" y="6998277"/>
            <a:ext cx="335280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SUMMARIZATION · QA</a:t>
            </a:r>
            <a:endParaRPr lang="en-US" sz="1800" dirty="0"/>
          </a:p>
        </p:txBody>
      </p:sp>
      <p:sp>
        <p:nvSpPr>
          <p:cNvPr id="21" name="Shape 18"/>
          <p:cNvSpPr/>
          <p:nvPr/>
        </p:nvSpPr>
        <p:spPr>
          <a:xfrm>
            <a:off x="4305300" y="7036377"/>
            <a:ext cx="304800" cy="304800"/>
          </a:xfrm>
          <a:prstGeom prst="roundRect">
            <a:avLst>
              <a:gd name="adj" fmla="val 18750"/>
            </a:avLst>
          </a:prstGeom>
          <a:solidFill>
            <a:srgbClr val="E4E8EE"/>
          </a:solidFill>
          <a:ln/>
        </p:spPr>
      </p:sp>
      <p:sp>
        <p:nvSpPr>
          <p:cNvPr id="22" name="Shape 19"/>
          <p:cNvSpPr/>
          <p:nvPr/>
        </p:nvSpPr>
        <p:spPr>
          <a:xfrm>
            <a:off x="4686300" y="7036377"/>
            <a:ext cx="304800" cy="304800"/>
          </a:xfrm>
          <a:prstGeom prst="roundRect">
            <a:avLst>
              <a:gd name="adj" fmla="val 18750"/>
            </a:avLst>
          </a:prstGeom>
          <a:solidFill>
            <a:srgbClr val="E4E8EE"/>
          </a:solidFill>
          <a:ln/>
        </p:spPr>
      </p:sp>
      <p:sp>
        <p:nvSpPr>
          <p:cNvPr id="23" name="Shape 20"/>
          <p:cNvSpPr/>
          <p:nvPr/>
        </p:nvSpPr>
        <p:spPr>
          <a:xfrm>
            <a:off x="5067300" y="7036377"/>
            <a:ext cx="304800" cy="304800"/>
          </a:xfrm>
          <a:prstGeom prst="roundRect">
            <a:avLst>
              <a:gd name="adj" fmla="val 18750"/>
            </a:avLst>
          </a:prstGeom>
          <a:solidFill>
            <a:srgbClr val="E4E8EE"/>
          </a:solidFill>
          <a:ln/>
        </p:spPr>
      </p:sp>
      <p:sp>
        <p:nvSpPr>
          <p:cNvPr id="24" name="Shape 21"/>
          <p:cNvSpPr/>
          <p:nvPr/>
        </p:nvSpPr>
        <p:spPr>
          <a:xfrm>
            <a:off x="5448300" y="7036377"/>
            <a:ext cx="304800" cy="304800"/>
          </a:xfrm>
          <a:prstGeom prst="roundRect">
            <a:avLst>
              <a:gd name="adj" fmla="val 18750"/>
            </a:avLst>
          </a:prstGeom>
          <a:solidFill>
            <a:srgbClr val="E4E8EE"/>
          </a:solidFill>
          <a:ln/>
        </p:spPr>
      </p:sp>
      <p:sp>
        <p:nvSpPr>
          <p:cNvPr id="25" name="Shape 22"/>
          <p:cNvSpPr/>
          <p:nvPr/>
        </p:nvSpPr>
        <p:spPr>
          <a:xfrm>
            <a:off x="5829300" y="7036377"/>
            <a:ext cx="304800" cy="304800"/>
          </a:xfrm>
          <a:prstGeom prst="roundRect">
            <a:avLst>
              <a:gd name="adj" fmla="val 18750"/>
            </a:avLst>
          </a:prstGeom>
          <a:solidFill>
            <a:srgbClr val="E4E8EE"/>
          </a:solidFill>
          <a:ln/>
        </p:spPr>
      </p:sp>
      <p:sp>
        <p:nvSpPr>
          <p:cNvPr id="26" name="Shape 23"/>
          <p:cNvSpPr/>
          <p:nvPr/>
        </p:nvSpPr>
        <p:spPr>
          <a:xfrm>
            <a:off x="6210300" y="7036377"/>
            <a:ext cx="304800" cy="304800"/>
          </a:xfrm>
          <a:prstGeom prst="roundRect">
            <a:avLst>
              <a:gd name="adj" fmla="val 18750"/>
            </a:avLst>
          </a:prstGeom>
          <a:solidFill>
            <a:srgbClr val="E4E8EE"/>
          </a:solidFill>
          <a:ln/>
        </p:spPr>
      </p:sp>
      <p:sp>
        <p:nvSpPr>
          <p:cNvPr id="27" name="Shape 24"/>
          <p:cNvSpPr/>
          <p:nvPr/>
        </p:nvSpPr>
        <p:spPr>
          <a:xfrm>
            <a:off x="6591300" y="7036377"/>
            <a:ext cx="304800" cy="304800"/>
          </a:xfrm>
          <a:prstGeom prst="roundRect">
            <a:avLst>
              <a:gd name="adj" fmla="val 18750"/>
            </a:avLst>
          </a:prstGeom>
          <a:solidFill>
            <a:srgbClr val="99A1AE"/>
          </a:solidFill>
          <a:ln/>
        </p:spPr>
      </p:sp>
      <p:sp>
        <p:nvSpPr>
          <p:cNvPr id="28" name="Shape 25"/>
          <p:cNvSpPr/>
          <p:nvPr/>
        </p:nvSpPr>
        <p:spPr>
          <a:xfrm>
            <a:off x="6972300" y="7036377"/>
            <a:ext cx="304800" cy="304800"/>
          </a:xfrm>
          <a:prstGeom prst="roundRect">
            <a:avLst>
              <a:gd name="adj" fmla="val 18750"/>
            </a:avLst>
          </a:prstGeom>
          <a:solidFill>
            <a:srgbClr val="99A1AE"/>
          </a:solidFill>
          <a:ln/>
        </p:spPr>
      </p:sp>
      <p:sp>
        <p:nvSpPr>
          <p:cNvPr id="29" name="Shape 26"/>
          <p:cNvSpPr/>
          <p:nvPr/>
        </p:nvSpPr>
        <p:spPr>
          <a:xfrm>
            <a:off x="7353300" y="7036377"/>
            <a:ext cx="304800" cy="304800"/>
          </a:xfrm>
          <a:prstGeom prst="roundRect">
            <a:avLst>
              <a:gd name="adj" fmla="val 18750"/>
            </a:avLst>
          </a:prstGeom>
          <a:solidFill>
            <a:srgbClr val="99A1AE"/>
          </a:solidFill>
          <a:ln/>
        </p:spPr>
      </p:sp>
      <p:sp>
        <p:nvSpPr>
          <p:cNvPr id="30" name="Shape 27"/>
          <p:cNvSpPr/>
          <p:nvPr/>
        </p:nvSpPr>
        <p:spPr>
          <a:xfrm>
            <a:off x="7734300" y="7036377"/>
            <a:ext cx="304800" cy="304800"/>
          </a:xfrm>
          <a:prstGeom prst="roundRect">
            <a:avLst>
              <a:gd name="adj" fmla="val 18750"/>
            </a:avLst>
          </a:prstGeom>
          <a:solidFill>
            <a:srgbClr val="E4E8EE"/>
          </a:solidFill>
          <a:ln/>
        </p:spPr>
      </p:sp>
      <p:sp>
        <p:nvSpPr>
          <p:cNvPr id="31" name="Shape 28"/>
          <p:cNvSpPr/>
          <p:nvPr/>
        </p:nvSpPr>
        <p:spPr>
          <a:xfrm>
            <a:off x="8115300" y="7036377"/>
            <a:ext cx="304800" cy="304800"/>
          </a:xfrm>
          <a:prstGeom prst="roundRect">
            <a:avLst>
              <a:gd name="adj" fmla="val 18750"/>
            </a:avLst>
          </a:prstGeom>
          <a:solidFill>
            <a:srgbClr val="E4E8EE"/>
          </a:solidFill>
          <a:ln/>
        </p:spPr>
      </p:sp>
      <p:sp>
        <p:nvSpPr>
          <p:cNvPr id="32" name="Shape 29"/>
          <p:cNvSpPr/>
          <p:nvPr/>
        </p:nvSpPr>
        <p:spPr>
          <a:xfrm>
            <a:off x="8496300" y="7036377"/>
            <a:ext cx="304800" cy="304800"/>
          </a:xfrm>
          <a:prstGeom prst="roundRect">
            <a:avLst>
              <a:gd name="adj" fmla="val 18750"/>
            </a:avLst>
          </a:prstGeom>
          <a:solidFill>
            <a:srgbClr val="E4E8EE"/>
          </a:solidFill>
          <a:ln/>
        </p:spPr>
      </p:sp>
      <p:sp>
        <p:nvSpPr>
          <p:cNvPr id="33" name="Shape 30"/>
          <p:cNvSpPr/>
          <p:nvPr/>
        </p:nvSpPr>
        <p:spPr>
          <a:xfrm>
            <a:off x="8877300" y="7036377"/>
            <a:ext cx="304800" cy="304800"/>
          </a:xfrm>
          <a:prstGeom prst="roundRect">
            <a:avLst>
              <a:gd name="adj" fmla="val 18750"/>
            </a:avLst>
          </a:prstGeom>
          <a:solidFill>
            <a:srgbClr val="E4E8EE"/>
          </a:solidFill>
          <a:ln/>
        </p:spPr>
      </p:sp>
      <p:sp>
        <p:nvSpPr>
          <p:cNvPr id="34" name="Shape 31"/>
          <p:cNvSpPr/>
          <p:nvPr/>
        </p:nvSpPr>
        <p:spPr>
          <a:xfrm>
            <a:off x="9258300" y="7036377"/>
            <a:ext cx="304800" cy="304800"/>
          </a:xfrm>
          <a:prstGeom prst="roundRect">
            <a:avLst>
              <a:gd name="adj" fmla="val 18750"/>
            </a:avLst>
          </a:prstGeom>
          <a:solidFill>
            <a:srgbClr val="E4E8EE"/>
          </a:solidFill>
          <a:ln/>
        </p:spPr>
      </p:sp>
      <p:sp>
        <p:nvSpPr>
          <p:cNvPr id="35" name="Shape 32"/>
          <p:cNvSpPr/>
          <p:nvPr/>
        </p:nvSpPr>
        <p:spPr>
          <a:xfrm>
            <a:off x="9639300" y="7036377"/>
            <a:ext cx="304800" cy="304800"/>
          </a:xfrm>
          <a:prstGeom prst="roundRect">
            <a:avLst>
              <a:gd name="adj" fmla="val 18750"/>
            </a:avLst>
          </a:prstGeom>
          <a:solidFill>
            <a:srgbClr val="E4E8EE"/>
          </a:solidFill>
          <a:ln/>
        </p:spPr>
      </p:sp>
      <p:sp>
        <p:nvSpPr>
          <p:cNvPr id="36" name="Shape 33"/>
          <p:cNvSpPr/>
          <p:nvPr/>
        </p:nvSpPr>
        <p:spPr>
          <a:xfrm>
            <a:off x="10020300" y="7036377"/>
            <a:ext cx="304800" cy="304800"/>
          </a:xfrm>
          <a:prstGeom prst="roundRect">
            <a:avLst>
              <a:gd name="adj" fmla="val 18750"/>
            </a:avLst>
          </a:prstGeom>
          <a:solidFill>
            <a:srgbClr val="E4E8EE"/>
          </a:solidFill>
          <a:ln/>
        </p:spPr>
      </p:sp>
      <p:sp>
        <p:nvSpPr>
          <p:cNvPr id="37" name="Text 34"/>
          <p:cNvSpPr/>
          <p:nvPr/>
        </p:nvSpPr>
        <p:spPr>
          <a:xfrm>
            <a:off x="10629900" y="7003473"/>
            <a:ext cx="2346960" cy="356755"/>
          </a:xfrm>
          <a:prstGeom prst="rect">
            <a:avLst/>
          </a:prstGeom>
          <a:noFill/>
          <a:ln/>
        </p:spPr>
        <p:txBody>
          <a:bodyPr wrap="square" lIns="25400" tIns="25400" rIns="25400" bIns="25400" rtlCol="0" anchor="t">
            <a:normAutofit/>
          </a:bodyPr>
          <a:lstStyle/>
          <a:p>
            <a:pPr algn="l" indent="0" marL="0">
              <a:buNone/>
            </a:pPr>
            <a:r>
              <a:rPr lang="en-US" sz="2100" dirty="0">
                <a:solidFill>
                  <a:srgbClr val="6B7380"/>
                </a:solidFill>
                <a:latin typeface="Inter" pitchFamily="34" charset="0"/>
                <a:ea typeface="Inter" pitchFamily="34" charset="-122"/>
                <a:cs typeface="Inter" pitchFamily="34" charset="-120"/>
              </a:rPr>
              <a:t>Local Context</a:t>
            </a:r>
            <a:endParaRPr lang="en-US" sz="2100" dirty="0"/>
          </a:p>
        </p:txBody>
      </p:sp>
      <p:sp>
        <p:nvSpPr>
          <p:cNvPr id="38" name="Text 35"/>
          <p:cNvSpPr/>
          <p:nvPr/>
        </p:nvSpPr>
        <p:spPr>
          <a:xfrm>
            <a:off x="952500" y="8217477"/>
            <a:ext cx="335280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6191F"/>
                </a:solidFill>
                <a:latin typeface="JetBrains Mono" pitchFamily="34" charset="0"/>
                <a:ea typeface="JetBrains Mono" pitchFamily="34" charset="-122"/>
                <a:cs typeface="JetBrains Mono" pitchFamily="34" charset="-120"/>
              </a:rPr>
              <a:t>PLOT GENERATION</a:t>
            </a:r>
            <a:endParaRPr lang="en-US" sz="1800" dirty="0"/>
          </a:p>
        </p:txBody>
      </p:sp>
      <p:pic>
        <p:nvPicPr>
          <p:cNvPr id="3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05300" y="7684077"/>
            <a:ext cx="6019800" cy="571500"/>
          </a:xfrm>
          <a:prstGeom prst="rect">
            <a:avLst/>
          </a:prstGeom>
        </p:spPr>
      </p:pic>
      <p:sp>
        <p:nvSpPr>
          <p:cNvPr id="40" name="Shape 36"/>
          <p:cNvSpPr/>
          <p:nvPr/>
        </p:nvSpPr>
        <p:spPr>
          <a:xfrm>
            <a:off x="4305300" y="8255577"/>
            <a:ext cx="304800" cy="304800"/>
          </a:xfrm>
          <a:prstGeom prst="roundRect">
            <a:avLst>
              <a:gd name="adj" fmla="val 18750"/>
            </a:avLst>
          </a:prstGeom>
          <a:solidFill>
            <a:srgbClr val="16191F"/>
          </a:solidFill>
          <a:ln/>
        </p:spPr>
      </p:sp>
      <p:sp>
        <p:nvSpPr>
          <p:cNvPr id="41" name="Shape 37"/>
          <p:cNvSpPr/>
          <p:nvPr/>
        </p:nvSpPr>
        <p:spPr>
          <a:xfrm>
            <a:off x="4686300" y="8255577"/>
            <a:ext cx="304800" cy="304800"/>
          </a:xfrm>
          <a:prstGeom prst="roundRect">
            <a:avLst>
              <a:gd name="adj" fmla="val 18750"/>
            </a:avLst>
          </a:prstGeom>
          <a:solidFill>
            <a:srgbClr val="E4E8EE"/>
          </a:solidFill>
          <a:ln/>
        </p:spPr>
      </p:sp>
      <p:sp>
        <p:nvSpPr>
          <p:cNvPr id="42" name="Shape 38"/>
          <p:cNvSpPr/>
          <p:nvPr/>
        </p:nvSpPr>
        <p:spPr>
          <a:xfrm>
            <a:off x="5067300" y="8255577"/>
            <a:ext cx="304800" cy="304800"/>
          </a:xfrm>
          <a:prstGeom prst="roundRect">
            <a:avLst>
              <a:gd name="adj" fmla="val 18750"/>
            </a:avLst>
          </a:prstGeom>
          <a:solidFill>
            <a:srgbClr val="E4E8EE"/>
          </a:solidFill>
          <a:ln/>
        </p:spPr>
      </p:sp>
      <p:sp>
        <p:nvSpPr>
          <p:cNvPr id="43" name="Shape 39"/>
          <p:cNvSpPr/>
          <p:nvPr/>
        </p:nvSpPr>
        <p:spPr>
          <a:xfrm>
            <a:off x="5448300" y="8255577"/>
            <a:ext cx="304800" cy="304800"/>
          </a:xfrm>
          <a:prstGeom prst="roundRect">
            <a:avLst>
              <a:gd name="adj" fmla="val 18750"/>
            </a:avLst>
          </a:prstGeom>
          <a:solidFill>
            <a:srgbClr val="E4E8EE"/>
          </a:solidFill>
          <a:ln/>
        </p:spPr>
      </p:sp>
      <p:sp>
        <p:nvSpPr>
          <p:cNvPr id="44" name="Shape 40"/>
          <p:cNvSpPr/>
          <p:nvPr/>
        </p:nvSpPr>
        <p:spPr>
          <a:xfrm>
            <a:off x="5829300" y="8255577"/>
            <a:ext cx="304800" cy="304800"/>
          </a:xfrm>
          <a:prstGeom prst="roundRect">
            <a:avLst>
              <a:gd name="adj" fmla="val 18750"/>
            </a:avLst>
          </a:prstGeom>
          <a:solidFill>
            <a:srgbClr val="16191F"/>
          </a:solidFill>
          <a:ln/>
        </p:spPr>
      </p:sp>
      <p:sp>
        <p:nvSpPr>
          <p:cNvPr id="45" name="Shape 41"/>
          <p:cNvSpPr/>
          <p:nvPr/>
        </p:nvSpPr>
        <p:spPr>
          <a:xfrm>
            <a:off x="6210300" y="8255577"/>
            <a:ext cx="304800" cy="304800"/>
          </a:xfrm>
          <a:prstGeom prst="roundRect">
            <a:avLst>
              <a:gd name="adj" fmla="val 18750"/>
            </a:avLst>
          </a:prstGeom>
          <a:solidFill>
            <a:srgbClr val="E4E8EE"/>
          </a:solidFill>
          <a:ln/>
        </p:spPr>
      </p:sp>
      <p:sp>
        <p:nvSpPr>
          <p:cNvPr id="46" name="Shape 42"/>
          <p:cNvSpPr/>
          <p:nvPr/>
        </p:nvSpPr>
        <p:spPr>
          <a:xfrm>
            <a:off x="6591300" y="8255577"/>
            <a:ext cx="304800" cy="304800"/>
          </a:xfrm>
          <a:prstGeom prst="roundRect">
            <a:avLst>
              <a:gd name="adj" fmla="val 18750"/>
            </a:avLst>
          </a:prstGeom>
          <a:solidFill>
            <a:srgbClr val="E4E8EE"/>
          </a:solidFill>
          <a:ln/>
        </p:spPr>
      </p:sp>
      <p:sp>
        <p:nvSpPr>
          <p:cNvPr id="47" name="Shape 43"/>
          <p:cNvSpPr/>
          <p:nvPr/>
        </p:nvSpPr>
        <p:spPr>
          <a:xfrm>
            <a:off x="6972300" y="8255577"/>
            <a:ext cx="304800" cy="304800"/>
          </a:xfrm>
          <a:prstGeom prst="roundRect">
            <a:avLst>
              <a:gd name="adj" fmla="val 18750"/>
            </a:avLst>
          </a:prstGeom>
          <a:solidFill>
            <a:srgbClr val="E4E8EE"/>
          </a:solidFill>
          <a:ln/>
        </p:spPr>
      </p:sp>
      <p:sp>
        <p:nvSpPr>
          <p:cNvPr id="48" name="Shape 44"/>
          <p:cNvSpPr/>
          <p:nvPr/>
        </p:nvSpPr>
        <p:spPr>
          <a:xfrm>
            <a:off x="7353300" y="8255577"/>
            <a:ext cx="304800" cy="304800"/>
          </a:xfrm>
          <a:prstGeom prst="roundRect">
            <a:avLst>
              <a:gd name="adj" fmla="val 18750"/>
            </a:avLst>
          </a:prstGeom>
          <a:solidFill>
            <a:srgbClr val="E4E8EE"/>
          </a:solidFill>
          <a:ln/>
        </p:spPr>
      </p:sp>
      <p:sp>
        <p:nvSpPr>
          <p:cNvPr id="49" name="Shape 45"/>
          <p:cNvSpPr/>
          <p:nvPr/>
        </p:nvSpPr>
        <p:spPr>
          <a:xfrm>
            <a:off x="7734300" y="8255577"/>
            <a:ext cx="304800" cy="304800"/>
          </a:xfrm>
          <a:prstGeom prst="roundRect">
            <a:avLst>
              <a:gd name="adj" fmla="val 18750"/>
            </a:avLst>
          </a:prstGeom>
          <a:solidFill>
            <a:srgbClr val="E4E8EE"/>
          </a:solidFill>
          <a:ln/>
        </p:spPr>
      </p:sp>
      <p:sp>
        <p:nvSpPr>
          <p:cNvPr id="50" name="Shape 46"/>
          <p:cNvSpPr/>
          <p:nvPr/>
        </p:nvSpPr>
        <p:spPr>
          <a:xfrm>
            <a:off x="8115300" y="8255577"/>
            <a:ext cx="304800" cy="304800"/>
          </a:xfrm>
          <a:prstGeom prst="roundRect">
            <a:avLst>
              <a:gd name="adj" fmla="val 18750"/>
            </a:avLst>
          </a:prstGeom>
          <a:solidFill>
            <a:srgbClr val="E4E8EE"/>
          </a:solidFill>
          <a:ln/>
        </p:spPr>
      </p:sp>
      <p:sp>
        <p:nvSpPr>
          <p:cNvPr id="51" name="Shape 47"/>
          <p:cNvSpPr/>
          <p:nvPr/>
        </p:nvSpPr>
        <p:spPr>
          <a:xfrm>
            <a:off x="8496300" y="8255577"/>
            <a:ext cx="304800" cy="304800"/>
          </a:xfrm>
          <a:prstGeom prst="roundRect">
            <a:avLst>
              <a:gd name="adj" fmla="val 18750"/>
            </a:avLst>
          </a:prstGeom>
          <a:solidFill>
            <a:srgbClr val="16191F"/>
          </a:solidFill>
          <a:ln/>
        </p:spPr>
      </p:sp>
      <p:sp>
        <p:nvSpPr>
          <p:cNvPr id="52" name="Shape 48"/>
          <p:cNvSpPr/>
          <p:nvPr/>
        </p:nvSpPr>
        <p:spPr>
          <a:xfrm>
            <a:off x="8877300" y="8255577"/>
            <a:ext cx="304800" cy="304800"/>
          </a:xfrm>
          <a:prstGeom prst="roundRect">
            <a:avLst>
              <a:gd name="adj" fmla="val 18750"/>
            </a:avLst>
          </a:prstGeom>
          <a:solidFill>
            <a:srgbClr val="E4E8EE"/>
          </a:solidFill>
          <a:ln/>
        </p:spPr>
      </p:sp>
      <p:sp>
        <p:nvSpPr>
          <p:cNvPr id="53" name="Shape 49"/>
          <p:cNvSpPr/>
          <p:nvPr/>
        </p:nvSpPr>
        <p:spPr>
          <a:xfrm>
            <a:off x="9258300" y="8255577"/>
            <a:ext cx="304800" cy="304800"/>
          </a:xfrm>
          <a:prstGeom prst="roundRect">
            <a:avLst>
              <a:gd name="adj" fmla="val 18750"/>
            </a:avLst>
          </a:prstGeom>
          <a:solidFill>
            <a:srgbClr val="E4E8EE"/>
          </a:solidFill>
          <a:ln/>
        </p:spPr>
      </p:sp>
      <p:sp>
        <p:nvSpPr>
          <p:cNvPr id="54" name="Shape 50"/>
          <p:cNvSpPr/>
          <p:nvPr/>
        </p:nvSpPr>
        <p:spPr>
          <a:xfrm>
            <a:off x="9639300" y="8255577"/>
            <a:ext cx="304800" cy="304800"/>
          </a:xfrm>
          <a:prstGeom prst="roundRect">
            <a:avLst>
              <a:gd name="adj" fmla="val 18750"/>
            </a:avLst>
          </a:prstGeom>
          <a:solidFill>
            <a:srgbClr val="E4E8EE"/>
          </a:solidFill>
          <a:ln/>
        </p:spPr>
      </p:sp>
      <p:sp>
        <p:nvSpPr>
          <p:cNvPr id="55" name="Shape 51"/>
          <p:cNvSpPr/>
          <p:nvPr/>
        </p:nvSpPr>
        <p:spPr>
          <a:xfrm>
            <a:off x="10020300" y="8255577"/>
            <a:ext cx="304800" cy="304800"/>
          </a:xfrm>
          <a:prstGeom prst="roundRect">
            <a:avLst>
              <a:gd name="adj" fmla="val 18750"/>
            </a:avLst>
          </a:prstGeom>
          <a:solidFill>
            <a:srgbClr val="16191F"/>
          </a:solidFill>
          <a:ln/>
        </p:spPr>
      </p:sp>
      <p:sp>
        <p:nvSpPr>
          <p:cNvPr id="56" name="Text 52"/>
          <p:cNvSpPr/>
          <p:nvPr/>
        </p:nvSpPr>
        <p:spPr>
          <a:xfrm>
            <a:off x="10629900" y="8222673"/>
            <a:ext cx="2346960" cy="356755"/>
          </a:xfrm>
          <a:prstGeom prst="rect">
            <a:avLst/>
          </a:prstGeom>
          <a:noFill/>
          <a:ln/>
        </p:spPr>
        <p:txBody>
          <a:bodyPr wrap="square" lIns="25400" tIns="25400" rIns="25400" bIns="25400" rtlCol="0" anchor="t">
            <a:normAutofit/>
          </a:bodyPr>
          <a:lstStyle/>
          <a:p>
            <a:pPr algn="l" indent="0" marL="0">
              <a:buNone/>
            </a:pPr>
            <a:r>
              <a:rPr lang="en-US" sz="2100" b="1" dirty="0">
                <a:solidFill>
                  <a:srgbClr val="16191F"/>
                </a:solidFill>
                <a:latin typeface="Inter" pitchFamily="34" charset="0"/>
                <a:ea typeface="Inter" pitchFamily="34" charset="-122"/>
                <a:cs typeface="Inter" pitchFamily="34" charset="-120"/>
              </a:rPr>
              <a:t>Long-Horizon</a:t>
            </a:r>
            <a:endParaRPr lang="en-US" sz="2100" dirty="0"/>
          </a:p>
        </p:txBody>
      </p:sp>
      <p:sp>
        <p:nvSpPr>
          <p:cNvPr id="57" name="Shape 53"/>
          <p:cNvSpPr/>
          <p:nvPr/>
        </p:nvSpPr>
        <p:spPr>
          <a:xfrm>
            <a:off x="13335000" y="5258666"/>
            <a:ext cx="4191000" cy="1123084"/>
          </a:xfrm>
          <a:prstGeom prst="roundRect">
            <a:avLst>
              <a:gd name="adj" fmla="val 27140"/>
            </a:avLst>
          </a:prstGeom>
          <a:solidFill>
            <a:srgbClr val="FFFFFF"/>
          </a:solidFill>
          <a:ln w="13855">
            <a:solidFill>
              <a:srgbClr val="16191F"/>
            </a:solidFill>
            <a:prstDash val="solid"/>
          </a:ln>
        </p:spPr>
      </p:sp>
      <p:sp>
        <p:nvSpPr>
          <p:cNvPr id="58" name="Text 54"/>
          <p:cNvSpPr/>
          <p:nvPr/>
        </p:nvSpPr>
        <p:spPr>
          <a:xfrm>
            <a:off x="13634605" y="5463021"/>
            <a:ext cx="2401058" cy="741651"/>
          </a:xfrm>
          <a:prstGeom prst="rect">
            <a:avLst/>
          </a:prstGeom>
          <a:noFill/>
          <a:ln/>
        </p:spPr>
        <p:txBody>
          <a:bodyPr wrap="square" lIns="0" tIns="0" rIns="0" bIns="0" rtlCol="0" anchor="t">
            <a:normAutofit/>
          </a:bodyPr>
          <a:lstStyle/>
          <a:p>
            <a:pPr algn="l" indent="0" marL="0">
              <a:lnSpc>
                <a:spcPct val="103125"/>
              </a:lnSpc>
              <a:buNone/>
            </a:pPr>
            <a:r>
              <a:rPr lang="en-US" sz="2250" dirty="0">
                <a:solidFill>
                  <a:srgbClr val="16191F"/>
                </a:solidFill>
                <a:latin typeface="Inter" pitchFamily="34" charset="0"/>
                <a:ea typeface="Inter" pitchFamily="34" charset="-122"/>
                <a:cs typeface="Inter" pitchFamily="34" charset="-120"/>
              </a:rPr>
              <a:t>Isn't this just text generation?</a:t>
            </a:r>
            <a:endParaRPr lang="en-US" sz="2250" dirty="0"/>
          </a:p>
        </p:txBody>
      </p:sp>
      <p:sp>
        <p:nvSpPr>
          <p:cNvPr id="59" name="Shape 55"/>
          <p:cNvSpPr/>
          <p:nvPr/>
        </p:nvSpPr>
        <p:spPr>
          <a:xfrm>
            <a:off x="15884236" y="6416387"/>
            <a:ext cx="199159" cy="199159"/>
          </a:xfrm>
          <a:prstGeom prst="ellipse">
            <a:avLst/>
          </a:prstGeom>
          <a:solidFill>
            <a:srgbClr val="FFFFFF"/>
          </a:solidFill>
          <a:ln w="13855">
            <a:solidFill>
              <a:srgbClr val="16191F"/>
            </a:solidFill>
            <a:prstDash val="solid"/>
          </a:ln>
        </p:spPr>
      </p:sp>
      <p:sp>
        <p:nvSpPr>
          <p:cNvPr id="60" name="Shape 56"/>
          <p:cNvSpPr/>
          <p:nvPr/>
        </p:nvSpPr>
        <p:spPr>
          <a:xfrm>
            <a:off x="16093787" y="6683087"/>
            <a:ext cx="122959" cy="122959"/>
          </a:xfrm>
          <a:prstGeom prst="ellipse">
            <a:avLst/>
          </a:prstGeom>
          <a:solidFill>
            <a:srgbClr val="FFFFFF"/>
          </a:solidFill>
          <a:ln w="13855">
            <a:solidFill>
              <a:srgbClr val="16191F"/>
            </a:solidFill>
            <a:prstDash val="solid"/>
          </a:ln>
        </p:spPr>
      </p:sp>
      <p:pic>
        <p:nvPicPr>
          <p:cNvPr id="61" name="Image 2" descr="preencoded.png">    </p:cNvPr>
          <p:cNvPicPr>
            <a:picLocks noChangeAspect="1"/>
          </p:cNvPicPr>
          <p:nvPr/>
        </p:nvPicPr>
        <p:blipFill>
          <a:blip r:embed="rId5"/>
          <a:stretch>
            <a:fillRect/>
          </a:stretch>
        </p:blipFill>
        <p:spPr>
          <a:xfrm>
            <a:off x="14411109" y="6858000"/>
            <a:ext cx="2924392" cy="3429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Text 0"/>
          <p:cNvSpPr/>
          <p:nvPr/>
        </p:nvSpPr>
        <p:spPr>
          <a:xfrm>
            <a:off x="952500" y="533400"/>
            <a:ext cx="231739"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I</a:t>
            </a:r>
            <a:endParaRPr lang="en-US" sz="1800" dirty="0"/>
          </a:p>
        </p:txBody>
      </p:sp>
      <p:sp>
        <p:nvSpPr>
          <p:cNvPr id="3" name="Text 1"/>
          <p:cNvSpPr/>
          <p:nvPr/>
        </p:nvSpPr>
        <p:spPr>
          <a:xfrm>
            <a:off x="1279489" y="533400"/>
            <a:ext cx="1709976"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THE PLEDGE</a:t>
            </a:r>
            <a:endParaRPr lang="en-US" sz="1800" dirty="0"/>
          </a:p>
        </p:txBody>
      </p:sp>
      <p:sp>
        <p:nvSpPr>
          <p:cNvPr id="4" name="Shape 2"/>
          <p:cNvSpPr/>
          <p:nvPr/>
        </p:nvSpPr>
        <p:spPr>
          <a:xfrm>
            <a:off x="15271931" y="666750"/>
            <a:ext cx="457200" cy="38100"/>
          </a:xfrm>
          <a:prstGeom prst="rect">
            <a:avLst/>
          </a:prstGeom>
          <a:solidFill>
            <a:srgbClr val="16191F"/>
          </a:solidFill>
          <a:ln/>
        </p:spPr>
      </p:sp>
      <p:sp>
        <p:nvSpPr>
          <p:cNvPr id="5" name="Shape 3"/>
          <p:cNvSpPr/>
          <p:nvPr/>
        </p:nvSpPr>
        <p:spPr>
          <a:xfrm>
            <a:off x="15805331" y="666750"/>
            <a:ext cx="457200" cy="38100"/>
          </a:xfrm>
          <a:prstGeom prst="rect">
            <a:avLst/>
          </a:prstGeom>
          <a:solidFill>
            <a:srgbClr val="CFD4DC"/>
          </a:solidFill>
          <a:ln/>
        </p:spPr>
      </p:sp>
      <p:sp>
        <p:nvSpPr>
          <p:cNvPr id="6" name="Shape 4"/>
          <p:cNvSpPr/>
          <p:nvPr/>
        </p:nvSpPr>
        <p:spPr>
          <a:xfrm>
            <a:off x="16338731" y="666750"/>
            <a:ext cx="457200" cy="38100"/>
          </a:xfrm>
          <a:prstGeom prst="rect">
            <a:avLst/>
          </a:prstGeom>
          <a:solidFill>
            <a:srgbClr val="CFD4DC"/>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04</a:t>
            </a:r>
            <a:endParaRPr lang="en-US" sz="1800" dirty="0"/>
          </a:p>
        </p:txBody>
      </p:sp>
      <p:sp>
        <p:nvSpPr>
          <p:cNvPr id="8" name="Text 6"/>
          <p:cNvSpPr/>
          <p:nvPr/>
        </p:nvSpPr>
        <p:spPr>
          <a:xfrm>
            <a:off x="952500" y="1333500"/>
            <a:ext cx="10683002"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16191F"/>
                </a:solidFill>
                <a:latin typeface="Inter" pitchFamily="34" charset="0"/>
                <a:ea typeface="Inter" pitchFamily="34" charset="-122"/>
                <a:cs typeface="Inter" pitchFamily="34" charset="-120"/>
              </a:rPr>
              <a:t>Five dimensions define plot quality</a:t>
            </a:r>
            <a:endParaRPr lang="en-US" sz="48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8000" cy="10287000"/>
          </a:xfrm>
          <a:prstGeom prst="rect">
            <a:avLst/>
          </a:prstGeom>
        </p:spPr>
      </p:pic>
      <p:sp>
        <p:nvSpPr>
          <p:cNvPr id="10" name="Shape 7"/>
          <p:cNvSpPr/>
          <p:nvPr/>
        </p:nvSpPr>
        <p:spPr>
          <a:xfrm>
            <a:off x="6624042" y="6000750"/>
            <a:ext cx="848916" cy="381000"/>
          </a:xfrm>
          <a:prstGeom prst="rect">
            <a:avLst/>
          </a:prstGeom>
          <a:solidFill>
            <a:srgbClr val="F6F8FB"/>
          </a:solidFill>
          <a:ln/>
        </p:spPr>
      </p:sp>
      <p:sp>
        <p:nvSpPr>
          <p:cNvPr id="11" name="Text 8"/>
          <p:cNvSpPr/>
          <p:nvPr/>
        </p:nvSpPr>
        <p:spPr>
          <a:xfrm>
            <a:off x="6719292" y="6038850"/>
            <a:ext cx="734616"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6B7380"/>
                </a:solidFill>
                <a:latin typeface="JetBrains Mono" pitchFamily="34" charset="0"/>
                <a:ea typeface="JetBrains Mono" pitchFamily="34" charset="-122"/>
                <a:cs typeface="JetBrains Mono" pitchFamily="34" charset="-120"/>
              </a:rPr>
              <a:t>NQDs</a:t>
            </a:r>
            <a:endParaRPr lang="en-US" sz="180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19846" y="2653687"/>
            <a:ext cx="457200" cy="457200"/>
          </a:xfrm>
          <a:prstGeom prst="rect">
            <a:avLst/>
          </a:prstGeom>
        </p:spPr>
      </p:pic>
      <p:sp>
        <p:nvSpPr>
          <p:cNvPr id="13" name="Text 9"/>
          <p:cNvSpPr/>
          <p:nvPr/>
        </p:nvSpPr>
        <p:spPr>
          <a:xfrm>
            <a:off x="5312628" y="3206137"/>
            <a:ext cx="3471744" cy="394313"/>
          </a:xfrm>
          <a:prstGeom prst="rect">
            <a:avLst/>
          </a:prstGeom>
          <a:noFill/>
          <a:ln/>
        </p:spPr>
        <p:txBody>
          <a:bodyPr wrap="square" lIns="25400" tIns="25400" rIns="25400" bIns="25400" rtlCol="0" anchor="t">
            <a:normAutofit/>
          </a:bodyPr>
          <a:lstStyle/>
          <a:p>
            <a:pPr algn="ctr" indent="0" marL="0">
              <a:lnSpc>
                <a:spcPct val="91830"/>
              </a:lnSpc>
              <a:buNone/>
            </a:pPr>
            <a:r>
              <a:rPr lang="en-US" sz="2550" b="1" spc="-38" kern="0" dirty="0">
                <a:solidFill>
                  <a:srgbClr val="16191F"/>
                </a:solidFill>
                <a:latin typeface="Inter" pitchFamily="34" charset="0"/>
                <a:ea typeface="Inter" pitchFamily="34" charset="-122"/>
                <a:cs typeface="Inter" pitchFamily="34" charset="-120"/>
              </a:rPr>
              <a:t>Narrative Coherence</a:t>
            </a:r>
            <a:endParaRPr lang="en-US" sz="2550" dirty="0"/>
          </a:p>
        </p:txBody>
      </p:sp>
      <p:sp>
        <p:nvSpPr>
          <p:cNvPr id="14" name="Text 10"/>
          <p:cNvSpPr/>
          <p:nvPr/>
        </p:nvSpPr>
        <p:spPr>
          <a:xfrm>
            <a:off x="6294066" y="3657600"/>
            <a:ext cx="150876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6B7380"/>
                </a:solidFill>
                <a:latin typeface="JetBrains Mono" pitchFamily="34" charset="0"/>
                <a:ea typeface="JetBrains Mono" pitchFamily="34" charset="-122"/>
                <a:cs typeface="JetBrains Mono" pitchFamily="34" charset="-120"/>
              </a:rPr>
              <a:t>Structural</a:t>
            </a:r>
            <a:endParaRPr lang="en-US" sz="1800" dirty="0"/>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39250" y="4905375"/>
            <a:ext cx="457200" cy="457200"/>
          </a:xfrm>
          <a:prstGeom prst="rect">
            <a:avLst/>
          </a:prstGeom>
        </p:spPr>
      </p:pic>
      <p:sp>
        <p:nvSpPr>
          <p:cNvPr id="16" name="Text 11"/>
          <p:cNvSpPr/>
          <p:nvPr/>
        </p:nvSpPr>
        <p:spPr>
          <a:xfrm>
            <a:off x="9239250" y="5457825"/>
            <a:ext cx="3969306" cy="394313"/>
          </a:xfrm>
          <a:prstGeom prst="rect">
            <a:avLst/>
          </a:prstGeom>
          <a:noFill/>
          <a:ln/>
        </p:spPr>
        <p:txBody>
          <a:bodyPr wrap="square" lIns="25400" tIns="25400" rIns="25400" bIns="25400" rtlCol="0" anchor="t">
            <a:normAutofit/>
          </a:bodyPr>
          <a:lstStyle/>
          <a:p>
            <a:pPr algn="l" indent="0" marL="0">
              <a:lnSpc>
                <a:spcPct val="91830"/>
              </a:lnSpc>
              <a:buNone/>
            </a:pPr>
            <a:r>
              <a:rPr lang="en-US" sz="2550" b="1" spc="-38" kern="0" dirty="0">
                <a:solidFill>
                  <a:srgbClr val="16191F"/>
                </a:solidFill>
                <a:latin typeface="Inter" pitchFamily="34" charset="0"/>
                <a:ea typeface="Inter" pitchFamily="34" charset="-122"/>
                <a:cs typeface="Inter" pitchFamily="34" charset="-120"/>
              </a:rPr>
              <a:t>Character Development</a:t>
            </a:r>
            <a:endParaRPr lang="en-US" sz="2550" dirty="0"/>
          </a:p>
        </p:txBody>
      </p:sp>
      <p:sp>
        <p:nvSpPr>
          <p:cNvPr id="17" name="Text 12"/>
          <p:cNvSpPr/>
          <p:nvPr/>
        </p:nvSpPr>
        <p:spPr>
          <a:xfrm>
            <a:off x="9239250" y="5909289"/>
            <a:ext cx="13579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Character</a:t>
            </a:r>
            <a:endParaRPr lang="en-US" sz="1800" dirty="0"/>
          </a:p>
        </p:txBody>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7725" y="7905750"/>
            <a:ext cx="457200" cy="457200"/>
          </a:xfrm>
          <a:prstGeom prst="rect">
            <a:avLst/>
          </a:prstGeom>
        </p:spPr>
      </p:pic>
      <p:sp>
        <p:nvSpPr>
          <p:cNvPr id="19" name="Text 13"/>
          <p:cNvSpPr/>
          <p:nvPr/>
        </p:nvSpPr>
        <p:spPr>
          <a:xfrm>
            <a:off x="8467725" y="8458200"/>
            <a:ext cx="1113234" cy="394313"/>
          </a:xfrm>
          <a:prstGeom prst="rect">
            <a:avLst/>
          </a:prstGeom>
          <a:noFill/>
          <a:ln/>
        </p:spPr>
        <p:txBody>
          <a:bodyPr wrap="square" lIns="25400" tIns="25400" rIns="25400" bIns="25400" rtlCol="0" anchor="t">
            <a:normAutofit/>
          </a:bodyPr>
          <a:lstStyle/>
          <a:p>
            <a:pPr algn="l" indent="0" marL="0">
              <a:lnSpc>
                <a:spcPct val="91830"/>
              </a:lnSpc>
              <a:buNone/>
            </a:pPr>
            <a:r>
              <a:rPr lang="en-US" sz="2550" b="1" spc="-38" kern="0" dirty="0">
                <a:solidFill>
                  <a:srgbClr val="16191F"/>
                </a:solidFill>
                <a:latin typeface="Inter" pitchFamily="34" charset="0"/>
                <a:ea typeface="Inter" pitchFamily="34" charset="-122"/>
                <a:cs typeface="Inter" pitchFamily="34" charset="-120"/>
              </a:rPr>
              <a:t>Pacing</a:t>
            </a:r>
            <a:endParaRPr lang="en-US" sz="2550" dirty="0"/>
          </a:p>
        </p:txBody>
      </p:sp>
      <p:sp>
        <p:nvSpPr>
          <p:cNvPr id="20" name="Text 14"/>
          <p:cNvSpPr/>
          <p:nvPr/>
        </p:nvSpPr>
        <p:spPr>
          <a:xfrm>
            <a:off x="8467725" y="8909664"/>
            <a:ext cx="11735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Temporal</a:t>
            </a:r>
            <a:endParaRPr lang="en-US" sz="1800" dirty="0"/>
          </a:p>
        </p:txBody>
      </p:sp>
      <p:pic>
        <p:nvPicPr>
          <p:cNvPr id="2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172075" y="7905750"/>
            <a:ext cx="457200" cy="457200"/>
          </a:xfrm>
          <a:prstGeom prst="rect">
            <a:avLst/>
          </a:prstGeom>
        </p:spPr>
      </p:pic>
      <p:sp>
        <p:nvSpPr>
          <p:cNvPr id="22" name="Text 15"/>
          <p:cNvSpPr/>
          <p:nvPr/>
        </p:nvSpPr>
        <p:spPr>
          <a:xfrm>
            <a:off x="2628781" y="8458200"/>
            <a:ext cx="3000494" cy="394313"/>
          </a:xfrm>
          <a:prstGeom prst="rect">
            <a:avLst/>
          </a:prstGeom>
          <a:noFill/>
          <a:ln/>
        </p:spPr>
        <p:txBody>
          <a:bodyPr wrap="square" lIns="25400" tIns="25400" rIns="25400" bIns="25400" rtlCol="0" anchor="t">
            <a:normAutofit/>
          </a:bodyPr>
          <a:lstStyle/>
          <a:p>
            <a:pPr algn="r" indent="0" marL="0">
              <a:lnSpc>
                <a:spcPct val="91830"/>
              </a:lnSpc>
              <a:buNone/>
            </a:pPr>
            <a:r>
              <a:rPr lang="en-US" sz="2550" b="1" spc="-38" kern="0" dirty="0">
                <a:solidFill>
                  <a:srgbClr val="16191F"/>
                </a:solidFill>
                <a:latin typeface="Inter" pitchFamily="34" charset="0"/>
                <a:ea typeface="Inter" pitchFamily="34" charset="-122"/>
                <a:cs typeface="Inter" pitchFamily="34" charset="-120"/>
              </a:rPr>
              <a:t>Tone Consistency</a:t>
            </a:r>
            <a:endParaRPr lang="en-US" sz="2550" dirty="0"/>
          </a:p>
        </p:txBody>
      </p:sp>
      <p:sp>
        <p:nvSpPr>
          <p:cNvPr id="23" name="Text 16"/>
          <p:cNvSpPr/>
          <p:nvPr/>
        </p:nvSpPr>
        <p:spPr>
          <a:xfrm>
            <a:off x="4271367" y="8909664"/>
            <a:ext cx="1357908" cy="342900"/>
          </a:xfrm>
          <a:prstGeom prst="rect">
            <a:avLst/>
          </a:prstGeom>
          <a:noFill/>
          <a:ln/>
        </p:spPr>
        <p:txBody>
          <a:bodyPr wrap="square" lIns="25400" tIns="25400" rIns="25400" bIns="25400" rtlCol="0" anchor="t">
            <a:normAutofit/>
          </a:bodyPr>
          <a:lstStyle/>
          <a:p>
            <a:pPr algn="r" indent="0" marL="0">
              <a:buNone/>
            </a:pPr>
            <a:r>
              <a:rPr lang="en-US" sz="1800" dirty="0">
                <a:solidFill>
                  <a:srgbClr val="6B7380"/>
                </a:solidFill>
                <a:latin typeface="JetBrains Mono" pitchFamily="34" charset="0"/>
                <a:ea typeface="JetBrains Mono" pitchFamily="34" charset="-122"/>
                <a:cs typeface="JetBrains Mono" pitchFamily="34" charset="-120"/>
              </a:rPr>
              <a:t>Stylistic</a:t>
            </a:r>
            <a:endParaRPr lang="en-US" sz="1800" dirty="0"/>
          </a:p>
        </p:txBody>
      </p:sp>
      <p:pic>
        <p:nvPicPr>
          <p:cNvPr id="2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00550" y="4714875"/>
            <a:ext cx="457200" cy="457200"/>
          </a:xfrm>
          <a:prstGeom prst="rect">
            <a:avLst/>
          </a:prstGeom>
        </p:spPr>
      </p:pic>
      <p:sp>
        <p:nvSpPr>
          <p:cNvPr id="25" name="Text 17"/>
          <p:cNvSpPr/>
          <p:nvPr/>
        </p:nvSpPr>
        <p:spPr>
          <a:xfrm>
            <a:off x="1914525" y="5267325"/>
            <a:ext cx="2943225" cy="750527"/>
          </a:xfrm>
          <a:prstGeom prst="rect">
            <a:avLst/>
          </a:prstGeom>
          <a:noFill/>
          <a:ln/>
        </p:spPr>
        <p:txBody>
          <a:bodyPr wrap="square" lIns="25400" tIns="25400" rIns="25400" bIns="25400" rtlCol="0" anchor="t">
            <a:normAutofit/>
          </a:bodyPr>
          <a:lstStyle/>
          <a:p>
            <a:pPr algn="r" indent="0" marL="0">
              <a:lnSpc>
                <a:spcPct val="91830"/>
              </a:lnSpc>
              <a:buNone/>
            </a:pPr>
            <a:r>
              <a:rPr lang="en-US" sz="2550" b="1" spc="-38" kern="0" dirty="0">
                <a:solidFill>
                  <a:srgbClr val="16191F"/>
                </a:solidFill>
                <a:latin typeface="Inter" pitchFamily="34" charset="0"/>
                <a:ea typeface="Inter" pitchFamily="34" charset="-122"/>
                <a:cs typeface="Inter" pitchFamily="34" charset="-120"/>
              </a:rPr>
              <a:t>Emotional Turning Points</a:t>
            </a:r>
            <a:endParaRPr lang="en-US" sz="2550" dirty="0"/>
          </a:p>
        </p:txBody>
      </p:sp>
      <p:sp>
        <p:nvSpPr>
          <p:cNvPr id="26" name="Text 18"/>
          <p:cNvSpPr/>
          <p:nvPr/>
        </p:nvSpPr>
        <p:spPr>
          <a:xfrm>
            <a:off x="3499842" y="6075002"/>
            <a:ext cx="1357908" cy="342900"/>
          </a:xfrm>
          <a:prstGeom prst="rect">
            <a:avLst/>
          </a:prstGeom>
          <a:noFill/>
          <a:ln/>
        </p:spPr>
        <p:txBody>
          <a:bodyPr wrap="square" lIns="25400" tIns="25400" rIns="25400" bIns="25400" rtlCol="0" anchor="t">
            <a:normAutofit/>
          </a:bodyPr>
          <a:lstStyle/>
          <a:p>
            <a:pPr algn="r" indent="0" marL="0">
              <a:buNone/>
            </a:pPr>
            <a:r>
              <a:rPr lang="en-US" sz="1800" dirty="0">
                <a:solidFill>
                  <a:srgbClr val="6B7380"/>
                </a:solidFill>
                <a:latin typeface="JetBrains Mono" pitchFamily="34" charset="0"/>
                <a:ea typeface="JetBrains Mono" pitchFamily="34" charset="-122"/>
                <a:cs typeface="JetBrains Mono" pitchFamily="34" charset="-120"/>
              </a:rPr>
              <a:t>Affective</a:t>
            </a:r>
            <a:endParaRPr lang="en-US" sz="1800" dirty="0"/>
          </a:p>
        </p:txBody>
      </p:sp>
      <p:sp>
        <p:nvSpPr>
          <p:cNvPr id="27" name="Shape 19"/>
          <p:cNvSpPr/>
          <p:nvPr/>
        </p:nvSpPr>
        <p:spPr>
          <a:xfrm>
            <a:off x="13525500" y="5258666"/>
            <a:ext cx="4000500" cy="1123084"/>
          </a:xfrm>
          <a:prstGeom prst="roundRect">
            <a:avLst>
              <a:gd name="adj" fmla="val 27140"/>
            </a:avLst>
          </a:prstGeom>
          <a:solidFill>
            <a:srgbClr val="FFFFFF"/>
          </a:solidFill>
          <a:ln w="13855">
            <a:solidFill>
              <a:srgbClr val="16191F"/>
            </a:solidFill>
            <a:prstDash val="solid"/>
          </a:ln>
        </p:spPr>
      </p:sp>
      <p:sp>
        <p:nvSpPr>
          <p:cNvPr id="28" name="Text 20"/>
          <p:cNvSpPr/>
          <p:nvPr/>
        </p:nvSpPr>
        <p:spPr>
          <a:xfrm>
            <a:off x="13825105" y="5463021"/>
            <a:ext cx="2782574" cy="741651"/>
          </a:xfrm>
          <a:prstGeom prst="rect">
            <a:avLst/>
          </a:prstGeom>
          <a:noFill/>
          <a:ln/>
        </p:spPr>
        <p:txBody>
          <a:bodyPr wrap="square" lIns="0" tIns="0" rIns="0" bIns="0" rtlCol="0" anchor="t">
            <a:normAutofit/>
          </a:bodyPr>
          <a:lstStyle/>
          <a:p>
            <a:pPr algn="l" indent="0" marL="0">
              <a:lnSpc>
                <a:spcPct val="103125"/>
              </a:lnSpc>
              <a:buNone/>
            </a:pPr>
            <a:r>
              <a:rPr lang="en-US" sz="2250" dirty="0">
                <a:solidFill>
                  <a:srgbClr val="16191F"/>
                </a:solidFill>
                <a:latin typeface="Inter" pitchFamily="34" charset="0"/>
                <a:ea typeface="Inter" pitchFamily="34" charset="-122"/>
                <a:cs typeface="Inter" pitchFamily="34" charset="-120"/>
              </a:rPr>
              <a:t>How do you score a story?</a:t>
            </a:r>
            <a:endParaRPr lang="en-US" sz="2250" dirty="0"/>
          </a:p>
        </p:txBody>
      </p:sp>
      <p:sp>
        <p:nvSpPr>
          <p:cNvPr id="29" name="Shape 21"/>
          <p:cNvSpPr/>
          <p:nvPr/>
        </p:nvSpPr>
        <p:spPr>
          <a:xfrm>
            <a:off x="15884236" y="6416387"/>
            <a:ext cx="199159" cy="199159"/>
          </a:xfrm>
          <a:prstGeom prst="ellipse">
            <a:avLst/>
          </a:prstGeom>
          <a:solidFill>
            <a:srgbClr val="FFFFFF"/>
          </a:solidFill>
          <a:ln w="13855">
            <a:solidFill>
              <a:srgbClr val="16191F"/>
            </a:solidFill>
            <a:prstDash val="solid"/>
          </a:ln>
        </p:spPr>
      </p:sp>
      <p:sp>
        <p:nvSpPr>
          <p:cNvPr id="30" name="Shape 22"/>
          <p:cNvSpPr/>
          <p:nvPr/>
        </p:nvSpPr>
        <p:spPr>
          <a:xfrm>
            <a:off x="16093787" y="6683087"/>
            <a:ext cx="122959" cy="122959"/>
          </a:xfrm>
          <a:prstGeom prst="ellipse">
            <a:avLst/>
          </a:prstGeom>
          <a:solidFill>
            <a:srgbClr val="FFFFFF"/>
          </a:solidFill>
          <a:ln w="13855">
            <a:solidFill>
              <a:srgbClr val="16191F"/>
            </a:solidFill>
            <a:prstDash val="solid"/>
          </a:ln>
        </p:spPr>
      </p:sp>
      <p:pic>
        <p:nvPicPr>
          <p:cNvPr id="31" name="Image 6" descr="preencoded.png">    </p:cNvPr>
          <p:cNvPicPr>
            <a:picLocks noChangeAspect="1"/>
          </p:cNvPicPr>
          <p:nvPr/>
        </p:nvPicPr>
        <p:blipFill>
          <a:blip r:embed="rId13"/>
          <a:stretch>
            <a:fillRect/>
          </a:stretch>
        </p:blipFill>
        <p:spPr>
          <a:xfrm>
            <a:off x="14292480" y="6858000"/>
            <a:ext cx="3043021" cy="3429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91F"/>
        </a:solidFill>
      </p:bgPr>
    </p:bg>
    <p:spTree>
      <p:nvGrpSpPr>
        <p:cNvPr id="1" name=""/>
        <p:cNvGrpSpPr/>
        <p:nvPr/>
      </p:nvGrpSpPr>
      <p:grpSpPr>
        <a:xfrm>
          <a:off x="0" y="0"/>
          <a:ext cx="0" cy="0"/>
          <a:chOff x="0" y="0"/>
          <a:chExt cx="0" cy="0"/>
        </a:xfrm>
      </p:grpSpPr>
      <p:sp>
        <p:nvSpPr>
          <p:cNvPr id="2" name="Text 0"/>
          <p:cNvSpPr/>
          <p:nvPr/>
        </p:nvSpPr>
        <p:spPr>
          <a:xfrm>
            <a:off x="952500" y="533400"/>
            <a:ext cx="1539002"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PLOTTWIST</a:t>
            </a:r>
            <a:endParaRPr lang="en-US" sz="1800" dirty="0"/>
          </a:p>
        </p:txBody>
      </p:sp>
      <p:sp>
        <p:nvSpPr>
          <p:cNvPr id="3" name="Shape 1"/>
          <p:cNvSpPr/>
          <p:nvPr/>
        </p:nvSpPr>
        <p:spPr>
          <a:xfrm>
            <a:off x="15271931" y="666750"/>
            <a:ext cx="457200" cy="38100"/>
          </a:xfrm>
          <a:prstGeom prst="rect">
            <a:avLst/>
          </a:prstGeom>
          <a:solidFill>
            <a:srgbClr val="99A1AE"/>
          </a:solidFill>
          <a:ln/>
        </p:spPr>
      </p:sp>
      <p:sp>
        <p:nvSpPr>
          <p:cNvPr id="4" name="Shape 2"/>
          <p:cNvSpPr/>
          <p:nvPr/>
        </p:nvSpPr>
        <p:spPr>
          <a:xfrm>
            <a:off x="15805331" y="666750"/>
            <a:ext cx="457200" cy="38100"/>
          </a:xfrm>
          <a:prstGeom prst="rect">
            <a:avLst/>
          </a:prstGeom>
          <a:solidFill>
            <a:srgbClr val="FFFFFF"/>
          </a:solidFill>
          <a:ln/>
        </p:spPr>
      </p:sp>
      <p:sp>
        <p:nvSpPr>
          <p:cNvPr id="5" name="Shape 3"/>
          <p:cNvSpPr/>
          <p:nvPr/>
        </p:nvSpPr>
        <p:spPr>
          <a:xfrm>
            <a:off x="16338731" y="666750"/>
            <a:ext cx="457200" cy="38100"/>
          </a:xfrm>
          <a:prstGeom prst="rect">
            <a:avLst/>
          </a:prstGeom>
          <a:solidFill>
            <a:srgbClr val="414750"/>
          </a:solidFill>
          <a:ln/>
        </p:spPr>
      </p:sp>
      <p:sp>
        <p:nvSpPr>
          <p:cNvPr id="6" name="Text 4"/>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05</a:t>
            </a:r>
            <a:endParaRPr lang="en-US" sz="1800" dirty="0"/>
          </a:p>
        </p:txBody>
      </p:sp>
      <p:sp>
        <p:nvSpPr>
          <p:cNvPr id="7" name="Text 5"/>
          <p:cNvSpPr/>
          <p:nvPr/>
        </p:nvSpPr>
        <p:spPr>
          <a:xfrm>
            <a:off x="952500" y="3143250"/>
            <a:ext cx="10863858" cy="391391"/>
          </a:xfrm>
          <a:prstGeom prst="rect">
            <a:avLst/>
          </a:prstGeom>
          <a:noFill/>
          <a:ln/>
        </p:spPr>
        <p:txBody>
          <a:bodyPr wrap="square" lIns="25400" tIns="25400" rIns="25400" bIns="25400" rtlCol="0" anchor="t">
            <a:normAutofit/>
          </a:bodyPr>
          <a:lstStyle/>
          <a:p>
            <a:pPr algn="l" indent="0" marL="0">
              <a:buNone/>
            </a:pPr>
            <a:r>
              <a:rPr lang="en-US" sz="2100" spc="420" kern="0" dirty="0">
                <a:solidFill>
                  <a:srgbClr val="99A1AE"/>
                </a:solidFill>
                <a:latin typeface="JetBrains Mono" pitchFamily="34" charset="0"/>
                <a:ea typeface="JetBrains Mono" pitchFamily="34" charset="-122"/>
                <a:cs typeface="JetBrains Mono" pitchFamily="34" charset="-120"/>
              </a:rPr>
              <a:t>ACT II</a:t>
            </a:r>
            <a:endParaRPr lang="en-US" sz="2100" dirty="0"/>
          </a:p>
        </p:txBody>
      </p:sp>
      <p:sp>
        <p:nvSpPr>
          <p:cNvPr id="8" name="Text 6"/>
          <p:cNvSpPr/>
          <p:nvPr/>
        </p:nvSpPr>
        <p:spPr>
          <a:xfrm>
            <a:off x="952500" y="3763241"/>
            <a:ext cx="10863858" cy="1485900"/>
          </a:xfrm>
          <a:prstGeom prst="rect">
            <a:avLst/>
          </a:prstGeom>
          <a:noFill/>
          <a:ln/>
        </p:spPr>
        <p:txBody>
          <a:bodyPr wrap="none" lIns="25400" tIns="25400" rIns="25400" bIns="25400" rtlCol="0" anchor="t">
            <a:normAutofit/>
          </a:bodyPr>
          <a:lstStyle/>
          <a:p>
            <a:pPr algn="l" indent="0" marL="0">
              <a:lnSpc>
                <a:spcPct val="78571"/>
              </a:lnSpc>
              <a:buNone/>
            </a:pPr>
            <a:r>
              <a:rPr lang="en-US" sz="12000" b="1" spc="-480" kern="0" dirty="0">
                <a:solidFill>
                  <a:srgbClr val="FFFFFF"/>
                </a:solidFill>
                <a:latin typeface="Inter" pitchFamily="34" charset="0"/>
                <a:ea typeface="Inter" pitchFamily="34" charset="-122"/>
                <a:cs typeface="Inter" pitchFamily="34" charset="-120"/>
              </a:rPr>
              <a:t>The Turn</a:t>
            </a:r>
            <a:endParaRPr lang="en-US" sz="12000" dirty="0"/>
          </a:p>
        </p:txBody>
      </p:sp>
      <p:sp>
        <p:nvSpPr>
          <p:cNvPr id="9" name="Text 7"/>
          <p:cNvSpPr/>
          <p:nvPr/>
        </p:nvSpPr>
        <p:spPr>
          <a:xfrm>
            <a:off x="952500" y="5477741"/>
            <a:ext cx="10863858" cy="533400"/>
          </a:xfrm>
          <a:prstGeom prst="rect">
            <a:avLst/>
          </a:prstGeom>
          <a:noFill/>
          <a:ln/>
        </p:spPr>
        <p:txBody>
          <a:bodyPr wrap="square" lIns="25400" tIns="25400" rIns="25400" bIns="25400" rtlCol="0" anchor="t">
            <a:normAutofit/>
          </a:bodyPr>
          <a:lstStyle/>
          <a:p>
            <a:pPr algn="l" indent="0" marL="0">
              <a:lnSpc>
                <a:spcPct val="108333"/>
              </a:lnSpc>
              <a:buNone/>
            </a:pPr>
            <a:r>
              <a:rPr lang="en-US" sz="3000" dirty="0">
                <a:solidFill>
                  <a:srgbClr val="99A1AE"/>
                </a:solidFill>
                <a:latin typeface="Inter" pitchFamily="34" charset="0"/>
                <a:ea typeface="Inter" pitchFamily="34" charset="-122"/>
                <a:cs typeface="Inter" pitchFamily="34" charset="-120"/>
              </a:rPr>
              <a:t>Why the task is hard, and how PlotTwist restructures it.</a:t>
            </a:r>
            <a:endParaRPr lang="en-US" sz="3000" dirty="0"/>
          </a:p>
        </p:txBody>
      </p:sp>
      <p:sp>
        <p:nvSpPr>
          <p:cNvPr id="10" name="Shape 8"/>
          <p:cNvSpPr/>
          <p:nvPr/>
        </p:nvSpPr>
        <p:spPr>
          <a:xfrm>
            <a:off x="8953500" y="3048000"/>
            <a:ext cx="9525000" cy="9525000"/>
          </a:xfrm>
          <a:prstGeom prst="ellipse">
            <a:avLst/>
          </a:prstGeom>
          <a:gradFill rotWithShape="1">
            <a:gsLst>
              <a:gs pos="0">
                <a:srgbClr val="FFFFFF">
                  <a:alpha val="13000"/>
                </a:srgbClr>
              </a:gs>
              <a:gs pos="100000">
                <a:srgbClr val="FFFFFF">
                  <a:alpha val="0"/>
                </a:srgbClr>
              </a:gs>
            </a:gsLst>
            <a:path path="circle">
              <a:fillToRect l="50000" t="50000" r="50000" b="50000"/>
            </a:path>
          </a:gradFill>
          <a:ln/>
        </p:spPr>
      </p:sp>
      <p:pic>
        <p:nvPicPr>
          <p:cNvPr id="11" name="Image 0" descr="preencoded.png">    </p:cNvPr>
          <p:cNvPicPr>
            <a:picLocks noChangeAspect="1"/>
          </p:cNvPicPr>
          <p:nvPr/>
        </p:nvPicPr>
        <p:blipFill>
          <a:blip r:embed="rId1"/>
          <a:stretch>
            <a:fillRect/>
          </a:stretch>
        </p:blipFill>
        <p:spPr>
          <a:xfrm>
            <a:off x="10570477" y="4572000"/>
            <a:ext cx="5812523" cy="5715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91F"/>
        </a:solidFill>
      </p:bgPr>
    </p:bg>
    <p:spTree>
      <p:nvGrpSpPr>
        <p:cNvPr id="1" name=""/>
        <p:cNvGrpSpPr/>
        <p:nvPr/>
      </p:nvGrpSpPr>
      <p:grpSpPr>
        <a:xfrm>
          <a:off x="0" y="0"/>
          <a:ext cx="0" cy="0"/>
          <a:chOff x="0" y="0"/>
          <a:chExt cx="0" cy="0"/>
        </a:xfrm>
      </p:grpSpPr>
      <p:sp>
        <p:nvSpPr>
          <p:cNvPr id="2" name="Text 0"/>
          <p:cNvSpPr/>
          <p:nvPr/>
        </p:nvSpPr>
        <p:spPr>
          <a:xfrm>
            <a:off x="952500"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II</a:t>
            </a:r>
            <a:endParaRPr lang="en-US" sz="1800" dirty="0"/>
          </a:p>
        </p:txBody>
      </p:sp>
      <p:sp>
        <p:nvSpPr>
          <p:cNvPr id="3" name="Text 1"/>
          <p:cNvSpPr/>
          <p:nvPr/>
        </p:nvSpPr>
        <p:spPr>
          <a:xfrm>
            <a:off x="1434920" y="533400"/>
            <a:ext cx="1368028"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THE TURN</a:t>
            </a:r>
            <a:endParaRPr lang="en-US" sz="1800" dirty="0"/>
          </a:p>
        </p:txBody>
      </p:sp>
      <p:sp>
        <p:nvSpPr>
          <p:cNvPr id="4" name="Shape 2"/>
          <p:cNvSpPr/>
          <p:nvPr/>
        </p:nvSpPr>
        <p:spPr>
          <a:xfrm>
            <a:off x="15271931" y="666750"/>
            <a:ext cx="457200" cy="38100"/>
          </a:xfrm>
          <a:prstGeom prst="rect">
            <a:avLst/>
          </a:prstGeom>
          <a:solidFill>
            <a:srgbClr val="99A1AE"/>
          </a:solidFill>
          <a:ln/>
        </p:spPr>
      </p:sp>
      <p:sp>
        <p:nvSpPr>
          <p:cNvPr id="5" name="Shape 3"/>
          <p:cNvSpPr/>
          <p:nvPr/>
        </p:nvSpPr>
        <p:spPr>
          <a:xfrm>
            <a:off x="15805331" y="666750"/>
            <a:ext cx="457200" cy="38100"/>
          </a:xfrm>
          <a:prstGeom prst="rect">
            <a:avLst/>
          </a:prstGeom>
          <a:solidFill>
            <a:srgbClr val="FFFFFF"/>
          </a:solidFill>
          <a:ln/>
        </p:spPr>
      </p:sp>
      <p:sp>
        <p:nvSpPr>
          <p:cNvPr id="6" name="Shape 4"/>
          <p:cNvSpPr/>
          <p:nvPr/>
        </p:nvSpPr>
        <p:spPr>
          <a:xfrm>
            <a:off x="16338731" y="666750"/>
            <a:ext cx="457200" cy="38100"/>
          </a:xfrm>
          <a:prstGeom prst="rect">
            <a:avLst/>
          </a:prstGeom>
          <a:solidFill>
            <a:srgbClr val="414750"/>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06</a:t>
            </a:r>
            <a:endParaRPr lang="en-US" sz="1800" dirty="0"/>
          </a:p>
        </p:txBody>
      </p:sp>
      <p:sp>
        <p:nvSpPr>
          <p:cNvPr id="8" name="Text 6"/>
          <p:cNvSpPr/>
          <p:nvPr/>
        </p:nvSpPr>
        <p:spPr>
          <a:xfrm>
            <a:off x="952500" y="1333500"/>
            <a:ext cx="15037951"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FFFFFF"/>
                </a:solidFill>
                <a:latin typeface="Inter" pitchFamily="34" charset="0"/>
                <a:ea typeface="Inter" pitchFamily="34" charset="-122"/>
                <a:cs typeface="Inter" pitchFamily="34" charset="-120"/>
              </a:rPr>
              <a:t>Aligning at scale is costly; LLM judges are biased</a:t>
            </a:r>
            <a:endParaRPr lang="en-US" sz="4800" dirty="0"/>
          </a:p>
        </p:txBody>
      </p:sp>
      <p:sp>
        <p:nvSpPr>
          <p:cNvPr id="9" name="Shape 7"/>
          <p:cNvSpPr/>
          <p:nvPr/>
        </p:nvSpPr>
        <p:spPr>
          <a:xfrm>
            <a:off x="952500" y="3048000"/>
            <a:ext cx="5695950" cy="9525"/>
          </a:xfrm>
          <a:prstGeom prst="rect">
            <a:avLst/>
          </a:prstGeom>
          <a:solidFill>
            <a:srgbClr val="414750"/>
          </a:solidFill>
          <a:ln/>
        </p:spPr>
      </p:sp>
      <p:sp>
        <p:nvSpPr>
          <p:cNvPr id="10" name="Text 8"/>
          <p:cNvSpPr/>
          <p:nvPr/>
        </p:nvSpPr>
        <p:spPr>
          <a:xfrm>
            <a:off x="952500" y="3321627"/>
            <a:ext cx="6265545"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99A1AE"/>
                </a:solidFill>
                <a:latin typeface="JetBrains Mono" pitchFamily="34" charset="0"/>
                <a:ea typeface="JetBrains Mono" pitchFamily="34" charset="-122"/>
                <a:cs typeface="JetBrains Mono" pitchFamily="34" charset="-120"/>
              </a:rPr>
              <a:t>01 · GENERATION</a:t>
            </a:r>
            <a:endParaRPr lang="en-US" sz="180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4022148"/>
            <a:ext cx="609600" cy="609600"/>
          </a:xfrm>
          <a:prstGeom prst="rect">
            <a:avLst/>
          </a:prstGeom>
        </p:spPr>
      </p:pic>
      <p:sp>
        <p:nvSpPr>
          <p:cNvPr id="12" name="Text 9"/>
          <p:cNvSpPr/>
          <p:nvPr/>
        </p:nvSpPr>
        <p:spPr>
          <a:xfrm>
            <a:off x="1771650" y="3931227"/>
            <a:ext cx="3795713" cy="453736"/>
          </a:xfrm>
          <a:prstGeom prst="rect">
            <a:avLst/>
          </a:prstGeom>
          <a:noFill/>
          <a:ln/>
        </p:spPr>
        <p:txBody>
          <a:bodyPr wrap="square" lIns="25400" tIns="25400" rIns="25400" bIns="25400" rtlCol="0" anchor="t">
            <a:normAutofit/>
          </a:bodyPr>
          <a:lstStyle/>
          <a:p>
            <a:pPr algn="l" indent="0" marL="0">
              <a:buNone/>
            </a:pPr>
            <a:r>
              <a:rPr lang="en-US" sz="2700" b="1" spc="-40" kern="0" dirty="0">
                <a:solidFill>
                  <a:srgbClr val="FFFFFF"/>
                </a:solidFill>
                <a:latin typeface="Inter" pitchFamily="34" charset="0"/>
                <a:ea typeface="Inter" pitchFamily="34" charset="-122"/>
                <a:cs typeface="Inter" pitchFamily="34" charset="-120"/>
              </a:rPr>
              <a:t>Frontier Alignment</a:t>
            </a:r>
            <a:endParaRPr lang="en-US" sz="2700" dirty="0"/>
          </a:p>
        </p:txBody>
      </p:sp>
      <p:sp>
        <p:nvSpPr>
          <p:cNvPr id="13" name="Text 10"/>
          <p:cNvSpPr/>
          <p:nvPr/>
        </p:nvSpPr>
        <p:spPr>
          <a:xfrm>
            <a:off x="1771650" y="4404014"/>
            <a:ext cx="3795713" cy="356755"/>
          </a:xfrm>
          <a:prstGeom prst="rect">
            <a:avLst/>
          </a:prstGeom>
          <a:noFill/>
          <a:ln/>
        </p:spPr>
        <p:txBody>
          <a:bodyPr wrap="square" lIns="25400" tIns="25400" rIns="25400" bIns="25400" rtlCol="0" anchor="t">
            <a:normAutofit/>
          </a:bodyPr>
          <a:lstStyle/>
          <a:p>
            <a:pPr algn="l" indent="0" marL="0">
              <a:buNone/>
            </a:pPr>
            <a:r>
              <a:rPr lang="en-US" sz="2100" dirty="0">
                <a:solidFill>
                  <a:srgbClr val="99A1AE"/>
                </a:solidFill>
                <a:latin typeface="Inter" pitchFamily="34" charset="0"/>
                <a:ea typeface="Inter" pitchFamily="34" charset="-122"/>
                <a:cs typeface="Inter" pitchFamily="34" charset="-120"/>
              </a:rPr>
              <a:t>Computationally Prohibitive</a:t>
            </a:r>
            <a:endParaRPr lang="en-US" sz="21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2500" y="5027468"/>
            <a:ext cx="5524500" cy="1619250"/>
          </a:xfrm>
          <a:prstGeom prst="rect">
            <a:avLst/>
          </a:prstGeom>
        </p:spPr>
      </p:pic>
      <p:sp>
        <p:nvSpPr>
          <p:cNvPr id="15" name="Text 11"/>
          <p:cNvSpPr/>
          <p:nvPr/>
        </p:nvSpPr>
        <p:spPr>
          <a:xfrm>
            <a:off x="4000500" y="5027468"/>
            <a:ext cx="185797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Inter" pitchFamily="34" charset="0"/>
                <a:ea typeface="Inter" pitchFamily="34" charset="-122"/>
                <a:cs typeface="Inter" pitchFamily="34" charset="-120"/>
              </a:rPr>
              <a:t>Narrative Drift</a:t>
            </a:r>
            <a:endParaRPr lang="en-US" sz="1950" dirty="0"/>
          </a:p>
        </p:txBody>
      </p:sp>
      <p:sp>
        <p:nvSpPr>
          <p:cNvPr id="16" name="Text 12"/>
          <p:cNvSpPr/>
          <p:nvPr/>
        </p:nvSpPr>
        <p:spPr>
          <a:xfrm>
            <a:off x="4095750" y="6208568"/>
            <a:ext cx="181058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9A1AE"/>
                </a:solidFill>
                <a:latin typeface="JetBrains Mono" pitchFamily="34" charset="0"/>
                <a:ea typeface="JetBrains Mono" pitchFamily="34" charset="-122"/>
                <a:cs typeface="JetBrains Mono" pitchFamily="34" charset="-120"/>
              </a:rPr>
              <a:t>Intended Arc</a:t>
            </a:r>
            <a:endParaRPr lang="en-US" sz="1800" dirty="0"/>
          </a:p>
        </p:txBody>
      </p:sp>
      <p:sp>
        <p:nvSpPr>
          <p:cNvPr id="17" name="Text 13"/>
          <p:cNvSpPr/>
          <p:nvPr/>
        </p:nvSpPr>
        <p:spPr>
          <a:xfrm>
            <a:off x="952500" y="6951518"/>
            <a:ext cx="6265545" cy="412173"/>
          </a:xfrm>
          <a:prstGeom prst="rect">
            <a:avLst/>
          </a:prstGeom>
          <a:noFill/>
          <a:ln/>
        </p:spPr>
        <p:txBody>
          <a:bodyPr wrap="square" lIns="25400" tIns="25400" rIns="25400" bIns="25400" rtlCol="0" anchor="t">
            <a:normAutofit/>
          </a:bodyPr>
          <a:lstStyle/>
          <a:p>
            <a:pPr algn="l" indent="0" marL="0">
              <a:buNone/>
            </a:pPr>
            <a:r>
              <a:rPr lang="en-US" sz="2400" b="1" spc="-24" kern="0" dirty="0">
                <a:solidFill>
                  <a:srgbClr val="FFFFFF"/>
                </a:solidFill>
                <a:latin typeface="Inter" pitchFamily="34" charset="0"/>
                <a:ea typeface="Inter" pitchFamily="34" charset="-122"/>
                <a:cs typeface="Inter" pitchFamily="34" charset="-120"/>
              </a:rPr>
              <a:t>Scale ≠ Long-Horizon Coherence</a:t>
            </a:r>
            <a:endParaRPr lang="en-US" sz="2400" dirty="0"/>
          </a:p>
        </p:txBody>
      </p:sp>
      <p:sp>
        <p:nvSpPr>
          <p:cNvPr id="18" name="Shape 14"/>
          <p:cNvSpPr/>
          <p:nvPr/>
        </p:nvSpPr>
        <p:spPr>
          <a:xfrm>
            <a:off x="7258050" y="3048000"/>
            <a:ext cx="5695950" cy="9525"/>
          </a:xfrm>
          <a:prstGeom prst="rect">
            <a:avLst/>
          </a:prstGeom>
          <a:solidFill>
            <a:srgbClr val="414750"/>
          </a:solidFill>
          <a:ln/>
        </p:spPr>
      </p:sp>
      <p:sp>
        <p:nvSpPr>
          <p:cNvPr id="19" name="Text 15"/>
          <p:cNvSpPr/>
          <p:nvPr/>
        </p:nvSpPr>
        <p:spPr>
          <a:xfrm>
            <a:off x="7258050" y="3321627"/>
            <a:ext cx="6265545"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99A1AE"/>
                </a:solidFill>
                <a:latin typeface="JetBrains Mono" pitchFamily="34" charset="0"/>
                <a:ea typeface="JetBrains Mono" pitchFamily="34" charset="-122"/>
                <a:cs typeface="JetBrains Mono" pitchFamily="34" charset="-120"/>
              </a:rPr>
              <a:t>02 · EVALUATION</a:t>
            </a:r>
            <a:endParaRPr lang="en-US" sz="1800" dirty="0"/>
          </a:p>
        </p:txBody>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58050" y="4022148"/>
            <a:ext cx="609600" cy="609600"/>
          </a:xfrm>
          <a:prstGeom prst="rect">
            <a:avLst/>
          </a:prstGeom>
        </p:spPr>
      </p:pic>
      <p:sp>
        <p:nvSpPr>
          <p:cNvPr id="21" name="Text 16"/>
          <p:cNvSpPr/>
          <p:nvPr/>
        </p:nvSpPr>
        <p:spPr>
          <a:xfrm>
            <a:off x="8077200" y="3931227"/>
            <a:ext cx="2989064" cy="453736"/>
          </a:xfrm>
          <a:prstGeom prst="rect">
            <a:avLst/>
          </a:prstGeom>
          <a:noFill/>
          <a:ln/>
        </p:spPr>
        <p:txBody>
          <a:bodyPr wrap="square" lIns="25400" tIns="25400" rIns="25400" bIns="25400" rtlCol="0" anchor="t">
            <a:normAutofit/>
          </a:bodyPr>
          <a:lstStyle/>
          <a:p>
            <a:pPr algn="l" indent="0" marL="0">
              <a:buNone/>
            </a:pPr>
            <a:r>
              <a:rPr lang="en-US" sz="2700" b="1" spc="-40" kern="0" dirty="0">
                <a:solidFill>
                  <a:srgbClr val="FFFFFF"/>
                </a:solidFill>
                <a:latin typeface="Inter" pitchFamily="34" charset="0"/>
                <a:ea typeface="Inter" pitchFamily="34" charset="-122"/>
                <a:cs typeface="Inter" pitchFamily="34" charset="-120"/>
              </a:rPr>
              <a:t>LLM-as-a-Judge</a:t>
            </a:r>
            <a:endParaRPr lang="en-US" sz="2700" dirty="0"/>
          </a:p>
        </p:txBody>
      </p:sp>
      <p:sp>
        <p:nvSpPr>
          <p:cNvPr id="22" name="Text 17"/>
          <p:cNvSpPr/>
          <p:nvPr/>
        </p:nvSpPr>
        <p:spPr>
          <a:xfrm>
            <a:off x="8077200" y="4404014"/>
            <a:ext cx="2989064" cy="356755"/>
          </a:xfrm>
          <a:prstGeom prst="rect">
            <a:avLst/>
          </a:prstGeom>
          <a:noFill/>
          <a:ln/>
        </p:spPr>
        <p:txBody>
          <a:bodyPr wrap="square" lIns="25400" tIns="25400" rIns="25400" bIns="25400" rtlCol="0" anchor="t">
            <a:normAutofit/>
          </a:bodyPr>
          <a:lstStyle/>
          <a:p>
            <a:pPr algn="l" indent="0" marL="0">
              <a:buNone/>
            </a:pPr>
            <a:r>
              <a:rPr lang="en-US" sz="2100" dirty="0">
                <a:solidFill>
                  <a:srgbClr val="99A1AE"/>
                </a:solidFill>
                <a:latin typeface="Inter" pitchFamily="34" charset="0"/>
                <a:ea typeface="Inter" pitchFamily="34" charset="-122"/>
                <a:cs typeface="Inter" pitchFamily="34" charset="-120"/>
              </a:rPr>
              <a:t>Systematic Biases</a:t>
            </a:r>
            <a:endParaRPr lang="en-US" sz="2100" dirty="0"/>
          </a:p>
        </p:txBody>
      </p:sp>
      <p:sp>
        <p:nvSpPr>
          <p:cNvPr id="23" name="Shape 18"/>
          <p:cNvSpPr/>
          <p:nvPr/>
        </p:nvSpPr>
        <p:spPr>
          <a:xfrm>
            <a:off x="7258050" y="5027468"/>
            <a:ext cx="2781300" cy="950985"/>
          </a:xfrm>
          <a:prstGeom prst="roundRect">
            <a:avLst>
              <a:gd name="adj" fmla="val 14022"/>
            </a:avLst>
          </a:prstGeom>
          <a:ln w="6927">
            <a:solidFill>
              <a:srgbClr val="414750"/>
            </a:solidFill>
            <a:prstDash val="solid"/>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5477" y="5312461"/>
            <a:ext cx="381000" cy="381000"/>
          </a:xfrm>
          <a:prstGeom prst="rect">
            <a:avLst/>
          </a:prstGeom>
        </p:spPr>
      </p:pic>
      <p:sp>
        <p:nvSpPr>
          <p:cNvPr id="25" name="Text 19"/>
          <p:cNvSpPr/>
          <p:nvPr/>
        </p:nvSpPr>
        <p:spPr>
          <a:xfrm>
            <a:off x="7988877" y="5354349"/>
            <a:ext cx="1816060" cy="335215"/>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FFFFFF"/>
                </a:solidFill>
                <a:latin typeface="Inter" pitchFamily="34" charset="0"/>
                <a:ea typeface="Inter" pitchFamily="34" charset="-122"/>
                <a:cs typeface="Inter" pitchFamily="34" charset="-120"/>
              </a:rPr>
              <a:t>Positivity Bias</a:t>
            </a:r>
            <a:endParaRPr lang="en-US" sz="1950" dirty="0"/>
          </a:p>
        </p:txBody>
      </p:sp>
      <p:sp>
        <p:nvSpPr>
          <p:cNvPr id="26" name="Shape 20"/>
          <p:cNvSpPr/>
          <p:nvPr/>
        </p:nvSpPr>
        <p:spPr>
          <a:xfrm>
            <a:off x="10172700" y="5027468"/>
            <a:ext cx="2781300" cy="950985"/>
          </a:xfrm>
          <a:prstGeom prst="roundRect">
            <a:avLst>
              <a:gd name="adj" fmla="val 14022"/>
            </a:avLst>
          </a:prstGeom>
          <a:ln w="6927">
            <a:solidFill>
              <a:srgbClr val="414750"/>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70127" y="5312461"/>
            <a:ext cx="381000" cy="381000"/>
          </a:xfrm>
          <a:prstGeom prst="rect">
            <a:avLst/>
          </a:prstGeom>
        </p:spPr>
      </p:pic>
      <p:sp>
        <p:nvSpPr>
          <p:cNvPr id="28" name="Text 21"/>
          <p:cNvSpPr/>
          <p:nvPr/>
        </p:nvSpPr>
        <p:spPr>
          <a:xfrm>
            <a:off x="10903527" y="5205846"/>
            <a:ext cx="1929245" cy="632330"/>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FFFFFF"/>
                </a:solidFill>
                <a:latin typeface="Inter" pitchFamily="34" charset="0"/>
                <a:ea typeface="Inter" pitchFamily="34" charset="-122"/>
                <a:cs typeface="Inter" pitchFamily="34" charset="-120"/>
              </a:rPr>
              <a:t>Same-Family Preference</a:t>
            </a:r>
            <a:endParaRPr lang="en-US" sz="1950" dirty="0"/>
          </a:p>
        </p:txBody>
      </p:sp>
      <p:sp>
        <p:nvSpPr>
          <p:cNvPr id="29" name="Shape 22"/>
          <p:cNvSpPr/>
          <p:nvPr/>
        </p:nvSpPr>
        <p:spPr>
          <a:xfrm>
            <a:off x="7258050" y="6111803"/>
            <a:ext cx="2781300" cy="950985"/>
          </a:xfrm>
          <a:prstGeom prst="roundRect">
            <a:avLst>
              <a:gd name="adj" fmla="val 14022"/>
            </a:avLst>
          </a:prstGeom>
          <a:ln w="6927">
            <a:solidFill>
              <a:srgbClr val="414750"/>
            </a:solidFill>
            <a:prstDash val="solid"/>
          </a:ln>
        </p:spPr>
      </p:sp>
      <p:pic>
        <p:nvPicPr>
          <p:cNvPr id="3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55477" y="6396796"/>
            <a:ext cx="381000" cy="381000"/>
          </a:xfrm>
          <a:prstGeom prst="rect">
            <a:avLst/>
          </a:prstGeom>
        </p:spPr>
      </p:pic>
      <p:sp>
        <p:nvSpPr>
          <p:cNvPr id="31" name="Text 23"/>
          <p:cNvSpPr/>
          <p:nvPr/>
        </p:nvSpPr>
        <p:spPr>
          <a:xfrm>
            <a:off x="7988877" y="6438684"/>
            <a:ext cx="1872853" cy="335215"/>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FFFFFF"/>
                </a:solidFill>
                <a:latin typeface="Inter" pitchFamily="34" charset="0"/>
                <a:ea typeface="Inter" pitchFamily="34" charset="-122"/>
                <a:cs typeface="Inter" pitchFamily="34" charset="-120"/>
              </a:rPr>
              <a:t>Verbosity Bias</a:t>
            </a:r>
            <a:endParaRPr lang="en-US" sz="1950" dirty="0"/>
          </a:p>
        </p:txBody>
      </p:sp>
      <p:sp>
        <p:nvSpPr>
          <p:cNvPr id="32" name="Shape 24"/>
          <p:cNvSpPr/>
          <p:nvPr/>
        </p:nvSpPr>
        <p:spPr>
          <a:xfrm>
            <a:off x="10172700" y="6111803"/>
            <a:ext cx="2781300" cy="950985"/>
          </a:xfrm>
          <a:prstGeom prst="roundRect">
            <a:avLst>
              <a:gd name="adj" fmla="val 14022"/>
            </a:avLst>
          </a:prstGeom>
          <a:ln w="6927">
            <a:solidFill>
              <a:srgbClr val="414750"/>
            </a:solidFill>
            <a:prstDash val="solid"/>
          </a:ln>
        </p:spPr>
      </p:sp>
      <p:pic>
        <p:nvPicPr>
          <p:cNvPr id="3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370127" y="6396796"/>
            <a:ext cx="381000" cy="381000"/>
          </a:xfrm>
          <a:prstGeom prst="rect">
            <a:avLst/>
          </a:prstGeom>
        </p:spPr>
      </p:pic>
      <p:sp>
        <p:nvSpPr>
          <p:cNvPr id="34" name="Text 25"/>
          <p:cNvSpPr/>
          <p:nvPr/>
        </p:nvSpPr>
        <p:spPr>
          <a:xfrm>
            <a:off x="10903527" y="6290181"/>
            <a:ext cx="1929245" cy="632330"/>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FFFFFF"/>
                </a:solidFill>
                <a:latin typeface="Inter" pitchFamily="34" charset="0"/>
                <a:ea typeface="Inter" pitchFamily="34" charset="-122"/>
                <a:cs typeface="Inter" pitchFamily="34" charset="-120"/>
              </a:rPr>
              <a:t>Limited Expert Agreement</a:t>
            </a:r>
            <a:endParaRPr lang="en-US" sz="1950" dirty="0"/>
          </a:p>
        </p:txBody>
      </p:sp>
      <p:sp>
        <p:nvSpPr>
          <p:cNvPr id="35" name="Shape 26"/>
          <p:cNvSpPr/>
          <p:nvPr/>
        </p:nvSpPr>
        <p:spPr>
          <a:xfrm>
            <a:off x="7258050" y="7367587"/>
            <a:ext cx="4883078" cy="471055"/>
          </a:xfrm>
          <a:prstGeom prst="roundRect">
            <a:avLst>
              <a:gd name="adj" fmla="val 50000"/>
            </a:avLst>
          </a:prstGeom>
          <a:ln w="6927">
            <a:solidFill>
              <a:srgbClr val="6B7380"/>
            </a:solidFill>
            <a:prstDash val="dash"/>
          </a:ln>
        </p:spPr>
      </p:sp>
      <p:sp>
        <p:nvSpPr>
          <p:cNvPr id="36" name="Text 27"/>
          <p:cNvSpPr/>
          <p:nvPr/>
        </p:nvSpPr>
        <p:spPr>
          <a:xfrm>
            <a:off x="7436427" y="7450715"/>
            <a:ext cx="46728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 Correlated Errors Across Models</a:t>
            </a:r>
            <a:endParaRPr lang="en-US" sz="1800" dirty="0"/>
          </a:p>
        </p:txBody>
      </p:sp>
      <p:sp>
        <p:nvSpPr>
          <p:cNvPr id="37" name="Shape 28"/>
          <p:cNvSpPr/>
          <p:nvPr/>
        </p:nvSpPr>
        <p:spPr>
          <a:xfrm>
            <a:off x="12192000" y="6096000"/>
            <a:ext cx="6667500" cy="6667500"/>
          </a:xfrm>
          <a:prstGeom prst="ellipse">
            <a:avLst/>
          </a:prstGeom>
          <a:gradFill rotWithShape="1">
            <a:gsLst>
              <a:gs pos="0">
                <a:srgbClr val="FFFFFF">
                  <a:alpha val="12000"/>
                </a:srgbClr>
              </a:gs>
              <a:gs pos="100000">
                <a:srgbClr val="FFFFFF">
                  <a:alpha val="0"/>
                </a:srgbClr>
              </a:gs>
            </a:gsLst>
            <a:path path="circle">
              <a:fillToRect l="50000" t="50000" r="50000" b="50000"/>
            </a:path>
          </a:gradFill>
          <a:ln/>
        </p:spPr>
      </p:sp>
      <p:sp>
        <p:nvSpPr>
          <p:cNvPr id="38" name="Shape 29"/>
          <p:cNvSpPr/>
          <p:nvPr/>
        </p:nvSpPr>
        <p:spPr>
          <a:xfrm>
            <a:off x="13525500" y="5286375"/>
            <a:ext cx="4000500" cy="1095375"/>
          </a:xfrm>
          <a:prstGeom prst="roundRect">
            <a:avLst>
              <a:gd name="adj" fmla="val 27826"/>
            </a:avLst>
          </a:prstGeom>
          <a:solidFill>
            <a:srgbClr val="FFFFFF"/>
          </a:solidFill>
          <a:ln/>
        </p:spPr>
      </p:sp>
      <p:sp>
        <p:nvSpPr>
          <p:cNvPr id="39" name="Text 30"/>
          <p:cNvSpPr/>
          <p:nvPr/>
        </p:nvSpPr>
        <p:spPr>
          <a:xfrm>
            <a:off x="13811250" y="5476875"/>
            <a:ext cx="2592100" cy="741651"/>
          </a:xfrm>
          <a:prstGeom prst="rect">
            <a:avLst/>
          </a:prstGeom>
          <a:noFill/>
          <a:ln/>
        </p:spPr>
        <p:txBody>
          <a:bodyPr wrap="square" lIns="0" tIns="0" rIns="0" bIns="0" rtlCol="0" anchor="t">
            <a:normAutofit/>
          </a:bodyPr>
          <a:lstStyle/>
          <a:p>
            <a:pPr algn="l" indent="0" marL="0">
              <a:lnSpc>
                <a:spcPct val="103125"/>
              </a:lnSpc>
              <a:buNone/>
            </a:pPr>
            <a:r>
              <a:rPr lang="en-US" sz="2250" dirty="0">
                <a:solidFill>
                  <a:srgbClr val="16191F"/>
                </a:solidFill>
                <a:latin typeface="Inter" pitchFamily="34" charset="0"/>
                <a:ea typeface="Inter" pitchFamily="34" charset="-122"/>
                <a:cs typeface="Inter" pitchFamily="34" charset="-120"/>
              </a:rPr>
              <a:t>Why not just use a bigger model?</a:t>
            </a:r>
            <a:endParaRPr lang="en-US" sz="2250" dirty="0"/>
          </a:p>
        </p:txBody>
      </p:sp>
      <p:sp>
        <p:nvSpPr>
          <p:cNvPr id="40" name="Shape 31"/>
          <p:cNvSpPr/>
          <p:nvPr/>
        </p:nvSpPr>
        <p:spPr>
          <a:xfrm>
            <a:off x="15925800" y="6457950"/>
            <a:ext cx="171450" cy="171450"/>
          </a:xfrm>
          <a:prstGeom prst="ellipse">
            <a:avLst/>
          </a:prstGeom>
          <a:solidFill>
            <a:srgbClr val="FFFFFF"/>
          </a:solidFill>
          <a:ln/>
        </p:spPr>
      </p:sp>
      <p:sp>
        <p:nvSpPr>
          <p:cNvPr id="41" name="Shape 32"/>
          <p:cNvSpPr/>
          <p:nvPr/>
        </p:nvSpPr>
        <p:spPr>
          <a:xfrm>
            <a:off x="16135350" y="6724650"/>
            <a:ext cx="95250" cy="95250"/>
          </a:xfrm>
          <a:prstGeom prst="ellipse">
            <a:avLst/>
          </a:prstGeom>
          <a:solidFill>
            <a:srgbClr val="FFFFFF"/>
          </a:solidFill>
          <a:ln/>
        </p:spPr>
      </p:sp>
      <p:pic>
        <p:nvPicPr>
          <p:cNvPr id="42" name="Image 7" descr="preencoded.png">    </p:cNvPr>
          <p:cNvPicPr>
            <a:picLocks noChangeAspect="1"/>
          </p:cNvPicPr>
          <p:nvPr/>
        </p:nvPicPr>
        <p:blipFill>
          <a:blip r:embed="rId15"/>
          <a:stretch>
            <a:fillRect/>
          </a:stretch>
        </p:blipFill>
        <p:spPr>
          <a:xfrm>
            <a:off x="13845886" y="6858000"/>
            <a:ext cx="3584864" cy="342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91F"/>
        </a:solidFill>
      </p:bgPr>
    </p:bg>
    <p:spTree>
      <p:nvGrpSpPr>
        <p:cNvPr id="1" name=""/>
        <p:cNvGrpSpPr/>
        <p:nvPr/>
      </p:nvGrpSpPr>
      <p:grpSpPr>
        <a:xfrm>
          <a:off x="0" y="0"/>
          <a:ext cx="0" cy="0"/>
          <a:chOff x="0" y="0"/>
          <a:chExt cx="0" cy="0"/>
        </a:xfrm>
      </p:grpSpPr>
      <p:sp>
        <p:nvSpPr>
          <p:cNvPr id="2" name="Text 0"/>
          <p:cNvSpPr/>
          <p:nvPr/>
        </p:nvSpPr>
        <p:spPr>
          <a:xfrm>
            <a:off x="952500"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II</a:t>
            </a:r>
            <a:endParaRPr lang="en-US" sz="1800" dirty="0"/>
          </a:p>
        </p:txBody>
      </p:sp>
      <p:sp>
        <p:nvSpPr>
          <p:cNvPr id="3" name="Text 1"/>
          <p:cNvSpPr/>
          <p:nvPr/>
        </p:nvSpPr>
        <p:spPr>
          <a:xfrm>
            <a:off x="1434920" y="533400"/>
            <a:ext cx="1368028"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THE TURN</a:t>
            </a:r>
            <a:endParaRPr lang="en-US" sz="1800" dirty="0"/>
          </a:p>
        </p:txBody>
      </p:sp>
      <p:sp>
        <p:nvSpPr>
          <p:cNvPr id="4" name="Shape 2"/>
          <p:cNvSpPr/>
          <p:nvPr/>
        </p:nvSpPr>
        <p:spPr>
          <a:xfrm>
            <a:off x="15271931" y="666750"/>
            <a:ext cx="457200" cy="38100"/>
          </a:xfrm>
          <a:prstGeom prst="rect">
            <a:avLst/>
          </a:prstGeom>
          <a:solidFill>
            <a:srgbClr val="99A1AE"/>
          </a:solidFill>
          <a:ln/>
        </p:spPr>
      </p:sp>
      <p:sp>
        <p:nvSpPr>
          <p:cNvPr id="5" name="Shape 3"/>
          <p:cNvSpPr/>
          <p:nvPr/>
        </p:nvSpPr>
        <p:spPr>
          <a:xfrm>
            <a:off x="15805331" y="666750"/>
            <a:ext cx="457200" cy="38100"/>
          </a:xfrm>
          <a:prstGeom prst="rect">
            <a:avLst/>
          </a:prstGeom>
          <a:solidFill>
            <a:srgbClr val="FFFFFF"/>
          </a:solidFill>
          <a:ln/>
        </p:spPr>
      </p:sp>
      <p:sp>
        <p:nvSpPr>
          <p:cNvPr id="6" name="Shape 4"/>
          <p:cNvSpPr/>
          <p:nvPr/>
        </p:nvSpPr>
        <p:spPr>
          <a:xfrm>
            <a:off x="16338731" y="666750"/>
            <a:ext cx="457200" cy="38100"/>
          </a:xfrm>
          <a:prstGeom prst="rect">
            <a:avLst/>
          </a:prstGeom>
          <a:solidFill>
            <a:srgbClr val="414750"/>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07</a:t>
            </a:r>
            <a:endParaRPr lang="en-US" sz="1800" dirty="0"/>
          </a:p>
        </p:txBody>
      </p:sp>
      <p:sp>
        <p:nvSpPr>
          <p:cNvPr id="8" name="Text 6"/>
          <p:cNvSpPr/>
          <p:nvPr/>
        </p:nvSpPr>
        <p:spPr>
          <a:xfrm>
            <a:off x="952500" y="1333500"/>
            <a:ext cx="15276076"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FFFFFF"/>
                </a:solidFill>
                <a:latin typeface="Inter" pitchFamily="34" charset="0"/>
                <a:ea typeface="Inter" pitchFamily="34" charset="-122"/>
                <a:cs typeface="Inter" pitchFamily="34" charset="-120"/>
              </a:rPr>
              <a:t>PlotTwist externalizes structure instead of scaling</a:t>
            </a:r>
            <a:endParaRPr lang="en-US" sz="4800" dirty="0"/>
          </a:p>
        </p:txBody>
      </p:sp>
      <p:sp>
        <p:nvSpPr>
          <p:cNvPr id="9" name="Shape 7"/>
          <p:cNvSpPr/>
          <p:nvPr/>
        </p:nvSpPr>
        <p:spPr>
          <a:xfrm>
            <a:off x="952500" y="3048000"/>
            <a:ext cx="3810000" cy="3524250"/>
          </a:xfrm>
          <a:prstGeom prst="roundRect">
            <a:avLst>
              <a:gd name="adj" fmla="val 5405"/>
            </a:avLst>
          </a:prstGeom>
          <a:solidFill>
            <a:srgbClr val="22262E"/>
          </a:solidFill>
          <a:ln w="6927">
            <a:solidFill>
              <a:srgbClr val="414750"/>
            </a:solidFill>
            <a:prstDash val="solid"/>
          </a:ln>
        </p:spPr>
      </p:sp>
      <p:sp>
        <p:nvSpPr>
          <p:cNvPr id="10" name="Text 8"/>
          <p:cNvSpPr/>
          <p:nvPr/>
        </p:nvSpPr>
        <p:spPr>
          <a:xfrm>
            <a:off x="1340427" y="3435927"/>
            <a:ext cx="333756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BEFORE</a:t>
            </a:r>
            <a:endParaRPr lang="en-US" sz="1800" dirty="0"/>
          </a:p>
        </p:txBody>
      </p:sp>
      <p:pic>
        <p:nvPicPr>
          <p:cNvPr id="11" name="Image 0" descr="preencoded.png">    </p:cNvPr>
          <p:cNvPicPr>
            <a:picLocks noChangeAspect="1"/>
          </p:cNvPicPr>
          <p:nvPr/>
        </p:nvPicPr>
        <p:blipFill>
          <a:blip r:embed="rId1">
            <a:alphaModFix amt="45000"/>
            <a:extLst>
              <a:ext uri="{96DAC541-7B7A-43D3-8B79-37D633B846F1}">
                <asvg:svgBlip xmlns:asvg="http://schemas.microsoft.com/office/drawing/2016/SVG/main" r:embed="rId2"/>
              </a:ext>
            </a:extLst>
          </a:blip>
          <a:stretch>
            <a:fillRect/>
          </a:stretch>
        </p:blipFill>
        <p:spPr>
          <a:xfrm>
            <a:off x="1340427" y="3980584"/>
            <a:ext cx="419100" cy="419100"/>
          </a:xfrm>
          <a:prstGeom prst="rect">
            <a:avLst/>
          </a:prstGeom>
        </p:spPr>
      </p:pic>
      <p:pic>
        <p:nvPicPr>
          <p:cNvPr id="12" name="Image 1" descr="preencoded.png">    </p:cNvPr>
          <p:cNvPicPr>
            <a:picLocks noChangeAspect="1"/>
          </p:cNvPicPr>
          <p:nvPr/>
        </p:nvPicPr>
        <p:blipFill>
          <a:blip r:embed="rId3">
            <a:alphaModFix amt="45000"/>
            <a:extLst>
              <a:ext uri="{96DAC541-7B7A-43D3-8B79-37D633B846F1}">
                <asvg:svgBlip xmlns:asvg="http://schemas.microsoft.com/office/drawing/2016/SVG/main" r:embed="rId4"/>
              </a:ext>
            </a:extLst>
          </a:blip>
          <a:stretch>
            <a:fillRect/>
          </a:stretch>
        </p:blipFill>
        <p:spPr>
          <a:xfrm>
            <a:off x="1892877" y="3980584"/>
            <a:ext cx="419100" cy="419100"/>
          </a:xfrm>
          <a:prstGeom prst="rect">
            <a:avLst/>
          </a:prstGeom>
        </p:spPr>
      </p:pic>
      <p:pic>
        <p:nvPicPr>
          <p:cNvPr id="13" name="Image 2" descr="preencoded.png">    </p:cNvPr>
          <p:cNvPicPr>
            <a:picLocks noChangeAspect="1"/>
          </p:cNvPicPr>
          <p:nvPr/>
        </p:nvPicPr>
        <p:blipFill>
          <a:blip r:embed="rId5">
            <a:alphaModFix amt="45000"/>
            <a:extLst>
              <a:ext uri="{96DAC541-7B7A-43D3-8B79-37D633B846F1}">
                <asvg:svgBlip xmlns:asvg="http://schemas.microsoft.com/office/drawing/2016/SVG/main" r:embed="rId6"/>
              </a:ext>
            </a:extLst>
          </a:blip>
          <a:stretch>
            <a:fillRect/>
          </a:stretch>
        </p:blipFill>
        <p:spPr>
          <a:xfrm>
            <a:off x="2445327" y="3980584"/>
            <a:ext cx="419100" cy="419100"/>
          </a:xfrm>
          <a:prstGeom prst="rect">
            <a:avLst/>
          </a:prstGeom>
        </p:spPr>
      </p:pic>
      <p:pic>
        <p:nvPicPr>
          <p:cNvPr id="14" name="Image 3" descr="preencoded.png">    </p:cNvPr>
          <p:cNvPicPr>
            <a:picLocks noChangeAspect="1"/>
          </p:cNvPicPr>
          <p:nvPr/>
        </p:nvPicPr>
        <p:blipFill>
          <a:blip r:embed="rId7">
            <a:alphaModFix amt="45000"/>
            <a:extLst>
              <a:ext uri="{96DAC541-7B7A-43D3-8B79-37D633B846F1}">
                <asvg:svgBlip xmlns:asvg="http://schemas.microsoft.com/office/drawing/2016/SVG/main" r:embed="rId8"/>
              </a:ext>
            </a:extLst>
          </a:blip>
          <a:stretch>
            <a:fillRect/>
          </a:stretch>
        </p:blipFill>
        <p:spPr>
          <a:xfrm>
            <a:off x="2997777" y="3980584"/>
            <a:ext cx="419100" cy="419100"/>
          </a:xfrm>
          <a:prstGeom prst="rect">
            <a:avLst/>
          </a:prstGeom>
        </p:spPr>
      </p:pic>
      <p:pic>
        <p:nvPicPr>
          <p:cNvPr id="15" name="Image 4" descr="preencoded.png">    </p:cNvPr>
          <p:cNvPicPr>
            <a:picLocks noChangeAspect="1"/>
          </p:cNvPicPr>
          <p:nvPr/>
        </p:nvPicPr>
        <p:blipFill>
          <a:blip r:embed="rId9">
            <a:alphaModFix amt="45000"/>
            <a:extLst>
              <a:ext uri="{96DAC541-7B7A-43D3-8B79-37D633B846F1}">
                <asvg:svgBlip xmlns:asvg="http://schemas.microsoft.com/office/drawing/2016/SVG/main" r:embed="rId10"/>
              </a:ext>
            </a:extLst>
          </a:blip>
          <a:stretch>
            <a:fillRect/>
          </a:stretch>
        </p:blipFill>
        <p:spPr>
          <a:xfrm>
            <a:off x="3550227" y="3980584"/>
            <a:ext cx="419100" cy="419100"/>
          </a:xfrm>
          <a:prstGeom prst="rect">
            <a:avLst/>
          </a:prstGeom>
        </p:spPr>
      </p:pic>
      <p:sp>
        <p:nvSpPr>
          <p:cNvPr id="16" name="Text 9"/>
          <p:cNvSpPr/>
          <p:nvPr/>
        </p:nvSpPr>
        <p:spPr>
          <a:xfrm>
            <a:off x="1340427" y="4639541"/>
            <a:ext cx="3125170" cy="869373"/>
          </a:xfrm>
          <a:prstGeom prst="rect">
            <a:avLst/>
          </a:prstGeom>
          <a:noFill/>
          <a:ln/>
        </p:spPr>
        <p:txBody>
          <a:bodyPr wrap="square" lIns="25400" tIns="25400" rIns="25400" bIns="25400" rtlCol="0" anchor="t">
            <a:normAutofit/>
          </a:bodyPr>
          <a:lstStyle/>
          <a:p>
            <a:pPr algn="l" indent="0" marL="0">
              <a:buNone/>
            </a:pPr>
            <a:r>
              <a:rPr lang="en-US" sz="2700" b="1" spc="-40" kern="0" dirty="0">
                <a:solidFill>
                  <a:srgbClr val="FFFFFF"/>
                </a:solidFill>
                <a:latin typeface="Inter" pitchFamily="34" charset="0"/>
                <a:ea typeface="Inter" pitchFamily="34" charset="-122"/>
                <a:cs typeface="Inter" pitchFamily="34" charset="-120"/>
              </a:rPr>
              <a:t>One Monolithic LLM</a:t>
            </a:r>
            <a:endParaRPr lang="en-US" sz="2700" dirty="0"/>
          </a:p>
        </p:txBody>
      </p:sp>
      <p:sp>
        <p:nvSpPr>
          <p:cNvPr id="17" name="Text 10"/>
          <p:cNvSpPr/>
          <p:nvPr/>
        </p:nvSpPr>
        <p:spPr>
          <a:xfrm>
            <a:off x="1340427" y="5547014"/>
            <a:ext cx="3125170" cy="675409"/>
          </a:xfrm>
          <a:prstGeom prst="rect">
            <a:avLst/>
          </a:prstGeom>
          <a:noFill/>
          <a:ln/>
        </p:spPr>
        <p:txBody>
          <a:bodyPr wrap="square" lIns="25400" tIns="25400" rIns="25400" bIns="25400" rtlCol="0" anchor="t">
            <a:normAutofit/>
          </a:bodyPr>
          <a:lstStyle/>
          <a:p>
            <a:pPr algn="l" indent="0" marL="0">
              <a:buNone/>
            </a:pPr>
            <a:r>
              <a:rPr lang="en-US" sz="2100" dirty="0">
                <a:solidFill>
                  <a:srgbClr val="99A1AE"/>
                </a:solidFill>
                <a:latin typeface="Inter" pitchFamily="34" charset="0"/>
                <a:ea typeface="Inter" pitchFamily="34" charset="-122"/>
                <a:cs typeface="Inter" pitchFamily="34" charset="-120"/>
              </a:rPr>
              <a:t>Quality Learned Implicitly</a:t>
            </a:r>
            <a:endParaRPr lang="en-US" sz="2100" dirty="0"/>
          </a:p>
        </p:txBody>
      </p:sp>
      <p:sp>
        <p:nvSpPr>
          <p:cNvPr id="18" name="Text 11"/>
          <p:cNvSpPr/>
          <p:nvPr/>
        </p:nvSpPr>
        <p:spPr>
          <a:xfrm>
            <a:off x="5341577" y="4572000"/>
            <a:ext cx="165973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EXTERNALIZE</a:t>
            </a:r>
            <a:endParaRPr lang="en-US" sz="1800" dirty="0"/>
          </a:p>
        </p:txBody>
      </p:sp>
      <p:sp>
        <p:nvSpPr>
          <p:cNvPr id="19" name="Shape 12"/>
          <p:cNvSpPr/>
          <p:nvPr/>
        </p:nvSpPr>
        <p:spPr>
          <a:xfrm>
            <a:off x="5048250" y="4972050"/>
            <a:ext cx="2095500" cy="13855"/>
          </a:xfrm>
          <a:prstGeom prst="rect">
            <a:avLst/>
          </a:prstGeom>
          <a:solidFill>
            <a:srgbClr val="FFFFFF"/>
          </a:solidFill>
          <a:ln/>
        </p:spPr>
      </p:sp>
      <p:sp>
        <p:nvSpPr>
          <p:cNvPr id="20" name="Shape 13"/>
          <p:cNvSpPr/>
          <p:nvPr/>
        </p:nvSpPr>
        <p:spPr>
          <a:xfrm>
            <a:off x="7050232" y="4900180"/>
            <a:ext cx="131618" cy="152400"/>
          </a:xfrm>
          <a:prstGeom prst="rect">
            <a:avLst/>
          </a:prstGeom>
          <a:solidFill>
            <a:srgbClr val="FFFFFF"/>
          </a:solidFill>
          <a:ln/>
        </p:spPr>
      </p:sp>
      <p:sp>
        <p:nvSpPr>
          <p:cNvPr id="21" name="Shape 14"/>
          <p:cNvSpPr/>
          <p:nvPr/>
        </p:nvSpPr>
        <p:spPr>
          <a:xfrm>
            <a:off x="7429500" y="3048000"/>
            <a:ext cx="5334000" cy="1028700"/>
          </a:xfrm>
          <a:prstGeom prst="roundRect">
            <a:avLst>
              <a:gd name="adj" fmla="val 14815"/>
            </a:avLst>
          </a:prstGeom>
          <a:solidFill>
            <a:srgbClr val="7C4DFF">
              <a:alpha val="14000"/>
            </a:srgbClr>
          </a:solidFill>
          <a:ln w="13855">
            <a:solidFill>
              <a:srgbClr val="7C4DFF"/>
            </a:solidFill>
            <a:prstDash val="solid"/>
          </a:ln>
        </p:spPr>
      </p:sp>
      <p:pic>
        <p:nvPicPr>
          <p:cNvPr id="2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10055" y="3333750"/>
            <a:ext cx="457200" cy="457200"/>
          </a:xfrm>
          <a:prstGeom prst="rect">
            <a:avLst/>
          </a:prstGeom>
        </p:spPr>
      </p:pic>
      <p:sp>
        <p:nvSpPr>
          <p:cNvPr id="23" name="Text 15"/>
          <p:cNvSpPr/>
          <p:nvPr/>
        </p:nvSpPr>
        <p:spPr>
          <a:xfrm>
            <a:off x="8376805" y="3375314"/>
            <a:ext cx="2023110" cy="412173"/>
          </a:xfrm>
          <a:prstGeom prst="rect">
            <a:avLst/>
          </a:prstGeom>
          <a:noFill/>
          <a:ln/>
        </p:spPr>
        <p:txBody>
          <a:bodyPr wrap="square" lIns="25400" tIns="25400" rIns="25400" bIns="25400" rtlCol="0" anchor="t">
            <a:normAutofit/>
          </a:bodyPr>
          <a:lstStyle/>
          <a:p>
            <a:pPr algn="l" indent="0" marL="0">
              <a:buNone/>
            </a:pPr>
            <a:r>
              <a:rPr lang="en-US" sz="2400" b="1" spc="-24" kern="0" dirty="0">
                <a:solidFill>
                  <a:srgbClr val="FFFFFF"/>
                </a:solidFill>
                <a:latin typeface="Inter" pitchFamily="34" charset="0"/>
                <a:ea typeface="Inter" pitchFamily="34" charset="-122"/>
                <a:cs typeface="Inter" pitchFamily="34" charset="-120"/>
              </a:rPr>
              <a:t>Reward</a:t>
            </a:r>
            <a:endParaRPr lang="en-US" sz="2400" dirty="0"/>
          </a:p>
        </p:txBody>
      </p:sp>
      <p:sp>
        <p:nvSpPr>
          <p:cNvPr id="24" name="Text 16"/>
          <p:cNvSpPr/>
          <p:nvPr/>
        </p:nvSpPr>
        <p:spPr>
          <a:xfrm>
            <a:off x="10425546" y="3409950"/>
            <a:ext cx="22631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Explicit Signal</a:t>
            </a:r>
            <a:endParaRPr lang="en-US" sz="1800" dirty="0"/>
          </a:p>
        </p:txBody>
      </p:sp>
      <p:sp>
        <p:nvSpPr>
          <p:cNvPr id="25" name="Shape 17"/>
          <p:cNvSpPr/>
          <p:nvPr/>
        </p:nvSpPr>
        <p:spPr>
          <a:xfrm>
            <a:off x="7429500" y="4295775"/>
            <a:ext cx="5334000" cy="1028700"/>
          </a:xfrm>
          <a:prstGeom prst="roundRect">
            <a:avLst>
              <a:gd name="adj" fmla="val 14815"/>
            </a:avLst>
          </a:prstGeom>
          <a:solidFill>
            <a:srgbClr val="1E88E5">
              <a:alpha val="14000"/>
            </a:srgbClr>
          </a:solidFill>
          <a:ln w="13855">
            <a:solidFill>
              <a:srgbClr val="1E88E5"/>
            </a:solidFill>
            <a:prstDash val="solid"/>
          </a:ln>
        </p:spPr>
      </p:sp>
      <p:pic>
        <p:nvPicPr>
          <p:cNvPr id="2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10055" y="4581525"/>
            <a:ext cx="457200" cy="457200"/>
          </a:xfrm>
          <a:prstGeom prst="rect">
            <a:avLst/>
          </a:prstGeom>
        </p:spPr>
      </p:pic>
      <p:sp>
        <p:nvSpPr>
          <p:cNvPr id="27" name="Text 18"/>
          <p:cNvSpPr/>
          <p:nvPr/>
        </p:nvSpPr>
        <p:spPr>
          <a:xfrm>
            <a:off x="8376805" y="4623089"/>
            <a:ext cx="2928342" cy="412173"/>
          </a:xfrm>
          <a:prstGeom prst="rect">
            <a:avLst/>
          </a:prstGeom>
          <a:noFill/>
          <a:ln/>
        </p:spPr>
        <p:txBody>
          <a:bodyPr wrap="square" lIns="25400" tIns="25400" rIns="25400" bIns="25400" rtlCol="0" anchor="t">
            <a:normAutofit/>
          </a:bodyPr>
          <a:lstStyle/>
          <a:p>
            <a:pPr algn="l" indent="0" marL="0">
              <a:buNone/>
            </a:pPr>
            <a:r>
              <a:rPr lang="en-US" sz="2400" b="1" spc="-24" kern="0" dirty="0">
                <a:solidFill>
                  <a:srgbClr val="FFFFFF"/>
                </a:solidFill>
                <a:latin typeface="Inter" pitchFamily="34" charset="0"/>
                <a:ea typeface="Inter" pitchFamily="34" charset="-122"/>
                <a:cs typeface="Inter" pitchFamily="34" charset="-120"/>
              </a:rPr>
              <a:t>Generator</a:t>
            </a:r>
            <a:endParaRPr lang="en-US" sz="2400" dirty="0"/>
          </a:p>
        </p:txBody>
      </p:sp>
      <p:sp>
        <p:nvSpPr>
          <p:cNvPr id="28" name="Text 19"/>
          <p:cNvSpPr/>
          <p:nvPr/>
        </p:nvSpPr>
        <p:spPr>
          <a:xfrm>
            <a:off x="11248484" y="4657725"/>
            <a:ext cx="13579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3B Active</a:t>
            </a:r>
            <a:endParaRPr lang="en-US" sz="1800" dirty="0"/>
          </a:p>
        </p:txBody>
      </p:sp>
      <p:sp>
        <p:nvSpPr>
          <p:cNvPr id="29" name="Shape 20"/>
          <p:cNvSpPr/>
          <p:nvPr/>
        </p:nvSpPr>
        <p:spPr>
          <a:xfrm>
            <a:off x="7429500" y="5543550"/>
            <a:ext cx="5334000" cy="1028700"/>
          </a:xfrm>
          <a:prstGeom prst="roundRect">
            <a:avLst>
              <a:gd name="adj" fmla="val 14815"/>
            </a:avLst>
          </a:prstGeom>
          <a:solidFill>
            <a:srgbClr val="0F9D58">
              <a:alpha val="14000"/>
            </a:srgbClr>
          </a:solidFill>
          <a:ln w="13855">
            <a:solidFill>
              <a:srgbClr val="0F9D58"/>
            </a:solidFill>
            <a:prstDash val="solid"/>
          </a:ln>
        </p:spPr>
      </p:sp>
      <p:pic>
        <p:nvPicPr>
          <p:cNvPr id="30"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10055" y="5829300"/>
            <a:ext cx="457200" cy="457200"/>
          </a:xfrm>
          <a:prstGeom prst="rect">
            <a:avLst/>
          </a:prstGeom>
        </p:spPr>
      </p:pic>
      <p:sp>
        <p:nvSpPr>
          <p:cNvPr id="31" name="Text 21"/>
          <p:cNvSpPr/>
          <p:nvPr/>
        </p:nvSpPr>
        <p:spPr>
          <a:xfrm>
            <a:off x="8376805" y="5870864"/>
            <a:ext cx="2626519" cy="412173"/>
          </a:xfrm>
          <a:prstGeom prst="rect">
            <a:avLst/>
          </a:prstGeom>
          <a:noFill/>
          <a:ln/>
        </p:spPr>
        <p:txBody>
          <a:bodyPr wrap="square" lIns="25400" tIns="25400" rIns="25400" bIns="25400" rtlCol="0" anchor="t">
            <a:normAutofit/>
          </a:bodyPr>
          <a:lstStyle/>
          <a:p>
            <a:pPr algn="l" indent="0" marL="0">
              <a:buNone/>
            </a:pPr>
            <a:r>
              <a:rPr lang="en-US" sz="2400" b="1" spc="-24" kern="0" dirty="0">
                <a:solidFill>
                  <a:srgbClr val="FFFFFF"/>
                </a:solidFill>
                <a:latin typeface="Inter" pitchFamily="34" charset="0"/>
                <a:ea typeface="Inter" pitchFamily="34" charset="-122"/>
                <a:cs typeface="Inter" pitchFamily="34" charset="-120"/>
              </a:rPr>
              <a:t>Jury</a:t>
            </a:r>
            <a:endParaRPr lang="en-US" sz="2400" dirty="0"/>
          </a:p>
        </p:txBody>
      </p:sp>
      <p:sp>
        <p:nvSpPr>
          <p:cNvPr id="32" name="Text 22"/>
          <p:cNvSpPr/>
          <p:nvPr/>
        </p:nvSpPr>
        <p:spPr>
          <a:xfrm>
            <a:off x="10974099" y="5905500"/>
            <a:ext cx="165973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Independent</a:t>
            </a:r>
            <a:endParaRPr lang="en-US" sz="1800" dirty="0"/>
          </a:p>
        </p:txBody>
      </p:sp>
      <p:sp>
        <p:nvSpPr>
          <p:cNvPr id="33" name="Shape 23"/>
          <p:cNvSpPr/>
          <p:nvPr/>
        </p:nvSpPr>
        <p:spPr>
          <a:xfrm>
            <a:off x="952500" y="7524750"/>
            <a:ext cx="11811000" cy="9525"/>
          </a:xfrm>
          <a:prstGeom prst="rect">
            <a:avLst/>
          </a:prstGeom>
          <a:solidFill>
            <a:srgbClr val="414750"/>
          </a:solidFill>
          <a:ln/>
        </p:spPr>
      </p:sp>
      <p:sp>
        <p:nvSpPr>
          <p:cNvPr id="34" name="Text 24"/>
          <p:cNvSpPr/>
          <p:nvPr/>
        </p:nvSpPr>
        <p:spPr>
          <a:xfrm>
            <a:off x="952500" y="7836477"/>
            <a:ext cx="12992100"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99A1AE"/>
                </a:solidFill>
                <a:latin typeface="JetBrains Mono" pitchFamily="34" charset="0"/>
                <a:ea typeface="JetBrains Mono" pitchFamily="34" charset="-122"/>
                <a:cs typeface="JetBrains Mono" pitchFamily="34" charset="-120"/>
              </a:rPr>
              <a:t>RESEARCH QUESTION</a:t>
            </a:r>
            <a:endParaRPr lang="en-US" sz="1800" dirty="0"/>
          </a:p>
        </p:txBody>
      </p:sp>
      <p:sp>
        <p:nvSpPr>
          <p:cNvPr id="35" name="Text 25"/>
          <p:cNvSpPr/>
          <p:nvPr/>
        </p:nvSpPr>
        <p:spPr>
          <a:xfrm>
            <a:off x="952500" y="8293677"/>
            <a:ext cx="12992100" cy="540977"/>
          </a:xfrm>
          <a:prstGeom prst="rect">
            <a:avLst/>
          </a:prstGeom>
          <a:noFill/>
          <a:ln/>
        </p:spPr>
        <p:txBody>
          <a:bodyPr wrap="square" lIns="25400" tIns="25400" rIns="25400" bIns="25400" rtlCol="0" anchor="t">
            <a:normAutofit/>
          </a:bodyPr>
          <a:lstStyle/>
          <a:p>
            <a:pPr algn="l" indent="0" marL="0">
              <a:lnSpc>
                <a:spcPct val="98108"/>
              </a:lnSpc>
              <a:buNone/>
            </a:pPr>
            <a:r>
              <a:rPr lang="en-US" sz="3300" spc="-49" kern="0" dirty="0">
                <a:solidFill>
                  <a:srgbClr val="FFFFFF"/>
                </a:solidFill>
                <a:latin typeface="Inter" pitchFamily="34" charset="0"/>
                <a:ea typeface="Inter" pitchFamily="34" charset="-122"/>
                <a:cs typeface="Inter" pitchFamily="34" charset="-120"/>
              </a:rPr>
              <a:t>Can ≤ 3B-active SLMs match frontier LLMs?</a:t>
            </a:r>
            <a:endParaRPr lang="en-US" sz="3300" dirty="0"/>
          </a:p>
        </p:txBody>
      </p:sp>
      <p:sp>
        <p:nvSpPr>
          <p:cNvPr id="36" name="Shape 26"/>
          <p:cNvSpPr/>
          <p:nvPr/>
        </p:nvSpPr>
        <p:spPr>
          <a:xfrm>
            <a:off x="11430000" y="5334000"/>
            <a:ext cx="7620000" cy="7620000"/>
          </a:xfrm>
          <a:prstGeom prst="ellipse">
            <a:avLst/>
          </a:prstGeom>
          <a:gradFill rotWithShape="1">
            <a:gsLst>
              <a:gs pos="0">
                <a:srgbClr val="FFFFFF">
                  <a:alpha val="14000"/>
                </a:srgbClr>
              </a:gs>
              <a:gs pos="100000">
                <a:srgbClr val="FFFFFF">
                  <a:alpha val="0"/>
                </a:srgbClr>
              </a:gs>
            </a:gsLst>
            <a:path path="circle">
              <a:fillToRect l="50000" t="50000" r="50000" b="50000"/>
            </a:path>
          </a:gradFill>
          <a:ln/>
        </p:spPr>
      </p:sp>
      <p:pic>
        <p:nvPicPr>
          <p:cNvPr id="37" name="Image 8" descr="preencoded.png">    </p:cNvPr>
          <p:cNvPicPr>
            <a:picLocks noChangeAspect="1"/>
          </p:cNvPicPr>
          <p:nvPr/>
        </p:nvPicPr>
        <p:blipFill>
          <a:blip r:embed="rId17"/>
          <a:stretch>
            <a:fillRect/>
          </a:stretch>
        </p:blipFill>
        <p:spPr>
          <a:xfrm>
            <a:off x="13391609" y="6286500"/>
            <a:ext cx="3943891" cy="4000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91F"/>
        </a:solidFill>
      </p:bgPr>
    </p:bg>
    <p:spTree>
      <p:nvGrpSpPr>
        <p:cNvPr id="1" name=""/>
        <p:cNvGrpSpPr/>
        <p:nvPr/>
      </p:nvGrpSpPr>
      <p:grpSpPr>
        <a:xfrm>
          <a:off x="0" y="0"/>
          <a:ext cx="0" cy="0"/>
          <a:chOff x="0" y="0"/>
          <a:chExt cx="0" cy="0"/>
        </a:xfrm>
      </p:grpSpPr>
      <p:sp>
        <p:nvSpPr>
          <p:cNvPr id="2" name="Text 0"/>
          <p:cNvSpPr/>
          <p:nvPr/>
        </p:nvSpPr>
        <p:spPr>
          <a:xfrm>
            <a:off x="952500"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II</a:t>
            </a:r>
            <a:endParaRPr lang="en-US" sz="1800" dirty="0"/>
          </a:p>
        </p:txBody>
      </p:sp>
      <p:sp>
        <p:nvSpPr>
          <p:cNvPr id="3" name="Text 1"/>
          <p:cNvSpPr/>
          <p:nvPr/>
        </p:nvSpPr>
        <p:spPr>
          <a:xfrm>
            <a:off x="1434920" y="533400"/>
            <a:ext cx="1368028"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THE TURN</a:t>
            </a:r>
            <a:endParaRPr lang="en-US" sz="1800" dirty="0"/>
          </a:p>
        </p:txBody>
      </p:sp>
      <p:sp>
        <p:nvSpPr>
          <p:cNvPr id="4" name="Shape 2"/>
          <p:cNvSpPr/>
          <p:nvPr/>
        </p:nvSpPr>
        <p:spPr>
          <a:xfrm>
            <a:off x="15271931" y="666750"/>
            <a:ext cx="457200" cy="38100"/>
          </a:xfrm>
          <a:prstGeom prst="rect">
            <a:avLst/>
          </a:prstGeom>
          <a:solidFill>
            <a:srgbClr val="99A1AE"/>
          </a:solidFill>
          <a:ln/>
        </p:spPr>
      </p:sp>
      <p:sp>
        <p:nvSpPr>
          <p:cNvPr id="5" name="Shape 3"/>
          <p:cNvSpPr/>
          <p:nvPr/>
        </p:nvSpPr>
        <p:spPr>
          <a:xfrm>
            <a:off x="15805331" y="666750"/>
            <a:ext cx="457200" cy="38100"/>
          </a:xfrm>
          <a:prstGeom prst="rect">
            <a:avLst/>
          </a:prstGeom>
          <a:solidFill>
            <a:srgbClr val="FFFFFF"/>
          </a:solidFill>
          <a:ln/>
        </p:spPr>
      </p:sp>
      <p:sp>
        <p:nvSpPr>
          <p:cNvPr id="6" name="Shape 4"/>
          <p:cNvSpPr/>
          <p:nvPr/>
        </p:nvSpPr>
        <p:spPr>
          <a:xfrm>
            <a:off x="16338731" y="666750"/>
            <a:ext cx="457200" cy="38100"/>
          </a:xfrm>
          <a:prstGeom prst="rect">
            <a:avLst/>
          </a:prstGeom>
          <a:solidFill>
            <a:srgbClr val="414750"/>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08</a:t>
            </a:r>
            <a:endParaRPr lang="en-US" sz="1800" dirty="0"/>
          </a:p>
        </p:txBody>
      </p:sp>
      <p:sp>
        <p:nvSpPr>
          <p:cNvPr id="8" name="Text 6"/>
          <p:cNvSpPr/>
          <p:nvPr/>
        </p:nvSpPr>
        <p:spPr>
          <a:xfrm>
            <a:off x="952500" y="1333500"/>
            <a:ext cx="9511427"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FFFFFF"/>
                </a:solidFill>
                <a:latin typeface="Inter" pitchFamily="34" charset="0"/>
                <a:ea typeface="Inter" pitchFamily="34" charset="-122"/>
                <a:cs typeface="Inter" pitchFamily="34" charset="-120"/>
              </a:rPr>
              <a:t>Three modules divide the work</a:t>
            </a:r>
            <a:endParaRPr lang="en-US" sz="4800" dirty="0"/>
          </a:p>
        </p:txBody>
      </p:sp>
      <p:sp>
        <p:nvSpPr>
          <p:cNvPr id="9" name="Text 7"/>
          <p:cNvSpPr/>
          <p:nvPr/>
        </p:nvSpPr>
        <p:spPr>
          <a:xfrm>
            <a:off x="952500" y="2857500"/>
            <a:ext cx="1448514"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99A1AE"/>
                </a:solidFill>
                <a:latin typeface="JetBrains Mono" pitchFamily="34" charset="0"/>
                <a:ea typeface="JetBrains Mono" pitchFamily="34" charset="-122"/>
                <a:cs typeface="JetBrains Mono" pitchFamily="34" charset="-120"/>
              </a:rPr>
              <a:t>TRAINING</a:t>
            </a:r>
            <a:endParaRPr lang="en-US" sz="1800" dirty="0"/>
          </a:p>
        </p:txBody>
      </p:sp>
      <p:sp>
        <p:nvSpPr>
          <p:cNvPr id="10" name="Shape 8"/>
          <p:cNvSpPr/>
          <p:nvPr/>
        </p:nvSpPr>
        <p:spPr>
          <a:xfrm>
            <a:off x="2421731" y="3005138"/>
            <a:ext cx="8913019" cy="9525"/>
          </a:xfrm>
          <a:prstGeom prst="rect">
            <a:avLst/>
          </a:prstGeom>
          <a:solidFill>
            <a:srgbClr val="414750"/>
          </a:solidFill>
          <a:ln/>
        </p:spPr>
      </p:sp>
      <p:sp>
        <p:nvSpPr>
          <p:cNvPr id="11" name="Text 9"/>
          <p:cNvSpPr/>
          <p:nvPr/>
        </p:nvSpPr>
        <p:spPr>
          <a:xfrm>
            <a:off x="12954000" y="2857500"/>
            <a:ext cx="3440073"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99A1AE"/>
                </a:solidFill>
                <a:latin typeface="JetBrains Mono" pitchFamily="34" charset="0"/>
                <a:ea typeface="JetBrains Mono" pitchFamily="34" charset="-122"/>
                <a:cs typeface="JetBrains Mono" pitchFamily="34" charset="-120"/>
              </a:rPr>
              <a:t>POST-HOC EVALUATION</a:t>
            </a:r>
            <a:endParaRPr lang="en-US" sz="1800" dirty="0"/>
          </a:p>
        </p:txBody>
      </p:sp>
      <p:sp>
        <p:nvSpPr>
          <p:cNvPr id="12" name="Shape 10"/>
          <p:cNvSpPr/>
          <p:nvPr/>
        </p:nvSpPr>
        <p:spPr>
          <a:xfrm>
            <a:off x="16233739" y="3005138"/>
            <a:ext cx="1101761" cy="9525"/>
          </a:xfrm>
          <a:prstGeom prst="rect">
            <a:avLst/>
          </a:prstGeom>
          <a:solidFill>
            <a:srgbClr val="414750"/>
          </a:solidFill>
          <a:ln/>
        </p:spPr>
      </p:sp>
      <p:sp>
        <p:nvSpPr>
          <p:cNvPr id="13" name="Shape 11"/>
          <p:cNvSpPr/>
          <p:nvPr/>
        </p:nvSpPr>
        <p:spPr>
          <a:xfrm>
            <a:off x="952500" y="3524250"/>
            <a:ext cx="4381500" cy="3429000"/>
          </a:xfrm>
          <a:prstGeom prst="roundRect">
            <a:avLst>
              <a:gd name="adj" fmla="val 4444"/>
            </a:avLst>
          </a:prstGeom>
          <a:solidFill>
            <a:srgbClr val="FFFFFF">
              <a:alpha val="4000"/>
            </a:srgbClr>
          </a:solidFill>
          <a:ln w="6927">
            <a:solidFill>
              <a:srgbClr val="FFFFFF">
                <a:alpha val="16000"/>
              </a:srgbClr>
            </a:solidFill>
            <a:prstDash val="solid"/>
          </a:ln>
        </p:spPr>
      </p:sp>
      <p:pic>
        <p:nvPicPr>
          <p:cNvPr id="1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40427" y="3912177"/>
            <a:ext cx="609600" cy="609600"/>
          </a:xfrm>
          <a:prstGeom prst="rect">
            <a:avLst/>
          </a:prstGeom>
        </p:spPr>
      </p:pic>
      <p:sp>
        <p:nvSpPr>
          <p:cNvPr id="15" name="Shape 12"/>
          <p:cNvSpPr/>
          <p:nvPr/>
        </p:nvSpPr>
        <p:spPr>
          <a:xfrm>
            <a:off x="3242180" y="3912177"/>
            <a:ext cx="1703893" cy="419100"/>
          </a:xfrm>
          <a:prstGeom prst="roundRect">
            <a:avLst>
              <a:gd name="adj" fmla="val 50000"/>
            </a:avLst>
          </a:prstGeom>
          <a:solidFill>
            <a:srgbClr val="7C4DFF"/>
          </a:solidFill>
          <a:ln/>
        </p:spPr>
      </p:sp>
      <p:sp>
        <p:nvSpPr>
          <p:cNvPr id="16" name="Text 13"/>
          <p:cNvSpPr/>
          <p:nvPr/>
        </p:nvSpPr>
        <p:spPr>
          <a:xfrm>
            <a:off x="3394580" y="3969327"/>
            <a:ext cx="147529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FFFFFF"/>
                </a:solidFill>
                <a:latin typeface="JetBrains Mono" pitchFamily="34" charset="0"/>
                <a:ea typeface="JetBrains Mono" pitchFamily="34" charset="-122"/>
                <a:cs typeface="JetBrains Mono" pitchFamily="34" charset="-120"/>
              </a:rPr>
              <a:t>01 REWARD</a:t>
            </a:r>
            <a:endParaRPr lang="en-US" sz="1800" dirty="0"/>
          </a:p>
        </p:txBody>
      </p:sp>
      <p:sp>
        <p:nvSpPr>
          <p:cNvPr id="17" name="Text 14"/>
          <p:cNvSpPr/>
          <p:nvPr/>
        </p:nvSpPr>
        <p:spPr>
          <a:xfrm>
            <a:off x="1340427" y="4731327"/>
            <a:ext cx="3713815" cy="914400"/>
          </a:xfrm>
          <a:prstGeom prst="rect">
            <a:avLst/>
          </a:prstGeom>
          <a:noFill/>
          <a:ln/>
        </p:spPr>
        <p:txBody>
          <a:bodyPr wrap="square" lIns="25400" tIns="25400" rIns="25400" bIns="25400" rtlCol="0" anchor="t">
            <a:normAutofit/>
          </a:bodyPr>
          <a:lstStyle/>
          <a:p>
            <a:pPr algn="l" indent="0" marL="0">
              <a:lnSpc>
                <a:spcPct val="95833"/>
              </a:lnSpc>
              <a:buNone/>
            </a:pPr>
            <a:r>
              <a:rPr lang="en-US" sz="3000" b="1" spc="-45" kern="0" dirty="0">
                <a:solidFill>
                  <a:srgbClr val="FFFFFF"/>
                </a:solidFill>
                <a:latin typeface="Inter" pitchFamily="34" charset="0"/>
                <a:ea typeface="Inter" pitchFamily="34" charset="-122"/>
                <a:cs typeface="Inter" pitchFamily="34" charset="-120"/>
              </a:rPr>
              <a:t>Aspect Rating Reward Model</a:t>
            </a:r>
            <a:endParaRPr lang="en-US" sz="3000" dirty="0"/>
          </a:p>
        </p:txBody>
      </p:sp>
      <p:sp>
        <p:nvSpPr>
          <p:cNvPr id="18" name="Text 15"/>
          <p:cNvSpPr/>
          <p:nvPr/>
        </p:nvSpPr>
        <p:spPr>
          <a:xfrm>
            <a:off x="1340427" y="6260523"/>
            <a:ext cx="396621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39DFF"/>
                </a:solidFill>
                <a:latin typeface="JetBrains Mono" pitchFamily="34" charset="0"/>
                <a:ea typeface="JetBrains Mono" pitchFamily="34" charset="-122"/>
                <a:cs typeface="JetBrains Mono" pitchFamily="34" charset="-120"/>
              </a:rPr>
              <a:t>Qwen-3-32B · SFT</a:t>
            </a:r>
            <a:endParaRPr lang="en-US" sz="1800" dirty="0"/>
          </a:p>
        </p:txBody>
      </p:sp>
      <p:sp>
        <p:nvSpPr>
          <p:cNvPr id="19" name="Text 16"/>
          <p:cNvSpPr/>
          <p:nvPr/>
        </p:nvSpPr>
        <p:spPr>
          <a:xfrm>
            <a:off x="5800725" y="4762500"/>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9A1AE"/>
                </a:solidFill>
                <a:latin typeface="JetBrains Mono" pitchFamily="34" charset="0"/>
                <a:ea typeface="JetBrains Mono" pitchFamily="34" charset="-122"/>
                <a:cs typeface="JetBrains Mono" pitchFamily="34" charset="-120"/>
              </a:rPr>
              <a:t>Ranks</a:t>
            </a:r>
            <a:endParaRPr lang="en-US" sz="1800" dirty="0"/>
          </a:p>
        </p:txBody>
      </p:sp>
      <p:sp>
        <p:nvSpPr>
          <p:cNvPr id="20" name="Shape 17"/>
          <p:cNvSpPr/>
          <p:nvPr/>
        </p:nvSpPr>
        <p:spPr>
          <a:xfrm>
            <a:off x="5524500" y="5162550"/>
            <a:ext cx="1238250" cy="13855"/>
          </a:xfrm>
          <a:prstGeom prst="rect">
            <a:avLst/>
          </a:prstGeom>
          <a:solidFill>
            <a:srgbClr val="99A1AE"/>
          </a:solidFill>
          <a:ln/>
        </p:spPr>
      </p:sp>
      <p:sp>
        <p:nvSpPr>
          <p:cNvPr id="21" name="Shape 18"/>
          <p:cNvSpPr/>
          <p:nvPr/>
        </p:nvSpPr>
        <p:spPr>
          <a:xfrm>
            <a:off x="6669232" y="5090680"/>
            <a:ext cx="131618" cy="152400"/>
          </a:xfrm>
          <a:prstGeom prst="rect">
            <a:avLst/>
          </a:prstGeom>
          <a:solidFill>
            <a:srgbClr val="99A1AE"/>
          </a:solidFill>
          <a:ln/>
        </p:spPr>
      </p:sp>
      <p:sp>
        <p:nvSpPr>
          <p:cNvPr id="22" name="Shape 19"/>
          <p:cNvSpPr/>
          <p:nvPr/>
        </p:nvSpPr>
        <p:spPr>
          <a:xfrm>
            <a:off x="6953250" y="3524250"/>
            <a:ext cx="4381500" cy="3429000"/>
          </a:xfrm>
          <a:prstGeom prst="roundRect">
            <a:avLst>
              <a:gd name="adj" fmla="val 4444"/>
            </a:avLst>
          </a:prstGeom>
          <a:solidFill>
            <a:srgbClr val="FFFFFF">
              <a:alpha val="4000"/>
            </a:srgbClr>
          </a:solidFill>
          <a:ln w="6927">
            <a:solidFill>
              <a:srgbClr val="FFFFFF">
                <a:alpha val="16000"/>
              </a:srgbClr>
            </a:solidFill>
            <a:prstDash val="solid"/>
          </a:ln>
        </p:spPr>
      </p:sp>
      <p:pic>
        <p:nvPicPr>
          <p:cNvPr id="2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41177" y="3912177"/>
            <a:ext cx="609600" cy="609600"/>
          </a:xfrm>
          <a:prstGeom prst="rect">
            <a:avLst/>
          </a:prstGeom>
        </p:spPr>
      </p:pic>
      <p:sp>
        <p:nvSpPr>
          <p:cNvPr id="24" name="Shape 20"/>
          <p:cNvSpPr/>
          <p:nvPr/>
        </p:nvSpPr>
        <p:spPr>
          <a:xfrm>
            <a:off x="8776638" y="3912177"/>
            <a:ext cx="2170185" cy="419100"/>
          </a:xfrm>
          <a:prstGeom prst="roundRect">
            <a:avLst>
              <a:gd name="adj" fmla="val 50000"/>
            </a:avLst>
          </a:prstGeom>
          <a:solidFill>
            <a:srgbClr val="1E88E5"/>
          </a:solidFill>
          <a:ln/>
        </p:spPr>
      </p:sp>
      <p:sp>
        <p:nvSpPr>
          <p:cNvPr id="25" name="Text 21"/>
          <p:cNvSpPr/>
          <p:nvPr/>
        </p:nvSpPr>
        <p:spPr>
          <a:xfrm>
            <a:off x="8929038" y="3969327"/>
            <a:ext cx="194158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FFFFFF"/>
                </a:solidFill>
                <a:latin typeface="JetBrains Mono" pitchFamily="34" charset="0"/>
                <a:ea typeface="JetBrains Mono" pitchFamily="34" charset="-122"/>
                <a:cs typeface="JetBrains Mono" pitchFamily="34" charset="-120"/>
              </a:rPr>
              <a:t>02 GENERATOR</a:t>
            </a:r>
            <a:endParaRPr lang="en-US" sz="1800" dirty="0"/>
          </a:p>
        </p:txBody>
      </p:sp>
      <p:sp>
        <p:nvSpPr>
          <p:cNvPr id="26" name="Text 22"/>
          <p:cNvSpPr/>
          <p:nvPr/>
        </p:nvSpPr>
        <p:spPr>
          <a:xfrm>
            <a:off x="7341177" y="4731327"/>
            <a:ext cx="3713815" cy="914400"/>
          </a:xfrm>
          <a:prstGeom prst="rect">
            <a:avLst/>
          </a:prstGeom>
          <a:noFill/>
          <a:ln/>
        </p:spPr>
        <p:txBody>
          <a:bodyPr wrap="square" lIns="25400" tIns="25400" rIns="25400" bIns="25400" rtlCol="0" anchor="t">
            <a:normAutofit/>
          </a:bodyPr>
          <a:lstStyle/>
          <a:p>
            <a:pPr algn="l" indent="0" marL="0">
              <a:lnSpc>
                <a:spcPct val="95833"/>
              </a:lnSpc>
              <a:buNone/>
            </a:pPr>
            <a:r>
              <a:rPr lang="en-US" sz="3000" b="1" spc="-45" kern="0" dirty="0">
                <a:solidFill>
                  <a:srgbClr val="FFFFFF"/>
                </a:solidFill>
                <a:latin typeface="Inter" pitchFamily="34" charset="0"/>
                <a:ea typeface="Inter" pitchFamily="34" charset="-122"/>
                <a:cs typeface="Inter" pitchFamily="34" charset="-120"/>
              </a:rPr>
              <a:t>Mixture-of-Experts Plot Generator</a:t>
            </a:r>
            <a:endParaRPr lang="en-US" sz="3000" dirty="0"/>
          </a:p>
        </p:txBody>
      </p:sp>
      <p:sp>
        <p:nvSpPr>
          <p:cNvPr id="27" name="Text 23"/>
          <p:cNvSpPr/>
          <p:nvPr/>
        </p:nvSpPr>
        <p:spPr>
          <a:xfrm>
            <a:off x="7341177" y="6260523"/>
            <a:ext cx="396621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4B5F6"/>
                </a:solidFill>
                <a:latin typeface="JetBrains Mono" pitchFamily="34" charset="0"/>
                <a:ea typeface="JetBrains Mono" pitchFamily="34" charset="-122"/>
                <a:cs typeface="JetBrains Mono" pitchFamily="34" charset="-120"/>
              </a:rPr>
              <a:t>Qwen-3-30B-A3B · DPO</a:t>
            </a:r>
            <a:endParaRPr lang="en-US" sz="1800" dirty="0"/>
          </a:p>
        </p:txBody>
      </p:sp>
      <p:sp>
        <p:nvSpPr>
          <p:cNvPr id="28" name="Text 24"/>
          <p:cNvSpPr/>
          <p:nvPr/>
        </p:nvSpPr>
        <p:spPr>
          <a:xfrm>
            <a:off x="11801475" y="4762500"/>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9A1AE"/>
                </a:solidFill>
                <a:latin typeface="JetBrains Mono" pitchFamily="34" charset="0"/>
                <a:ea typeface="JetBrains Mono" pitchFamily="34" charset="-122"/>
                <a:cs typeface="JetBrains Mono" pitchFamily="34" charset="-120"/>
              </a:rPr>
              <a:t>Plots</a:t>
            </a:r>
            <a:endParaRPr lang="en-US" sz="1800" dirty="0"/>
          </a:p>
        </p:txBody>
      </p:sp>
      <p:sp>
        <p:nvSpPr>
          <p:cNvPr id="29" name="Shape 25"/>
          <p:cNvSpPr/>
          <p:nvPr/>
        </p:nvSpPr>
        <p:spPr>
          <a:xfrm>
            <a:off x="11525250" y="5162550"/>
            <a:ext cx="1238250" cy="13855"/>
          </a:xfrm>
          <a:prstGeom prst="rect">
            <a:avLst/>
          </a:prstGeom>
          <a:solidFill>
            <a:srgbClr val="99A1AE"/>
          </a:solidFill>
          <a:ln/>
        </p:spPr>
      </p:sp>
      <p:sp>
        <p:nvSpPr>
          <p:cNvPr id="30" name="Shape 26"/>
          <p:cNvSpPr/>
          <p:nvPr/>
        </p:nvSpPr>
        <p:spPr>
          <a:xfrm>
            <a:off x="12669982" y="5090680"/>
            <a:ext cx="131618" cy="152400"/>
          </a:xfrm>
          <a:prstGeom prst="rect">
            <a:avLst/>
          </a:prstGeom>
          <a:solidFill>
            <a:srgbClr val="99A1AE"/>
          </a:solidFill>
          <a:ln/>
        </p:spPr>
      </p:sp>
      <p:sp>
        <p:nvSpPr>
          <p:cNvPr id="31" name="Shape 27"/>
          <p:cNvSpPr/>
          <p:nvPr/>
        </p:nvSpPr>
        <p:spPr>
          <a:xfrm>
            <a:off x="12954000" y="3524250"/>
            <a:ext cx="4381500" cy="3429000"/>
          </a:xfrm>
          <a:prstGeom prst="roundRect">
            <a:avLst>
              <a:gd name="adj" fmla="val 4444"/>
            </a:avLst>
          </a:prstGeom>
          <a:solidFill>
            <a:srgbClr val="FFFFFF">
              <a:alpha val="4000"/>
            </a:srgbClr>
          </a:solidFill>
          <a:ln w="6927">
            <a:solidFill>
              <a:srgbClr val="FFFFFF">
                <a:alpha val="16000"/>
              </a:srgbClr>
            </a:solidFill>
            <a:prstDash val="solid"/>
          </a:ln>
        </p:spPr>
      </p:sp>
      <p:pic>
        <p:nvPicPr>
          <p:cNvPr id="3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341927" y="3912177"/>
            <a:ext cx="609600" cy="609600"/>
          </a:xfrm>
          <a:prstGeom prst="rect">
            <a:avLst/>
          </a:prstGeom>
        </p:spPr>
      </p:pic>
      <p:sp>
        <p:nvSpPr>
          <p:cNvPr id="33" name="Shape 28"/>
          <p:cNvSpPr/>
          <p:nvPr/>
        </p:nvSpPr>
        <p:spPr>
          <a:xfrm>
            <a:off x="15554542" y="3912177"/>
            <a:ext cx="1393031" cy="419100"/>
          </a:xfrm>
          <a:prstGeom prst="roundRect">
            <a:avLst>
              <a:gd name="adj" fmla="val 50000"/>
            </a:avLst>
          </a:prstGeom>
          <a:solidFill>
            <a:srgbClr val="0F9D58"/>
          </a:solidFill>
          <a:ln/>
        </p:spPr>
      </p:sp>
      <p:sp>
        <p:nvSpPr>
          <p:cNvPr id="34" name="Text 29"/>
          <p:cNvSpPr/>
          <p:nvPr/>
        </p:nvSpPr>
        <p:spPr>
          <a:xfrm>
            <a:off x="15706942" y="3969327"/>
            <a:ext cx="1164431"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FFFFFF"/>
                </a:solidFill>
                <a:latin typeface="JetBrains Mono" pitchFamily="34" charset="0"/>
                <a:ea typeface="JetBrains Mono" pitchFamily="34" charset="-122"/>
                <a:cs typeface="JetBrains Mono" pitchFamily="34" charset="-120"/>
              </a:rPr>
              <a:t>03 JURY</a:t>
            </a:r>
            <a:endParaRPr lang="en-US" sz="1800" dirty="0"/>
          </a:p>
        </p:txBody>
      </p:sp>
      <p:sp>
        <p:nvSpPr>
          <p:cNvPr id="35" name="Text 30"/>
          <p:cNvSpPr/>
          <p:nvPr/>
        </p:nvSpPr>
        <p:spPr>
          <a:xfrm>
            <a:off x="13341927" y="4731327"/>
            <a:ext cx="3713815" cy="914400"/>
          </a:xfrm>
          <a:prstGeom prst="rect">
            <a:avLst/>
          </a:prstGeom>
          <a:noFill/>
          <a:ln/>
        </p:spPr>
        <p:txBody>
          <a:bodyPr wrap="square" lIns="25400" tIns="25400" rIns="25400" bIns="25400" rtlCol="0" anchor="t">
            <a:normAutofit/>
          </a:bodyPr>
          <a:lstStyle/>
          <a:p>
            <a:pPr algn="l" indent="0" marL="0">
              <a:lnSpc>
                <a:spcPct val="95833"/>
              </a:lnSpc>
              <a:buNone/>
            </a:pPr>
            <a:r>
              <a:rPr lang="en-US" sz="3000" b="1" spc="-45" kern="0" dirty="0">
                <a:solidFill>
                  <a:srgbClr val="FFFFFF"/>
                </a:solidFill>
                <a:latin typeface="Inter" pitchFamily="34" charset="0"/>
                <a:ea typeface="Inter" pitchFamily="34" charset="-122"/>
                <a:cs typeface="Inter" pitchFamily="34" charset="-120"/>
              </a:rPr>
              <a:t>Agentic Evaluation Module</a:t>
            </a:r>
            <a:endParaRPr lang="en-US" sz="3000" dirty="0"/>
          </a:p>
        </p:txBody>
      </p:sp>
      <p:sp>
        <p:nvSpPr>
          <p:cNvPr id="36" name="Text 31"/>
          <p:cNvSpPr/>
          <p:nvPr/>
        </p:nvSpPr>
        <p:spPr>
          <a:xfrm>
            <a:off x="13341927" y="6260523"/>
            <a:ext cx="396621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CC38A"/>
                </a:solidFill>
                <a:latin typeface="JetBrains Mono" pitchFamily="34" charset="0"/>
                <a:ea typeface="JetBrains Mono" pitchFamily="34" charset="-122"/>
                <a:cs typeface="JetBrains Mono" pitchFamily="34" charset="-120"/>
              </a:rPr>
              <a:t>5 Jurors · 1 Judge</a:t>
            </a:r>
            <a:endParaRPr lang="en-US" sz="1800" dirty="0"/>
          </a:p>
        </p:txBody>
      </p:sp>
      <p:sp>
        <p:nvSpPr>
          <p:cNvPr id="37" name="Text 32"/>
          <p:cNvSpPr/>
          <p:nvPr/>
        </p:nvSpPr>
        <p:spPr>
          <a:xfrm>
            <a:off x="952500" y="7912677"/>
            <a:ext cx="1629489"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99A1AE"/>
                </a:solidFill>
                <a:latin typeface="JetBrains Mono" pitchFamily="34" charset="0"/>
                <a:ea typeface="JetBrains Mono" pitchFamily="34" charset="-122"/>
                <a:cs typeface="JetBrains Mono" pitchFamily="34" charset="-120"/>
              </a:rPr>
              <a:t>INFERENCE</a:t>
            </a:r>
            <a:endParaRPr lang="en-US" sz="1800" dirty="0"/>
          </a:p>
        </p:txBody>
      </p:sp>
      <p:sp>
        <p:nvSpPr>
          <p:cNvPr id="38" name="Shape 33"/>
          <p:cNvSpPr/>
          <p:nvPr/>
        </p:nvSpPr>
        <p:spPr>
          <a:xfrm>
            <a:off x="2719604" y="7810500"/>
            <a:ext cx="1316940" cy="509155"/>
          </a:xfrm>
          <a:prstGeom prst="roundRect">
            <a:avLst>
              <a:gd name="adj" fmla="val 18707"/>
            </a:avLst>
          </a:prstGeom>
          <a:ln w="6927">
            <a:solidFill>
              <a:srgbClr val="6B7380"/>
            </a:solidFill>
            <a:prstDash val="solid"/>
          </a:ln>
        </p:spPr>
      </p:sp>
      <p:sp>
        <p:nvSpPr>
          <p:cNvPr id="39" name="Text 34"/>
          <p:cNvSpPr/>
          <p:nvPr/>
        </p:nvSpPr>
        <p:spPr>
          <a:xfrm>
            <a:off x="2897981" y="7912677"/>
            <a:ext cx="103638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Premise</a:t>
            </a:r>
            <a:endParaRPr lang="en-US" sz="1800" dirty="0"/>
          </a:p>
        </p:txBody>
      </p:sp>
      <p:sp>
        <p:nvSpPr>
          <p:cNvPr id="40" name="Text 35"/>
          <p:cNvSpPr/>
          <p:nvPr/>
        </p:nvSpPr>
        <p:spPr>
          <a:xfrm>
            <a:off x="4207994" y="7912677"/>
            <a:ext cx="20197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9A1AE"/>
                </a:solidFill>
                <a:latin typeface="JetBrains Mono" pitchFamily="34" charset="0"/>
                <a:ea typeface="JetBrains Mono" pitchFamily="34" charset="-122"/>
                <a:cs typeface="JetBrains Mono" pitchFamily="34" charset="-120"/>
              </a:rPr>
              <a:t>→</a:t>
            </a:r>
            <a:endParaRPr lang="en-US" sz="1800" dirty="0"/>
          </a:p>
        </p:txBody>
      </p:sp>
      <p:sp>
        <p:nvSpPr>
          <p:cNvPr id="41" name="Shape 36"/>
          <p:cNvSpPr/>
          <p:nvPr/>
        </p:nvSpPr>
        <p:spPr>
          <a:xfrm>
            <a:off x="4505217" y="7810500"/>
            <a:ext cx="1591216" cy="509155"/>
          </a:xfrm>
          <a:prstGeom prst="roundRect">
            <a:avLst>
              <a:gd name="adj" fmla="val 18707"/>
            </a:avLst>
          </a:prstGeom>
          <a:ln w="6927">
            <a:solidFill>
              <a:srgbClr val="1E88E5"/>
            </a:solidFill>
            <a:prstDash val="solid"/>
          </a:ln>
        </p:spPr>
      </p:sp>
      <p:sp>
        <p:nvSpPr>
          <p:cNvPr id="42" name="Text 37"/>
          <p:cNvSpPr/>
          <p:nvPr/>
        </p:nvSpPr>
        <p:spPr>
          <a:xfrm>
            <a:off x="4683594" y="7912677"/>
            <a:ext cx="131066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Generator</a:t>
            </a:r>
            <a:endParaRPr lang="en-US" sz="1800" dirty="0"/>
          </a:p>
        </p:txBody>
      </p:sp>
      <p:sp>
        <p:nvSpPr>
          <p:cNvPr id="43" name="Text 38"/>
          <p:cNvSpPr/>
          <p:nvPr/>
        </p:nvSpPr>
        <p:spPr>
          <a:xfrm>
            <a:off x="6267883" y="7912677"/>
            <a:ext cx="20197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9A1AE"/>
                </a:solidFill>
                <a:latin typeface="JetBrains Mono" pitchFamily="34" charset="0"/>
                <a:ea typeface="JetBrains Mono" pitchFamily="34" charset="-122"/>
                <a:cs typeface="JetBrains Mono" pitchFamily="34" charset="-120"/>
              </a:rPr>
              <a:t>→</a:t>
            </a:r>
            <a:endParaRPr lang="en-US" sz="1800" dirty="0"/>
          </a:p>
        </p:txBody>
      </p:sp>
      <p:sp>
        <p:nvSpPr>
          <p:cNvPr id="44" name="Shape 39"/>
          <p:cNvSpPr/>
          <p:nvPr/>
        </p:nvSpPr>
        <p:spPr>
          <a:xfrm>
            <a:off x="6565106" y="7810500"/>
            <a:ext cx="905416" cy="509155"/>
          </a:xfrm>
          <a:prstGeom prst="roundRect">
            <a:avLst>
              <a:gd name="adj" fmla="val 18707"/>
            </a:avLst>
          </a:prstGeom>
          <a:ln w="6927">
            <a:solidFill>
              <a:srgbClr val="6B7380"/>
            </a:solidFill>
            <a:prstDash val="solid"/>
          </a:ln>
        </p:spPr>
      </p:sp>
      <p:sp>
        <p:nvSpPr>
          <p:cNvPr id="45" name="Text 40"/>
          <p:cNvSpPr/>
          <p:nvPr/>
        </p:nvSpPr>
        <p:spPr>
          <a:xfrm>
            <a:off x="6743484" y="7912677"/>
            <a:ext cx="62486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Plot</a:t>
            </a:r>
            <a:endParaRPr lang="en-US" sz="1800" dirty="0"/>
          </a:p>
        </p:txBody>
      </p:sp>
      <p:sp>
        <p:nvSpPr>
          <p:cNvPr id="46" name="Text 41"/>
          <p:cNvSpPr/>
          <p:nvPr/>
        </p:nvSpPr>
        <p:spPr>
          <a:xfrm>
            <a:off x="7756272" y="7912677"/>
            <a:ext cx="241411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9A1AE"/>
                </a:solidFill>
                <a:latin typeface="JetBrains Mono" pitchFamily="34" charset="0"/>
                <a:ea typeface="JetBrains Mono" pitchFamily="34" charset="-122"/>
                <a:cs typeface="JetBrains Mono" pitchFamily="34" charset="-120"/>
              </a:rPr>
              <a:t>1 Model · 1 Pass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91F"/>
        </a:solidFill>
      </p:bgPr>
    </p:bg>
    <p:spTree>
      <p:nvGrpSpPr>
        <p:cNvPr id="1" name=""/>
        <p:cNvGrpSpPr/>
        <p:nvPr/>
      </p:nvGrpSpPr>
      <p:grpSpPr>
        <a:xfrm>
          <a:off x="0" y="0"/>
          <a:ext cx="0" cy="0"/>
          <a:chOff x="0" y="0"/>
          <a:chExt cx="0" cy="0"/>
        </a:xfrm>
      </p:grpSpPr>
      <p:sp>
        <p:nvSpPr>
          <p:cNvPr id="2" name="Text 0"/>
          <p:cNvSpPr/>
          <p:nvPr/>
        </p:nvSpPr>
        <p:spPr>
          <a:xfrm>
            <a:off x="952500"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II</a:t>
            </a:r>
            <a:endParaRPr lang="en-US" sz="1800" dirty="0"/>
          </a:p>
        </p:txBody>
      </p:sp>
      <p:sp>
        <p:nvSpPr>
          <p:cNvPr id="3" name="Text 1"/>
          <p:cNvSpPr/>
          <p:nvPr/>
        </p:nvSpPr>
        <p:spPr>
          <a:xfrm>
            <a:off x="1434920" y="533400"/>
            <a:ext cx="1368028"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THE TURN</a:t>
            </a:r>
            <a:endParaRPr lang="en-US" sz="1800" dirty="0"/>
          </a:p>
        </p:txBody>
      </p:sp>
      <p:sp>
        <p:nvSpPr>
          <p:cNvPr id="4" name="Shape 2"/>
          <p:cNvSpPr/>
          <p:nvPr/>
        </p:nvSpPr>
        <p:spPr>
          <a:xfrm>
            <a:off x="15271931" y="666750"/>
            <a:ext cx="457200" cy="38100"/>
          </a:xfrm>
          <a:prstGeom prst="rect">
            <a:avLst/>
          </a:prstGeom>
          <a:solidFill>
            <a:srgbClr val="99A1AE"/>
          </a:solidFill>
          <a:ln/>
        </p:spPr>
      </p:sp>
      <p:sp>
        <p:nvSpPr>
          <p:cNvPr id="5" name="Shape 3"/>
          <p:cNvSpPr/>
          <p:nvPr/>
        </p:nvSpPr>
        <p:spPr>
          <a:xfrm>
            <a:off x="15805331" y="666750"/>
            <a:ext cx="457200" cy="38100"/>
          </a:xfrm>
          <a:prstGeom prst="rect">
            <a:avLst/>
          </a:prstGeom>
          <a:solidFill>
            <a:srgbClr val="FFFFFF"/>
          </a:solidFill>
          <a:ln/>
        </p:spPr>
      </p:sp>
      <p:sp>
        <p:nvSpPr>
          <p:cNvPr id="6" name="Shape 4"/>
          <p:cNvSpPr/>
          <p:nvPr/>
        </p:nvSpPr>
        <p:spPr>
          <a:xfrm>
            <a:off x="16338731" y="666750"/>
            <a:ext cx="457200" cy="38100"/>
          </a:xfrm>
          <a:prstGeom prst="rect">
            <a:avLst/>
          </a:prstGeom>
          <a:solidFill>
            <a:srgbClr val="414750"/>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09</a:t>
            </a:r>
            <a:endParaRPr lang="en-US" sz="1800" dirty="0"/>
          </a:p>
        </p:txBody>
      </p:sp>
      <p:sp>
        <p:nvSpPr>
          <p:cNvPr id="8" name="Text 6"/>
          <p:cNvSpPr/>
          <p:nvPr/>
        </p:nvSpPr>
        <p:spPr>
          <a:xfrm>
            <a:off x="952500" y="1333500"/>
            <a:ext cx="13256419"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FFFFFF"/>
                </a:solidFill>
                <a:latin typeface="Inter" pitchFamily="34" charset="0"/>
                <a:ea typeface="Inter" pitchFamily="34" charset="-122"/>
                <a:cs typeface="Inter" pitchFamily="34" charset="-120"/>
              </a:rPr>
              <a:t>Paired prompts counter rater positivity bias</a:t>
            </a:r>
            <a:endParaRPr lang="en-US" sz="4800" dirty="0"/>
          </a:p>
        </p:txBody>
      </p:sp>
      <p:sp>
        <p:nvSpPr>
          <p:cNvPr id="9" name="Shape 7"/>
          <p:cNvSpPr/>
          <p:nvPr/>
        </p:nvSpPr>
        <p:spPr>
          <a:xfrm>
            <a:off x="952500" y="2495550"/>
            <a:ext cx="1703893" cy="419100"/>
          </a:xfrm>
          <a:prstGeom prst="roundRect">
            <a:avLst>
              <a:gd name="adj" fmla="val 50000"/>
            </a:avLst>
          </a:prstGeom>
          <a:solidFill>
            <a:srgbClr val="7C4DFF"/>
          </a:solidFill>
          <a:ln/>
        </p:spPr>
      </p:sp>
      <p:sp>
        <p:nvSpPr>
          <p:cNvPr id="10" name="Text 8"/>
          <p:cNvSpPr/>
          <p:nvPr/>
        </p:nvSpPr>
        <p:spPr>
          <a:xfrm>
            <a:off x="1104900" y="2552700"/>
            <a:ext cx="147529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FFFFFF"/>
                </a:solidFill>
                <a:latin typeface="JetBrains Mono" pitchFamily="34" charset="0"/>
                <a:ea typeface="JetBrains Mono" pitchFamily="34" charset="-122"/>
                <a:cs typeface="JetBrains Mono" pitchFamily="34" charset="-120"/>
              </a:rPr>
              <a:t>01 REWARD</a:t>
            </a:r>
            <a:endParaRPr lang="en-US" sz="180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8000" cy="10287000"/>
          </a:xfrm>
          <a:prstGeom prst="rect">
            <a:avLst/>
          </a:prstGeom>
        </p:spPr>
      </p:pic>
      <p:sp>
        <p:nvSpPr>
          <p:cNvPr id="12" name="Shape 9"/>
          <p:cNvSpPr/>
          <p:nvPr/>
        </p:nvSpPr>
        <p:spPr>
          <a:xfrm>
            <a:off x="952500" y="4191000"/>
            <a:ext cx="1619250" cy="1714500"/>
          </a:xfrm>
          <a:prstGeom prst="roundRect">
            <a:avLst>
              <a:gd name="adj" fmla="val 9412"/>
            </a:avLst>
          </a:prstGeom>
          <a:ln w="6927">
            <a:solidFill>
              <a:srgbClr val="FFFFFF">
                <a:alpha val="20000"/>
              </a:srgbClr>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95425" y="4555548"/>
            <a:ext cx="533400" cy="533400"/>
          </a:xfrm>
          <a:prstGeom prst="rect">
            <a:avLst/>
          </a:prstGeom>
        </p:spPr>
      </p:pic>
      <p:sp>
        <p:nvSpPr>
          <p:cNvPr id="14" name="Text 10"/>
          <p:cNvSpPr/>
          <p:nvPr/>
        </p:nvSpPr>
        <p:spPr>
          <a:xfrm>
            <a:off x="1512851" y="5222298"/>
            <a:ext cx="574639" cy="356755"/>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Inter" pitchFamily="34" charset="0"/>
                <a:ea typeface="Inter" pitchFamily="34" charset="-122"/>
                <a:cs typeface="Inter" pitchFamily="34" charset="-120"/>
              </a:rPr>
              <a:t>Plot</a:t>
            </a:r>
            <a:endParaRPr lang="en-US" sz="2100" dirty="0"/>
          </a:p>
        </p:txBody>
      </p:sp>
      <p:sp>
        <p:nvSpPr>
          <p:cNvPr id="15" name="Shape 11"/>
          <p:cNvSpPr/>
          <p:nvPr/>
        </p:nvSpPr>
        <p:spPr>
          <a:xfrm>
            <a:off x="3143250" y="3619500"/>
            <a:ext cx="4000500" cy="1143000"/>
          </a:xfrm>
          <a:prstGeom prst="roundRect">
            <a:avLst>
              <a:gd name="adj" fmla="val 13333"/>
            </a:avLst>
          </a:prstGeom>
          <a:ln w="13855">
            <a:solidFill>
              <a:srgbClr val="7C4DFF"/>
            </a:solidFill>
            <a:prstDash val="solid"/>
          </a:ln>
        </p:spPr>
      </p:sp>
      <p:sp>
        <p:nvSpPr>
          <p:cNvPr id="16" name="Text 12"/>
          <p:cNvSpPr/>
          <p:nvPr/>
        </p:nvSpPr>
        <p:spPr>
          <a:xfrm>
            <a:off x="3423805" y="3844637"/>
            <a:ext cx="742950" cy="730827"/>
          </a:xfrm>
          <a:prstGeom prst="rect">
            <a:avLst/>
          </a:prstGeom>
          <a:noFill/>
          <a:ln/>
        </p:spPr>
        <p:txBody>
          <a:bodyPr wrap="square" lIns="25400" tIns="25400" rIns="25400" bIns="25400" rtlCol="0" anchor="t">
            <a:normAutofit/>
          </a:bodyPr>
          <a:lstStyle/>
          <a:p>
            <a:pPr algn="l" indent="0" marL="0">
              <a:buNone/>
            </a:pPr>
            <a:r>
              <a:rPr lang="en-US" sz="4500" i="1" dirty="0">
                <a:solidFill>
                  <a:srgbClr val="B39DFF"/>
                </a:solidFill>
                <a:latin typeface="Inter" pitchFamily="34" charset="0"/>
                <a:ea typeface="Inter" pitchFamily="34" charset="-122"/>
                <a:cs typeface="Inter" pitchFamily="34" charset="-120"/>
              </a:rPr>
              <a:t>r</a:t>
            </a:r>
            <a:pPr algn="l" indent="0" marL="0">
              <a:buNone/>
            </a:pPr>
            <a:r>
              <a:rPr lang="en-US" sz="2550" baseline="30000" dirty="0">
                <a:solidFill>
                  <a:srgbClr val="B39DFF"/>
                </a:solidFill>
                <a:latin typeface="Inter" pitchFamily="34" charset="0"/>
                <a:ea typeface="Inter" pitchFamily="34" charset="-122"/>
                <a:cs typeface="Inter" pitchFamily="34" charset="-120"/>
              </a:rPr>
              <a:t>+</a:t>
            </a:r>
            <a:endParaRPr lang="en-US" sz="4500" dirty="0"/>
          </a:p>
        </p:txBody>
      </p:sp>
      <p:sp>
        <p:nvSpPr>
          <p:cNvPr id="17" name="Text 13"/>
          <p:cNvSpPr/>
          <p:nvPr/>
        </p:nvSpPr>
        <p:spPr>
          <a:xfrm>
            <a:off x="4338205" y="3808268"/>
            <a:ext cx="2631996" cy="384464"/>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Inter" pitchFamily="34" charset="0"/>
                <a:ea typeface="Inter" pitchFamily="34" charset="-122"/>
                <a:cs typeface="Inter" pitchFamily="34" charset="-120"/>
              </a:rPr>
              <a:t>Strengths Only</a:t>
            </a:r>
            <a:endParaRPr lang="en-US" sz="2250" dirty="0"/>
          </a:p>
        </p:txBody>
      </p:sp>
      <p:sp>
        <p:nvSpPr>
          <p:cNvPr id="18" name="Shape 14"/>
          <p:cNvSpPr/>
          <p:nvPr/>
        </p:nvSpPr>
        <p:spPr>
          <a:xfrm>
            <a:off x="4338205" y="4335607"/>
            <a:ext cx="171450" cy="171450"/>
          </a:xfrm>
          <a:prstGeom prst="ellipse">
            <a:avLst/>
          </a:prstGeom>
          <a:solidFill>
            <a:srgbClr val="B39DFF"/>
          </a:solidFill>
          <a:ln/>
        </p:spPr>
      </p:sp>
      <p:sp>
        <p:nvSpPr>
          <p:cNvPr id="19" name="Shape 15"/>
          <p:cNvSpPr/>
          <p:nvPr/>
        </p:nvSpPr>
        <p:spPr>
          <a:xfrm>
            <a:off x="4585855" y="4335607"/>
            <a:ext cx="171450" cy="171450"/>
          </a:xfrm>
          <a:prstGeom prst="ellipse">
            <a:avLst/>
          </a:prstGeom>
          <a:solidFill>
            <a:srgbClr val="B39DFF"/>
          </a:solidFill>
          <a:ln/>
        </p:spPr>
      </p:sp>
      <p:sp>
        <p:nvSpPr>
          <p:cNvPr id="20" name="Shape 16"/>
          <p:cNvSpPr/>
          <p:nvPr/>
        </p:nvSpPr>
        <p:spPr>
          <a:xfrm>
            <a:off x="4833505" y="4335607"/>
            <a:ext cx="171450" cy="171450"/>
          </a:xfrm>
          <a:prstGeom prst="ellipse">
            <a:avLst/>
          </a:prstGeom>
          <a:solidFill>
            <a:srgbClr val="B39DFF"/>
          </a:solidFill>
          <a:ln/>
        </p:spPr>
      </p:sp>
      <p:sp>
        <p:nvSpPr>
          <p:cNvPr id="21" name="Shape 17"/>
          <p:cNvSpPr/>
          <p:nvPr/>
        </p:nvSpPr>
        <p:spPr>
          <a:xfrm>
            <a:off x="5081155" y="4335607"/>
            <a:ext cx="171450" cy="171450"/>
          </a:xfrm>
          <a:prstGeom prst="ellipse">
            <a:avLst/>
          </a:prstGeom>
          <a:solidFill>
            <a:srgbClr val="B39DFF"/>
          </a:solidFill>
          <a:ln/>
        </p:spPr>
      </p:sp>
      <p:sp>
        <p:nvSpPr>
          <p:cNvPr id="22" name="Shape 18"/>
          <p:cNvSpPr/>
          <p:nvPr/>
        </p:nvSpPr>
        <p:spPr>
          <a:xfrm>
            <a:off x="5328805" y="4335607"/>
            <a:ext cx="171450" cy="171450"/>
          </a:xfrm>
          <a:prstGeom prst="ellipse">
            <a:avLst/>
          </a:prstGeom>
          <a:solidFill>
            <a:srgbClr val="B39DFF"/>
          </a:solidFill>
          <a:ln/>
        </p:spPr>
      </p:sp>
      <p:sp>
        <p:nvSpPr>
          <p:cNvPr id="23" name="Text 19"/>
          <p:cNvSpPr/>
          <p:nvPr/>
        </p:nvSpPr>
        <p:spPr>
          <a:xfrm>
            <a:off x="5633605" y="4268932"/>
            <a:ext cx="11735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9A1AE"/>
                </a:solidFill>
                <a:latin typeface="JetBrains Mono" pitchFamily="34" charset="0"/>
                <a:ea typeface="JetBrains Mono" pitchFamily="34" charset="-122"/>
                <a:cs typeface="JetBrains Mono" pitchFamily="34" charset="-120"/>
              </a:rPr>
              <a:t>5 Raters</a:t>
            </a:r>
            <a:endParaRPr lang="en-US" sz="1800" dirty="0"/>
          </a:p>
        </p:txBody>
      </p:sp>
      <p:sp>
        <p:nvSpPr>
          <p:cNvPr id="24" name="Shape 20"/>
          <p:cNvSpPr/>
          <p:nvPr/>
        </p:nvSpPr>
        <p:spPr>
          <a:xfrm>
            <a:off x="3143250" y="5334000"/>
            <a:ext cx="4000500" cy="1143000"/>
          </a:xfrm>
          <a:prstGeom prst="roundRect">
            <a:avLst>
              <a:gd name="adj" fmla="val 13333"/>
            </a:avLst>
          </a:prstGeom>
          <a:ln w="13855">
            <a:solidFill>
              <a:srgbClr val="7C4DFF"/>
            </a:solidFill>
            <a:prstDash val="solid"/>
          </a:ln>
        </p:spPr>
      </p:sp>
      <p:sp>
        <p:nvSpPr>
          <p:cNvPr id="25" name="Text 21"/>
          <p:cNvSpPr/>
          <p:nvPr/>
        </p:nvSpPr>
        <p:spPr>
          <a:xfrm>
            <a:off x="3423805" y="5559136"/>
            <a:ext cx="742950" cy="730827"/>
          </a:xfrm>
          <a:prstGeom prst="rect">
            <a:avLst/>
          </a:prstGeom>
          <a:noFill/>
          <a:ln/>
        </p:spPr>
        <p:txBody>
          <a:bodyPr wrap="square" lIns="25400" tIns="25400" rIns="25400" bIns="25400" rtlCol="0" anchor="t">
            <a:normAutofit/>
          </a:bodyPr>
          <a:lstStyle/>
          <a:p>
            <a:pPr algn="l" indent="0" marL="0">
              <a:buNone/>
            </a:pPr>
            <a:r>
              <a:rPr lang="en-US" sz="4500" i="1" dirty="0">
                <a:solidFill>
                  <a:srgbClr val="B39DFF"/>
                </a:solidFill>
                <a:latin typeface="Inter" pitchFamily="34" charset="0"/>
                <a:ea typeface="Inter" pitchFamily="34" charset="-122"/>
                <a:cs typeface="Inter" pitchFamily="34" charset="-120"/>
              </a:rPr>
              <a:t>r</a:t>
            </a:r>
            <a:pPr algn="l" indent="0" marL="0">
              <a:buNone/>
            </a:pPr>
            <a:r>
              <a:rPr lang="en-US" sz="2550" baseline="30000" dirty="0">
                <a:solidFill>
                  <a:srgbClr val="B39DFF"/>
                </a:solidFill>
                <a:latin typeface="Inter" pitchFamily="34" charset="0"/>
                <a:ea typeface="Inter" pitchFamily="34" charset="-122"/>
                <a:cs typeface="Inter" pitchFamily="34" charset="-120"/>
              </a:rPr>
              <a:t>−</a:t>
            </a:r>
            <a:endParaRPr lang="en-US" sz="4500" dirty="0"/>
          </a:p>
        </p:txBody>
      </p:sp>
      <p:sp>
        <p:nvSpPr>
          <p:cNvPr id="26" name="Text 22"/>
          <p:cNvSpPr/>
          <p:nvPr/>
        </p:nvSpPr>
        <p:spPr>
          <a:xfrm>
            <a:off x="4338205" y="5522768"/>
            <a:ext cx="2718316" cy="384464"/>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Inter" pitchFamily="34" charset="0"/>
                <a:ea typeface="Inter" pitchFamily="34" charset="-122"/>
                <a:cs typeface="Inter" pitchFamily="34" charset="-120"/>
              </a:rPr>
              <a:t>Weaknesses Only</a:t>
            </a:r>
            <a:endParaRPr lang="en-US" sz="2250" dirty="0"/>
          </a:p>
        </p:txBody>
      </p:sp>
      <p:sp>
        <p:nvSpPr>
          <p:cNvPr id="27" name="Shape 23"/>
          <p:cNvSpPr/>
          <p:nvPr/>
        </p:nvSpPr>
        <p:spPr>
          <a:xfrm>
            <a:off x="4338205" y="6050107"/>
            <a:ext cx="171450" cy="171450"/>
          </a:xfrm>
          <a:prstGeom prst="ellipse">
            <a:avLst/>
          </a:prstGeom>
          <a:solidFill>
            <a:srgbClr val="B39DFF"/>
          </a:solidFill>
          <a:ln/>
        </p:spPr>
      </p:sp>
      <p:sp>
        <p:nvSpPr>
          <p:cNvPr id="28" name="Shape 24"/>
          <p:cNvSpPr/>
          <p:nvPr/>
        </p:nvSpPr>
        <p:spPr>
          <a:xfrm>
            <a:off x="4585855" y="6050107"/>
            <a:ext cx="171450" cy="171450"/>
          </a:xfrm>
          <a:prstGeom prst="ellipse">
            <a:avLst/>
          </a:prstGeom>
          <a:solidFill>
            <a:srgbClr val="B39DFF"/>
          </a:solidFill>
          <a:ln/>
        </p:spPr>
      </p:sp>
      <p:sp>
        <p:nvSpPr>
          <p:cNvPr id="29" name="Shape 25"/>
          <p:cNvSpPr/>
          <p:nvPr/>
        </p:nvSpPr>
        <p:spPr>
          <a:xfrm>
            <a:off x="4833505" y="6050107"/>
            <a:ext cx="171450" cy="171450"/>
          </a:xfrm>
          <a:prstGeom prst="ellipse">
            <a:avLst/>
          </a:prstGeom>
          <a:solidFill>
            <a:srgbClr val="B39DFF"/>
          </a:solidFill>
          <a:ln/>
        </p:spPr>
      </p:sp>
      <p:sp>
        <p:nvSpPr>
          <p:cNvPr id="30" name="Shape 26"/>
          <p:cNvSpPr/>
          <p:nvPr/>
        </p:nvSpPr>
        <p:spPr>
          <a:xfrm>
            <a:off x="5081155" y="6050107"/>
            <a:ext cx="171450" cy="171450"/>
          </a:xfrm>
          <a:prstGeom prst="ellipse">
            <a:avLst/>
          </a:prstGeom>
          <a:solidFill>
            <a:srgbClr val="B39DFF"/>
          </a:solidFill>
          <a:ln/>
        </p:spPr>
      </p:sp>
      <p:sp>
        <p:nvSpPr>
          <p:cNvPr id="31" name="Shape 27"/>
          <p:cNvSpPr/>
          <p:nvPr/>
        </p:nvSpPr>
        <p:spPr>
          <a:xfrm>
            <a:off x="5328805" y="6050107"/>
            <a:ext cx="171450" cy="171450"/>
          </a:xfrm>
          <a:prstGeom prst="ellipse">
            <a:avLst/>
          </a:prstGeom>
          <a:solidFill>
            <a:srgbClr val="B39DFF"/>
          </a:solidFill>
          <a:ln/>
        </p:spPr>
      </p:sp>
      <p:sp>
        <p:nvSpPr>
          <p:cNvPr id="32" name="Text 28"/>
          <p:cNvSpPr/>
          <p:nvPr/>
        </p:nvSpPr>
        <p:spPr>
          <a:xfrm>
            <a:off x="5633605" y="5983432"/>
            <a:ext cx="11735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9A1AE"/>
                </a:solidFill>
                <a:latin typeface="JetBrains Mono" pitchFamily="34" charset="0"/>
                <a:ea typeface="JetBrains Mono" pitchFamily="34" charset="-122"/>
                <a:cs typeface="JetBrains Mono" pitchFamily="34" charset="-120"/>
              </a:rPr>
              <a:t>5 Raters</a:t>
            </a:r>
            <a:endParaRPr lang="en-US" sz="1800" dirty="0"/>
          </a:p>
        </p:txBody>
      </p:sp>
      <p:sp>
        <p:nvSpPr>
          <p:cNvPr id="33" name="Shape 29"/>
          <p:cNvSpPr/>
          <p:nvPr/>
        </p:nvSpPr>
        <p:spPr>
          <a:xfrm>
            <a:off x="7620000" y="4238625"/>
            <a:ext cx="1619250" cy="1619250"/>
          </a:xfrm>
          <a:prstGeom prst="ellipse">
            <a:avLst/>
          </a:prstGeom>
          <a:solidFill>
            <a:srgbClr val="7C4DFF"/>
          </a:solidFill>
          <a:ln/>
        </p:spPr>
      </p:sp>
      <p:sp>
        <p:nvSpPr>
          <p:cNvPr id="34" name="Text 30"/>
          <p:cNvSpPr/>
          <p:nvPr/>
        </p:nvSpPr>
        <p:spPr>
          <a:xfrm>
            <a:off x="8232306" y="4591050"/>
            <a:ext cx="470838" cy="609600"/>
          </a:xfrm>
          <a:prstGeom prst="rect">
            <a:avLst/>
          </a:prstGeom>
          <a:noFill/>
          <a:ln/>
        </p:spPr>
        <p:txBody>
          <a:bodyPr wrap="square" lIns="25400" tIns="25400" rIns="25400" bIns="25400" rtlCol="0" anchor="t">
            <a:normAutofit/>
          </a:bodyPr>
          <a:lstStyle/>
          <a:p>
            <a:pPr algn="l" indent="0" marL="0">
              <a:lnSpc>
                <a:spcPct val="82500"/>
              </a:lnSpc>
              <a:buNone/>
            </a:pPr>
            <a:r>
              <a:rPr lang="en-US" sz="4500" dirty="0">
                <a:solidFill>
                  <a:srgbClr val="FFFFFF"/>
                </a:solidFill>
                <a:latin typeface="Inter" pitchFamily="34" charset="0"/>
                <a:ea typeface="Inter" pitchFamily="34" charset="-122"/>
                <a:cs typeface="Inter" pitchFamily="34" charset="-120"/>
              </a:rPr>
              <a:t>Σ</a:t>
            </a:r>
            <a:endParaRPr lang="en-US" sz="4500" dirty="0"/>
          </a:p>
        </p:txBody>
      </p:sp>
      <p:sp>
        <p:nvSpPr>
          <p:cNvPr id="35" name="Text 31"/>
          <p:cNvSpPr/>
          <p:nvPr/>
        </p:nvSpPr>
        <p:spPr>
          <a:xfrm>
            <a:off x="7960952" y="5200650"/>
            <a:ext cx="101343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r⁺ − r⁻</a:t>
            </a:r>
            <a:endParaRPr lang="en-US" sz="1800" dirty="0"/>
          </a:p>
        </p:txBody>
      </p:sp>
      <p:sp>
        <p:nvSpPr>
          <p:cNvPr id="36" name="Shape 32"/>
          <p:cNvSpPr/>
          <p:nvPr/>
        </p:nvSpPr>
        <p:spPr>
          <a:xfrm>
            <a:off x="9810750" y="4191000"/>
            <a:ext cx="3048000" cy="1714500"/>
          </a:xfrm>
          <a:prstGeom prst="roundRect">
            <a:avLst>
              <a:gd name="adj" fmla="val 8889"/>
            </a:avLst>
          </a:prstGeom>
          <a:ln w="13855">
            <a:solidFill>
              <a:srgbClr val="7C4DFF"/>
            </a:solidFill>
            <a:prstDash val="solid"/>
          </a:ln>
        </p:spPr>
      </p:sp>
      <p:pic>
        <p:nvPicPr>
          <p:cNvPr id="3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91305" y="4575464"/>
            <a:ext cx="457200" cy="457200"/>
          </a:xfrm>
          <a:prstGeom prst="rect">
            <a:avLst/>
          </a:prstGeom>
        </p:spPr>
      </p:pic>
      <p:sp>
        <p:nvSpPr>
          <p:cNvPr id="38" name="Text 33"/>
          <p:cNvSpPr/>
          <p:nvPr/>
        </p:nvSpPr>
        <p:spPr>
          <a:xfrm>
            <a:off x="10091305" y="5146964"/>
            <a:ext cx="2735580" cy="412173"/>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Inter" pitchFamily="34" charset="0"/>
                <a:ea typeface="Inter" pitchFamily="34" charset="-122"/>
                <a:cs typeface="Inter" pitchFamily="34" charset="-120"/>
              </a:rPr>
              <a:t>Reward Model</a:t>
            </a:r>
            <a:endParaRPr lang="en-US" sz="2400" dirty="0"/>
          </a:p>
        </p:txBody>
      </p:sp>
      <p:sp>
        <p:nvSpPr>
          <p:cNvPr id="39" name="Shape 34"/>
          <p:cNvSpPr/>
          <p:nvPr/>
        </p:nvSpPr>
        <p:spPr>
          <a:xfrm>
            <a:off x="952500" y="7429500"/>
            <a:ext cx="3237201" cy="509155"/>
          </a:xfrm>
          <a:prstGeom prst="roundRect">
            <a:avLst>
              <a:gd name="adj" fmla="val 18707"/>
            </a:avLst>
          </a:prstGeom>
          <a:ln w="6927">
            <a:solidFill>
              <a:srgbClr val="6B7380"/>
            </a:solidFill>
            <a:prstDash val="solid"/>
          </a:ln>
        </p:spPr>
      </p:sp>
      <p:sp>
        <p:nvSpPr>
          <p:cNvPr id="40" name="Text 35"/>
          <p:cNvSpPr/>
          <p:nvPr/>
        </p:nvSpPr>
        <p:spPr>
          <a:xfrm>
            <a:off x="1130877" y="7531677"/>
            <a:ext cx="297756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5,000 MovieLens Plots</a:t>
            </a:r>
            <a:endParaRPr lang="en-US" sz="1800" dirty="0"/>
          </a:p>
        </p:txBody>
      </p:sp>
      <p:sp>
        <p:nvSpPr>
          <p:cNvPr id="41" name="Text 36"/>
          <p:cNvSpPr/>
          <p:nvPr/>
        </p:nvSpPr>
        <p:spPr>
          <a:xfrm>
            <a:off x="4361151" y="7531677"/>
            <a:ext cx="20197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9A1AE"/>
                </a:solidFill>
                <a:latin typeface="JetBrains Mono" pitchFamily="34" charset="0"/>
                <a:ea typeface="JetBrains Mono" pitchFamily="34" charset="-122"/>
                <a:cs typeface="JetBrains Mono" pitchFamily="34" charset="-120"/>
              </a:rPr>
              <a:t>→</a:t>
            </a:r>
            <a:endParaRPr lang="en-US" sz="1800" dirty="0"/>
          </a:p>
        </p:txBody>
      </p:sp>
      <p:sp>
        <p:nvSpPr>
          <p:cNvPr id="42" name="Shape 37"/>
          <p:cNvSpPr/>
          <p:nvPr/>
        </p:nvSpPr>
        <p:spPr>
          <a:xfrm>
            <a:off x="4658375" y="7429500"/>
            <a:ext cx="4334416" cy="509155"/>
          </a:xfrm>
          <a:prstGeom prst="roundRect">
            <a:avLst>
              <a:gd name="adj" fmla="val 18707"/>
            </a:avLst>
          </a:prstGeom>
          <a:ln w="6927">
            <a:solidFill>
              <a:srgbClr val="6B7380"/>
            </a:solidFill>
            <a:prstDash val="solid"/>
          </a:ln>
        </p:spPr>
      </p:sp>
      <p:sp>
        <p:nvSpPr>
          <p:cNvPr id="43" name="Text 38"/>
          <p:cNvSpPr/>
          <p:nvPr/>
        </p:nvSpPr>
        <p:spPr>
          <a:xfrm>
            <a:off x="4836752" y="7531677"/>
            <a:ext cx="410769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5 NQDs × 2 Prompts × 5 Raters</a:t>
            </a:r>
            <a:endParaRPr lang="en-US" sz="1800" dirty="0"/>
          </a:p>
        </p:txBody>
      </p:sp>
      <p:sp>
        <p:nvSpPr>
          <p:cNvPr id="44" name="Text 39"/>
          <p:cNvSpPr/>
          <p:nvPr/>
        </p:nvSpPr>
        <p:spPr>
          <a:xfrm>
            <a:off x="9164241" y="7531677"/>
            <a:ext cx="20197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9A1AE"/>
                </a:solidFill>
                <a:latin typeface="JetBrains Mono" pitchFamily="34" charset="0"/>
                <a:ea typeface="JetBrains Mono" pitchFamily="34" charset="-122"/>
                <a:cs typeface="JetBrains Mono" pitchFamily="34" charset="-120"/>
              </a:rPr>
              <a:t>→</a:t>
            </a:r>
            <a:endParaRPr lang="en-US" sz="1800" dirty="0"/>
          </a:p>
        </p:txBody>
      </p:sp>
      <p:sp>
        <p:nvSpPr>
          <p:cNvPr id="45" name="Shape 40"/>
          <p:cNvSpPr/>
          <p:nvPr/>
        </p:nvSpPr>
        <p:spPr>
          <a:xfrm>
            <a:off x="9461464" y="7429500"/>
            <a:ext cx="4060140" cy="509155"/>
          </a:xfrm>
          <a:prstGeom prst="roundRect">
            <a:avLst>
              <a:gd name="adj" fmla="val 18707"/>
            </a:avLst>
          </a:prstGeom>
          <a:ln w="6927">
            <a:solidFill>
              <a:srgbClr val="7C4DFF"/>
            </a:solidFill>
            <a:prstDash val="solid"/>
          </a:ln>
        </p:spPr>
      </p:sp>
      <p:sp>
        <p:nvSpPr>
          <p:cNvPr id="46" name="Text 41"/>
          <p:cNvSpPr/>
          <p:nvPr/>
        </p:nvSpPr>
        <p:spPr>
          <a:xfrm>
            <a:off x="9639842" y="7531677"/>
            <a:ext cx="382518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SFT Qwen-3-32B · CE + Huber</a:t>
            </a:r>
            <a:endParaRPr lang="en-US" sz="1800" dirty="0"/>
          </a:p>
        </p:txBody>
      </p:sp>
      <p:sp>
        <p:nvSpPr>
          <p:cNvPr id="47" name="Shape 42"/>
          <p:cNvSpPr/>
          <p:nvPr/>
        </p:nvSpPr>
        <p:spPr>
          <a:xfrm>
            <a:off x="12192000" y="6096000"/>
            <a:ext cx="6667500" cy="6667500"/>
          </a:xfrm>
          <a:prstGeom prst="ellipse">
            <a:avLst/>
          </a:prstGeom>
          <a:gradFill rotWithShape="1">
            <a:gsLst>
              <a:gs pos="0">
                <a:srgbClr val="FFFFFF">
                  <a:alpha val="12000"/>
                </a:srgbClr>
              </a:gs>
              <a:gs pos="100000">
                <a:srgbClr val="FFFFFF">
                  <a:alpha val="0"/>
                </a:srgbClr>
              </a:gs>
            </a:gsLst>
            <a:path path="circle">
              <a:fillToRect l="50000" t="50000" r="50000" b="50000"/>
            </a:path>
          </a:gradFill>
          <a:ln/>
        </p:spPr>
      </p:sp>
      <p:sp>
        <p:nvSpPr>
          <p:cNvPr id="48" name="Shape 43"/>
          <p:cNvSpPr/>
          <p:nvPr/>
        </p:nvSpPr>
        <p:spPr>
          <a:xfrm>
            <a:off x="13525500" y="4929188"/>
            <a:ext cx="4000500" cy="1452563"/>
          </a:xfrm>
          <a:prstGeom prst="roundRect">
            <a:avLst>
              <a:gd name="adj" fmla="val 20984"/>
            </a:avLst>
          </a:prstGeom>
          <a:solidFill>
            <a:srgbClr val="FFFFFF"/>
          </a:solidFill>
          <a:ln/>
        </p:spPr>
      </p:sp>
      <p:sp>
        <p:nvSpPr>
          <p:cNvPr id="49" name="Text 44"/>
          <p:cNvSpPr/>
          <p:nvPr/>
        </p:nvSpPr>
        <p:spPr>
          <a:xfrm>
            <a:off x="13811250" y="5119688"/>
            <a:ext cx="3313469" cy="1098839"/>
          </a:xfrm>
          <a:prstGeom prst="rect">
            <a:avLst/>
          </a:prstGeom>
          <a:noFill/>
          <a:ln/>
        </p:spPr>
        <p:txBody>
          <a:bodyPr wrap="square" lIns="0" tIns="0" rIns="0" bIns="0" rtlCol="0" anchor="t">
            <a:normAutofit/>
          </a:bodyPr>
          <a:lstStyle/>
          <a:p>
            <a:pPr algn="l" indent="0" marL="0">
              <a:lnSpc>
                <a:spcPct val="103125"/>
              </a:lnSpc>
              <a:buNone/>
            </a:pPr>
            <a:r>
              <a:rPr lang="en-US" sz="2250" dirty="0">
                <a:solidFill>
                  <a:srgbClr val="16191F"/>
                </a:solidFill>
                <a:latin typeface="Inter" pitchFamily="34" charset="0"/>
                <a:ea typeface="Inter" pitchFamily="34" charset="-122"/>
                <a:cs typeface="Inter" pitchFamily="34" charset="-120"/>
              </a:rPr>
              <a:t>Why ask for the positives and negatives separately?</a:t>
            </a:r>
            <a:endParaRPr lang="en-US" sz="2250" dirty="0"/>
          </a:p>
        </p:txBody>
      </p:sp>
      <p:sp>
        <p:nvSpPr>
          <p:cNvPr id="50" name="Shape 45"/>
          <p:cNvSpPr/>
          <p:nvPr/>
        </p:nvSpPr>
        <p:spPr>
          <a:xfrm>
            <a:off x="15925800" y="6457950"/>
            <a:ext cx="171450" cy="171450"/>
          </a:xfrm>
          <a:prstGeom prst="ellipse">
            <a:avLst/>
          </a:prstGeom>
          <a:solidFill>
            <a:srgbClr val="FFFFFF"/>
          </a:solidFill>
          <a:ln/>
        </p:spPr>
      </p:sp>
      <p:sp>
        <p:nvSpPr>
          <p:cNvPr id="51" name="Shape 46"/>
          <p:cNvSpPr/>
          <p:nvPr/>
        </p:nvSpPr>
        <p:spPr>
          <a:xfrm>
            <a:off x="16135350" y="6724650"/>
            <a:ext cx="95250" cy="95250"/>
          </a:xfrm>
          <a:prstGeom prst="ellipse">
            <a:avLst/>
          </a:prstGeom>
          <a:solidFill>
            <a:srgbClr val="FFFFFF"/>
          </a:solidFill>
          <a:ln/>
        </p:spPr>
      </p:sp>
      <p:pic>
        <p:nvPicPr>
          <p:cNvPr id="52" name="Image 3" descr="preencoded.png">    </p:cNvPr>
          <p:cNvPicPr>
            <a:picLocks noChangeAspect="1"/>
          </p:cNvPicPr>
          <p:nvPr/>
        </p:nvPicPr>
        <p:blipFill>
          <a:blip r:embed="rId7"/>
          <a:stretch>
            <a:fillRect/>
          </a:stretch>
        </p:blipFill>
        <p:spPr>
          <a:xfrm>
            <a:off x="14186514" y="7048500"/>
            <a:ext cx="3434737" cy="3238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91F"/>
        </a:solidFill>
      </p:bgPr>
    </p:bg>
    <p:spTree>
      <p:nvGrpSpPr>
        <p:cNvPr id="1" name=""/>
        <p:cNvGrpSpPr/>
        <p:nvPr/>
      </p:nvGrpSpPr>
      <p:grpSpPr>
        <a:xfrm>
          <a:off x="0" y="0"/>
          <a:ext cx="0" cy="0"/>
          <a:chOff x="0" y="0"/>
          <a:chExt cx="0" cy="0"/>
        </a:xfrm>
      </p:grpSpPr>
      <p:sp>
        <p:nvSpPr>
          <p:cNvPr id="2" name="Text 0"/>
          <p:cNvSpPr/>
          <p:nvPr/>
        </p:nvSpPr>
        <p:spPr>
          <a:xfrm>
            <a:off x="952500"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II</a:t>
            </a:r>
            <a:endParaRPr lang="en-US" sz="1800" dirty="0"/>
          </a:p>
        </p:txBody>
      </p:sp>
      <p:sp>
        <p:nvSpPr>
          <p:cNvPr id="3" name="Text 1"/>
          <p:cNvSpPr/>
          <p:nvPr/>
        </p:nvSpPr>
        <p:spPr>
          <a:xfrm>
            <a:off x="1434920" y="533400"/>
            <a:ext cx="1368028"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THE TURN</a:t>
            </a:r>
            <a:endParaRPr lang="en-US" sz="1800" dirty="0"/>
          </a:p>
        </p:txBody>
      </p:sp>
      <p:sp>
        <p:nvSpPr>
          <p:cNvPr id="4" name="Shape 2"/>
          <p:cNvSpPr/>
          <p:nvPr/>
        </p:nvSpPr>
        <p:spPr>
          <a:xfrm>
            <a:off x="15271931" y="666750"/>
            <a:ext cx="457200" cy="38100"/>
          </a:xfrm>
          <a:prstGeom prst="rect">
            <a:avLst/>
          </a:prstGeom>
          <a:solidFill>
            <a:srgbClr val="99A1AE"/>
          </a:solidFill>
          <a:ln/>
        </p:spPr>
      </p:sp>
      <p:sp>
        <p:nvSpPr>
          <p:cNvPr id="5" name="Shape 3"/>
          <p:cNvSpPr/>
          <p:nvPr/>
        </p:nvSpPr>
        <p:spPr>
          <a:xfrm>
            <a:off x="15805331" y="666750"/>
            <a:ext cx="457200" cy="38100"/>
          </a:xfrm>
          <a:prstGeom prst="rect">
            <a:avLst/>
          </a:prstGeom>
          <a:solidFill>
            <a:srgbClr val="FFFFFF"/>
          </a:solidFill>
          <a:ln/>
        </p:spPr>
      </p:sp>
      <p:sp>
        <p:nvSpPr>
          <p:cNvPr id="6" name="Shape 4"/>
          <p:cNvSpPr/>
          <p:nvPr/>
        </p:nvSpPr>
        <p:spPr>
          <a:xfrm>
            <a:off x="16338731" y="666750"/>
            <a:ext cx="457200" cy="38100"/>
          </a:xfrm>
          <a:prstGeom prst="rect">
            <a:avLst/>
          </a:prstGeom>
          <a:solidFill>
            <a:srgbClr val="414750"/>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10</a:t>
            </a:r>
            <a:endParaRPr lang="en-US" sz="1800" dirty="0"/>
          </a:p>
        </p:txBody>
      </p:sp>
      <p:sp>
        <p:nvSpPr>
          <p:cNvPr id="8" name="Text 6"/>
          <p:cNvSpPr/>
          <p:nvPr/>
        </p:nvSpPr>
        <p:spPr>
          <a:xfrm>
            <a:off x="952500" y="1333500"/>
            <a:ext cx="14091762"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FFFFFF"/>
                </a:solidFill>
                <a:latin typeface="Inter" pitchFamily="34" charset="0"/>
                <a:ea typeface="Inter" pitchFamily="34" charset="-122"/>
                <a:cs typeface="Inter" pitchFamily="34" charset="-120"/>
              </a:rPr>
              <a:t>DPO aligns a 3B-active generator on 160 pairs</a:t>
            </a:r>
            <a:endParaRPr lang="en-US" sz="4800" dirty="0"/>
          </a:p>
        </p:txBody>
      </p:sp>
      <p:sp>
        <p:nvSpPr>
          <p:cNvPr id="9" name="Shape 7"/>
          <p:cNvSpPr/>
          <p:nvPr/>
        </p:nvSpPr>
        <p:spPr>
          <a:xfrm>
            <a:off x="952500" y="2495550"/>
            <a:ext cx="2170185" cy="419100"/>
          </a:xfrm>
          <a:prstGeom prst="roundRect">
            <a:avLst>
              <a:gd name="adj" fmla="val 50000"/>
            </a:avLst>
          </a:prstGeom>
          <a:solidFill>
            <a:srgbClr val="1E88E5"/>
          </a:solidFill>
          <a:ln/>
        </p:spPr>
      </p:sp>
      <p:sp>
        <p:nvSpPr>
          <p:cNvPr id="10" name="Text 8"/>
          <p:cNvSpPr/>
          <p:nvPr/>
        </p:nvSpPr>
        <p:spPr>
          <a:xfrm>
            <a:off x="1104900" y="2552700"/>
            <a:ext cx="194158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FFFFFF"/>
                </a:solidFill>
                <a:latin typeface="JetBrains Mono" pitchFamily="34" charset="0"/>
                <a:ea typeface="JetBrains Mono" pitchFamily="34" charset="-122"/>
                <a:cs typeface="JetBrains Mono" pitchFamily="34" charset="-120"/>
              </a:rPr>
              <a:t>02 GENERATOR</a:t>
            </a:r>
            <a:endParaRPr lang="en-US" sz="1800" dirty="0"/>
          </a:p>
        </p:txBody>
      </p:sp>
      <p:sp>
        <p:nvSpPr>
          <p:cNvPr id="11" name="Shape 9"/>
          <p:cNvSpPr/>
          <p:nvPr/>
        </p:nvSpPr>
        <p:spPr>
          <a:xfrm>
            <a:off x="952500" y="3333750"/>
            <a:ext cx="6858000" cy="626702"/>
          </a:xfrm>
          <a:prstGeom prst="roundRect">
            <a:avLst>
              <a:gd name="adj" fmla="val 15199"/>
            </a:avLst>
          </a:prstGeom>
          <a:solidFill>
            <a:srgbClr val="1E88E5">
              <a:alpha val="14000"/>
            </a:srgbClr>
          </a:solidFill>
          <a:ln/>
        </p:spPr>
      </p:sp>
      <p:sp>
        <p:nvSpPr>
          <p:cNvPr id="12" name="Text 10"/>
          <p:cNvSpPr/>
          <p:nvPr/>
        </p:nvSpPr>
        <p:spPr>
          <a:xfrm>
            <a:off x="1181100" y="3486150"/>
            <a:ext cx="1999893" cy="360002"/>
          </a:xfrm>
          <a:prstGeom prst="rect">
            <a:avLst/>
          </a:prstGeom>
          <a:noFill/>
          <a:ln/>
        </p:spPr>
        <p:txBody>
          <a:bodyPr wrap="square" lIns="25400" tIns="25400" rIns="25400" bIns="25400" rtlCol="0" anchor="t">
            <a:normAutofit/>
          </a:bodyPr>
          <a:lstStyle/>
          <a:p>
            <a:pPr algn="l" indent="0" marL="0">
              <a:lnSpc>
                <a:spcPct val="105625"/>
              </a:lnSpc>
              <a:buNone/>
            </a:pPr>
            <a:r>
              <a:rPr lang="en-US" sz="1950" dirty="0">
                <a:solidFill>
                  <a:srgbClr val="FFFFFF"/>
                </a:solidFill>
                <a:latin typeface="Inter" pitchFamily="34" charset="0"/>
                <a:ea typeface="Inter" pitchFamily="34" charset="-122"/>
                <a:cs typeface="Inter" pitchFamily="34" charset="-120"/>
              </a:rPr>
              <a:t>5,000 Premises</a:t>
            </a:r>
            <a:endParaRPr lang="en-US" sz="1950" dirty="0"/>
          </a:p>
        </p:txBody>
      </p:sp>
      <p:sp>
        <p:nvSpPr>
          <p:cNvPr id="13" name="Shape 11"/>
          <p:cNvSpPr/>
          <p:nvPr/>
        </p:nvSpPr>
        <p:spPr>
          <a:xfrm>
            <a:off x="952500" y="4093802"/>
            <a:ext cx="6309339" cy="626702"/>
          </a:xfrm>
          <a:prstGeom prst="roundRect">
            <a:avLst>
              <a:gd name="adj" fmla="val 15199"/>
            </a:avLst>
          </a:prstGeom>
          <a:solidFill>
            <a:srgbClr val="1E88E5">
              <a:alpha val="14000"/>
            </a:srgbClr>
          </a:solidFill>
          <a:ln/>
        </p:spPr>
      </p:sp>
      <p:sp>
        <p:nvSpPr>
          <p:cNvPr id="14" name="Text 12"/>
          <p:cNvSpPr/>
          <p:nvPr/>
        </p:nvSpPr>
        <p:spPr>
          <a:xfrm>
            <a:off x="1181100" y="4246202"/>
            <a:ext cx="5090517" cy="360002"/>
          </a:xfrm>
          <a:prstGeom prst="rect">
            <a:avLst/>
          </a:prstGeom>
          <a:noFill/>
          <a:ln/>
        </p:spPr>
        <p:txBody>
          <a:bodyPr wrap="square" lIns="25400" tIns="25400" rIns="25400" bIns="25400" rtlCol="0" anchor="t">
            <a:normAutofit/>
          </a:bodyPr>
          <a:lstStyle/>
          <a:p>
            <a:pPr algn="l" indent="0" marL="0">
              <a:lnSpc>
                <a:spcPct val="105625"/>
              </a:lnSpc>
              <a:buNone/>
            </a:pPr>
            <a:r>
              <a:rPr lang="en-US" sz="1950" dirty="0">
                <a:solidFill>
                  <a:srgbClr val="FFFFFF"/>
                </a:solidFill>
                <a:latin typeface="Inter" pitchFamily="34" charset="0"/>
                <a:ea typeface="Inter" pitchFamily="34" charset="-122"/>
                <a:cs typeface="Inter" pitchFamily="34" charset="-120"/>
              </a:rPr>
              <a:t>Base MoE + 3 Frontier LLMs Write Plots</a:t>
            </a:r>
            <a:endParaRPr lang="en-US" sz="1950" dirty="0"/>
          </a:p>
        </p:txBody>
      </p:sp>
      <p:sp>
        <p:nvSpPr>
          <p:cNvPr id="15" name="Shape 13"/>
          <p:cNvSpPr/>
          <p:nvPr/>
        </p:nvSpPr>
        <p:spPr>
          <a:xfrm>
            <a:off x="952500" y="4853853"/>
            <a:ext cx="5760677" cy="626702"/>
          </a:xfrm>
          <a:prstGeom prst="roundRect">
            <a:avLst>
              <a:gd name="adj" fmla="val 15199"/>
            </a:avLst>
          </a:prstGeom>
          <a:solidFill>
            <a:srgbClr val="1E88E5">
              <a:alpha val="14000"/>
            </a:srgbClr>
          </a:solidFill>
          <a:ln/>
        </p:spPr>
      </p:sp>
      <p:sp>
        <p:nvSpPr>
          <p:cNvPr id="16" name="Shape 14"/>
          <p:cNvSpPr/>
          <p:nvPr/>
        </p:nvSpPr>
        <p:spPr>
          <a:xfrm>
            <a:off x="1181100" y="5091004"/>
            <a:ext cx="152400" cy="152400"/>
          </a:xfrm>
          <a:prstGeom prst="ellipse">
            <a:avLst/>
          </a:prstGeom>
          <a:solidFill>
            <a:srgbClr val="7C4DFF"/>
          </a:solidFill>
          <a:ln/>
        </p:spPr>
      </p:sp>
      <p:sp>
        <p:nvSpPr>
          <p:cNvPr id="17" name="Text 15"/>
          <p:cNvSpPr/>
          <p:nvPr/>
        </p:nvSpPr>
        <p:spPr>
          <a:xfrm>
            <a:off x="1466850" y="5006254"/>
            <a:ext cx="4093726" cy="360002"/>
          </a:xfrm>
          <a:prstGeom prst="rect">
            <a:avLst/>
          </a:prstGeom>
          <a:noFill/>
          <a:ln/>
        </p:spPr>
        <p:txBody>
          <a:bodyPr wrap="square" lIns="25400" tIns="25400" rIns="25400" bIns="25400" rtlCol="0" anchor="t">
            <a:normAutofit/>
          </a:bodyPr>
          <a:lstStyle/>
          <a:p>
            <a:pPr algn="l" indent="0" marL="0">
              <a:lnSpc>
                <a:spcPct val="105625"/>
              </a:lnSpc>
              <a:buNone/>
            </a:pPr>
            <a:r>
              <a:rPr lang="en-US" sz="1950" dirty="0">
                <a:solidFill>
                  <a:srgbClr val="FFFFFF"/>
                </a:solidFill>
                <a:latin typeface="Inter" pitchFamily="34" charset="0"/>
                <a:ea typeface="Inter" pitchFamily="34" charset="-122"/>
                <a:cs typeface="Inter" pitchFamily="34" charset="-120"/>
              </a:rPr>
              <a:t>Reward Model Scores Each Plot</a:t>
            </a:r>
            <a:endParaRPr lang="en-US" sz="1950" dirty="0"/>
          </a:p>
        </p:txBody>
      </p:sp>
      <p:sp>
        <p:nvSpPr>
          <p:cNvPr id="18" name="Shape 16"/>
          <p:cNvSpPr/>
          <p:nvPr/>
        </p:nvSpPr>
        <p:spPr>
          <a:xfrm>
            <a:off x="952500" y="5613905"/>
            <a:ext cx="5212015" cy="626702"/>
          </a:xfrm>
          <a:prstGeom prst="roundRect">
            <a:avLst>
              <a:gd name="adj" fmla="val 15199"/>
            </a:avLst>
          </a:prstGeom>
          <a:solidFill>
            <a:srgbClr val="1E88E5">
              <a:alpha val="14000"/>
            </a:srgbClr>
          </a:solidFill>
          <a:ln/>
        </p:spPr>
      </p:sp>
      <p:sp>
        <p:nvSpPr>
          <p:cNvPr id="19" name="Text 17"/>
          <p:cNvSpPr/>
          <p:nvPr/>
        </p:nvSpPr>
        <p:spPr>
          <a:xfrm>
            <a:off x="1181100" y="5766305"/>
            <a:ext cx="4228386" cy="360002"/>
          </a:xfrm>
          <a:prstGeom prst="rect">
            <a:avLst/>
          </a:prstGeom>
          <a:noFill/>
          <a:ln/>
        </p:spPr>
        <p:txBody>
          <a:bodyPr wrap="square" lIns="25400" tIns="25400" rIns="25400" bIns="25400" rtlCol="0" anchor="t">
            <a:normAutofit/>
          </a:bodyPr>
          <a:lstStyle/>
          <a:p>
            <a:pPr algn="l" indent="0" marL="0">
              <a:lnSpc>
                <a:spcPct val="105625"/>
              </a:lnSpc>
              <a:buNone/>
            </a:pPr>
            <a:r>
              <a:rPr lang="en-US" sz="1950" dirty="0">
                <a:solidFill>
                  <a:srgbClr val="FFFFFF"/>
                </a:solidFill>
                <a:latin typeface="Inter" pitchFamily="34" charset="0"/>
                <a:ea typeface="Inter" pitchFamily="34" charset="-122"/>
                <a:cs typeface="Inter" pitchFamily="34" charset="-120"/>
              </a:rPr>
              <a:t>Keep: Frontier Best · &gt; 8 · Δ ≥ 0.5</a:t>
            </a:r>
            <a:endParaRPr lang="en-US" sz="1950" dirty="0"/>
          </a:p>
        </p:txBody>
      </p:sp>
      <p:sp>
        <p:nvSpPr>
          <p:cNvPr id="20" name="Shape 18"/>
          <p:cNvSpPr/>
          <p:nvPr/>
        </p:nvSpPr>
        <p:spPr>
          <a:xfrm>
            <a:off x="952500" y="6373957"/>
            <a:ext cx="3017477" cy="626702"/>
          </a:xfrm>
          <a:prstGeom prst="roundRect">
            <a:avLst>
              <a:gd name="adj" fmla="val 15199"/>
            </a:avLst>
          </a:prstGeom>
          <a:solidFill>
            <a:srgbClr val="1E88E5"/>
          </a:solidFill>
          <a:ln/>
        </p:spPr>
      </p:sp>
      <p:sp>
        <p:nvSpPr>
          <p:cNvPr id="21" name="Text 19"/>
          <p:cNvSpPr/>
          <p:nvPr/>
        </p:nvSpPr>
        <p:spPr>
          <a:xfrm>
            <a:off x="1181100" y="6526357"/>
            <a:ext cx="1164107" cy="360002"/>
          </a:xfrm>
          <a:prstGeom prst="rect">
            <a:avLst/>
          </a:prstGeom>
          <a:noFill/>
          <a:ln/>
        </p:spPr>
        <p:txBody>
          <a:bodyPr wrap="square" lIns="25400" tIns="25400" rIns="25400" bIns="25400" rtlCol="0" anchor="t">
            <a:normAutofit/>
          </a:bodyPr>
          <a:lstStyle/>
          <a:p>
            <a:pPr algn="l" indent="0" marL="0">
              <a:lnSpc>
                <a:spcPct val="105625"/>
              </a:lnSpc>
              <a:buNone/>
            </a:pPr>
            <a:r>
              <a:rPr lang="en-US" sz="1950" b="1" dirty="0">
                <a:solidFill>
                  <a:srgbClr val="FFFFFF"/>
                </a:solidFill>
                <a:latin typeface="Inter" pitchFamily="34" charset="0"/>
                <a:ea typeface="Inter" pitchFamily="34" charset="-122"/>
                <a:cs typeface="Inter" pitchFamily="34" charset="-120"/>
              </a:rPr>
              <a:t>160 Pairs</a:t>
            </a:r>
            <a:endParaRPr lang="en-US" sz="1950" dirty="0"/>
          </a:p>
        </p:txBody>
      </p:sp>
      <p:sp>
        <p:nvSpPr>
          <p:cNvPr id="22" name="Text 20"/>
          <p:cNvSpPr/>
          <p:nvPr/>
        </p:nvSpPr>
        <p:spPr>
          <a:xfrm>
            <a:off x="8176239" y="4476750"/>
            <a:ext cx="4877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4B5F6"/>
                </a:solidFill>
                <a:latin typeface="JetBrains Mono" pitchFamily="34" charset="0"/>
                <a:ea typeface="JetBrains Mono" pitchFamily="34" charset="-122"/>
                <a:cs typeface="JetBrains Mono" pitchFamily="34" charset="-120"/>
              </a:rPr>
              <a:t>DPO</a:t>
            </a:r>
            <a:endParaRPr lang="en-US" sz="1800" dirty="0"/>
          </a:p>
        </p:txBody>
      </p:sp>
      <p:sp>
        <p:nvSpPr>
          <p:cNvPr id="23" name="Shape 21"/>
          <p:cNvSpPr/>
          <p:nvPr/>
        </p:nvSpPr>
        <p:spPr>
          <a:xfrm>
            <a:off x="8001000" y="4876800"/>
            <a:ext cx="762000" cy="13855"/>
          </a:xfrm>
          <a:prstGeom prst="rect">
            <a:avLst/>
          </a:prstGeom>
          <a:solidFill>
            <a:srgbClr val="64B5F6"/>
          </a:solidFill>
          <a:ln/>
        </p:spPr>
      </p:sp>
      <p:sp>
        <p:nvSpPr>
          <p:cNvPr id="24" name="Shape 22"/>
          <p:cNvSpPr/>
          <p:nvPr/>
        </p:nvSpPr>
        <p:spPr>
          <a:xfrm>
            <a:off x="8669482" y="4804930"/>
            <a:ext cx="131618" cy="152400"/>
          </a:xfrm>
          <a:prstGeom prst="rect">
            <a:avLst/>
          </a:prstGeom>
          <a:solidFill>
            <a:srgbClr val="64B5F6"/>
          </a:solidFill>
          <a:ln/>
        </p:spPr>
      </p:sp>
      <p:sp>
        <p:nvSpPr>
          <p:cNvPr id="25" name="Text 23"/>
          <p:cNvSpPr/>
          <p:nvPr/>
        </p:nvSpPr>
        <p:spPr>
          <a:xfrm>
            <a:off x="9048750" y="3429000"/>
            <a:ext cx="44005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4B5F6"/>
                </a:solidFill>
                <a:latin typeface="JetBrains Mono" pitchFamily="34" charset="0"/>
                <a:ea typeface="JetBrains Mono" pitchFamily="34" charset="-122"/>
                <a:cs typeface="JetBrains Mono" pitchFamily="34" charset="-120"/>
              </a:rPr>
              <a:t>Qwen-3-30B-A3B</a:t>
            </a:r>
            <a:endParaRPr lang="en-US" sz="1800" dirty="0"/>
          </a:p>
        </p:txBody>
      </p:sp>
      <p:sp>
        <p:nvSpPr>
          <p:cNvPr id="26" name="Shape 24"/>
          <p:cNvSpPr/>
          <p:nvPr/>
        </p:nvSpPr>
        <p:spPr>
          <a:xfrm>
            <a:off x="9048750" y="3943350"/>
            <a:ext cx="609600" cy="609600"/>
          </a:xfrm>
          <a:prstGeom prst="roundRect">
            <a:avLst>
              <a:gd name="adj" fmla="val 12500"/>
            </a:avLst>
          </a:prstGeom>
          <a:solidFill>
            <a:srgbClr val="1E88E5"/>
          </a:solidFill>
          <a:ln/>
        </p:spPr>
      </p:sp>
      <p:sp>
        <p:nvSpPr>
          <p:cNvPr id="27" name="Shape 25"/>
          <p:cNvSpPr/>
          <p:nvPr/>
        </p:nvSpPr>
        <p:spPr>
          <a:xfrm>
            <a:off x="9772650" y="3943350"/>
            <a:ext cx="609600" cy="609600"/>
          </a:xfrm>
          <a:prstGeom prst="roundRect">
            <a:avLst>
              <a:gd name="adj" fmla="val 12500"/>
            </a:avLst>
          </a:prstGeom>
          <a:ln w="13855">
            <a:solidFill>
              <a:srgbClr val="414750"/>
            </a:solidFill>
            <a:prstDash val="solid"/>
          </a:ln>
        </p:spPr>
      </p:sp>
      <p:sp>
        <p:nvSpPr>
          <p:cNvPr id="28" name="Shape 26"/>
          <p:cNvSpPr/>
          <p:nvPr/>
        </p:nvSpPr>
        <p:spPr>
          <a:xfrm>
            <a:off x="10496550" y="3943350"/>
            <a:ext cx="609600" cy="609600"/>
          </a:xfrm>
          <a:prstGeom prst="roundRect">
            <a:avLst>
              <a:gd name="adj" fmla="val 12500"/>
            </a:avLst>
          </a:prstGeom>
          <a:ln w="13855">
            <a:solidFill>
              <a:srgbClr val="414750"/>
            </a:solidFill>
            <a:prstDash val="solid"/>
          </a:ln>
        </p:spPr>
      </p:sp>
      <p:sp>
        <p:nvSpPr>
          <p:cNvPr id="29" name="Shape 27"/>
          <p:cNvSpPr/>
          <p:nvPr/>
        </p:nvSpPr>
        <p:spPr>
          <a:xfrm>
            <a:off x="11220450" y="3943350"/>
            <a:ext cx="609600" cy="609600"/>
          </a:xfrm>
          <a:prstGeom prst="roundRect">
            <a:avLst>
              <a:gd name="adj" fmla="val 12500"/>
            </a:avLst>
          </a:prstGeom>
          <a:ln w="13855">
            <a:solidFill>
              <a:srgbClr val="414750"/>
            </a:solidFill>
            <a:prstDash val="solid"/>
          </a:ln>
        </p:spPr>
      </p:sp>
      <p:sp>
        <p:nvSpPr>
          <p:cNvPr id="30" name="Shape 28"/>
          <p:cNvSpPr/>
          <p:nvPr/>
        </p:nvSpPr>
        <p:spPr>
          <a:xfrm>
            <a:off x="11944350" y="3943350"/>
            <a:ext cx="609600" cy="609600"/>
          </a:xfrm>
          <a:prstGeom prst="roundRect">
            <a:avLst>
              <a:gd name="adj" fmla="val 12500"/>
            </a:avLst>
          </a:prstGeom>
          <a:ln w="13855">
            <a:solidFill>
              <a:srgbClr val="414750"/>
            </a:solidFill>
            <a:prstDash val="solid"/>
          </a:ln>
        </p:spPr>
      </p:sp>
      <p:sp>
        <p:nvSpPr>
          <p:cNvPr id="31" name="Shape 29"/>
          <p:cNvSpPr/>
          <p:nvPr/>
        </p:nvSpPr>
        <p:spPr>
          <a:xfrm>
            <a:off x="9048750" y="4667250"/>
            <a:ext cx="609600" cy="609600"/>
          </a:xfrm>
          <a:prstGeom prst="roundRect">
            <a:avLst>
              <a:gd name="adj" fmla="val 12500"/>
            </a:avLst>
          </a:prstGeom>
          <a:ln w="13855">
            <a:solidFill>
              <a:srgbClr val="414750"/>
            </a:solidFill>
            <a:prstDash val="solid"/>
          </a:ln>
        </p:spPr>
      </p:sp>
      <p:sp>
        <p:nvSpPr>
          <p:cNvPr id="32" name="Shape 30"/>
          <p:cNvSpPr/>
          <p:nvPr/>
        </p:nvSpPr>
        <p:spPr>
          <a:xfrm>
            <a:off x="9772650" y="4667250"/>
            <a:ext cx="609600" cy="609600"/>
          </a:xfrm>
          <a:prstGeom prst="roundRect">
            <a:avLst>
              <a:gd name="adj" fmla="val 12500"/>
            </a:avLst>
          </a:prstGeom>
          <a:ln w="13855">
            <a:solidFill>
              <a:srgbClr val="414750"/>
            </a:solidFill>
            <a:prstDash val="solid"/>
          </a:ln>
        </p:spPr>
      </p:sp>
      <p:sp>
        <p:nvSpPr>
          <p:cNvPr id="33" name="Shape 31"/>
          <p:cNvSpPr/>
          <p:nvPr/>
        </p:nvSpPr>
        <p:spPr>
          <a:xfrm>
            <a:off x="10496550" y="4667250"/>
            <a:ext cx="609600" cy="609600"/>
          </a:xfrm>
          <a:prstGeom prst="roundRect">
            <a:avLst>
              <a:gd name="adj" fmla="val 12500"/>
            </a:avLst>
          </a:prstGeom>
          <a:ln w="13855">
            <a:solidFill>
              <a:srgbClr val="414750"/>
            </a:solidFill>
            <a:prstDash val="solid"/>
          </a:ln>
        </p:spPr>
      </p:sp>
      <p:sp>
        <p:nvSpPr>
          <p:cNvPr id="34" name="Shape 32"/>
          <p:cNvSpPr/>
          <p:nvPr/>
        </p:nvSpPr>
        <p:spPr>
          <a:xfrm>
            <a:off x="11220450" y="4667250"/>
            <a:ext cx="609600" cy="609600"/>
          </a:xfrm>
          <a:prstGeom prst="roundRect">
            <a:avLst>
              <a:gd name="adj" fmla="val 12500"/>
            </a:avLst>
          </a:prstGeom>
          <a:ln w="13855">
            <a:solidFill>
              <a:srgbClr val="414750"/>
            </a:solidFill>
            <a:prstDash val="solid"/>
          </a:ln>
        </p:spPr>
      </p:sp>
      <p:sp>
        <p:nvSpPr>
          <p:cNvPr id="35" name="Shape 33"/>
          <p:cNvSpPr/>
          <p:nvPr/>
        </p:nvSpPr>
        <p:spPr>
          <a:xfrm>
            <a:off x="11944350" y="4667250"/>
            <a:ext cx="609600" cy="609600"/>
          </a:xfrm>
          <a:prstGeom prst="roundRect">
            <a:avLst>
              <a:gd name="adj" fmla="val 12500"/>
            </a:avLst>
          </a:prstGeom>
          <a:ln w="13855">
            <a:solidFill>
              <a:srgbClr val="414750"/>
            </a:solidFill>
            <a:prstDash val="solid"/>
          </a:ln>
        </p:spPr>
      </p:sp>
      <p:sp>
        <p:nvSpPr>
          <p:cNvPr id="36" name="Text 34"/>
          <p:cNvSpPr/>
          <p:nvPr/>
        </p:nvSpPr>
        <p:spPr>
          <a:xfrm>
            <a:off x="9048750" y="5486400"/>
            <a:ext cx="4400550" cy="495300"/>
          </a:xfrm>
          <a:prstGeom prst="rect">
            <a:avLst/>
          </a:prstGeom>
          <a:noFill/>
          <a:ln/>
        </p:spPr>
        <p:txBody>
          <a:bodyPr wrap="square" lIns="25400" tIns="25400" rIns="25400" bIns="25400" rtlCol="0" anchor="t">
            <a:normAutofit/>
          </a:bodyPr>
          <a:lstStyle/>
          <a:p>
            <a:pPr algn="l" indent="0" marL="0">
              <a:buNone/>
            </a:pPr>
            <a:r>
              <a:rPr lang="en-US" sz="3000" b="1" spc="-45" kern="0" dirty="0">
                <a:solidFill>
                  <a:srgbClr val="FFFFFF"/>
                </a:solidFill>
                <a:latin typeface="Inter" pitchFamily="34" charset="0"/>
                <a:ea typeface="Inter" pitchFamily="34" charset="-122"/>
                <a:cs typeface="Inter" pitchFamily="34" charset="-120"/>
              </a:rPr>
              <a:t>3B / 30B Active</a:t>
            </a:r>
            <a:endParaRPr lang="en-US" sz="3000" dirty="0"/>
          </a:p>
        </p:txBody>
      </p:sp>
      <p:sp>
        <p:nvSpPr>
          <p:cNvPr id="37" name="Shape 35"/>
          <p:cNvSpPr/>
          <p:nvPr/>
        </p:nvSpPr>
        <p:spPr>
          <a:xfrm>
            <a:off x="9048750" y="6153150"/>
            <a:ext cx="2688540" cy="471055"/>
          </a:xfrm>
          <a:prstGeom prst="roundRect">
            <a:avLst>
              <a:gd name="adj" fmla="val 50000"/>
            </a:avLst>
          </a:prstGeom>
          <a:ln w="6927">
            <a:solidFill>
              <a:srgbClr val="6B7380"/>
            </a:solidFill>
            <a:prstDash val="solid"/>
          </a:ln>
        </p:spPr>
      </p:sp>
      <p:sp>
        <p:nvSpPr>
          <p:cNvPr id="38" name="Text 36"/>
          <p:cNvSpPr/>
          <p:nvPr/>
        </p:nvSpPr>
        <p:spPr>
          <a:xfrm>
            <a:off x="9227127" y="6236277"/>
            <a:ext cx="241244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DPO Only · No SFT</a:t>
            </a:r>
            <a:endParaRPr lang="en-US" sz="1800" dirty="0"/>
          </a:p>
        </p:txBody>
      </p:sp>
      <p:sp>
        <p:nvSpPr>
          <p:cNvPr id="39" name="Shape 37"/>
          <p:cNvSpPr/>
          <p:nvPr/>
        </p:nvSpPr>
        <p:spPr>
          <a:xfrm>
            <a:off x="12192000" y="6096000"/>
            <a:ext cx="6667500" cy="6667500"/>
          </a:xfrm>
          <a:prstGeom prst="ellipse">
            <a:avLst/>
          </a:prstGeom>
          <a:gradFill rotWithShape="1">
            <a:gsLst>
              <a:gs pos="0">
                <a:srgbClr val="FFFFFF">
                  <a:alpha val="12000"/>
                </a:srgbClr>
              </a:gs>
              <a:gs pos="100000">
                <a:srgbClr val="FFFFFF">
                  <a:alpha val="0"/>
                </a:srgbClr>
              </a:gs>
            </a:gsLst>
            <a:path path="circle">
              <a:fillToRect l="50000" t="50000" r="50000" b="50000"/>
            </a:path>
          </a:gradFill>
          <a:ln/>
        </p:spPr>
      </p:sp>
      <p:sp>
        <p:nvSpPr>
          <p:cNvPr id="40" name="Shape 38"/>
          <p:cNvSpPr/>
          <p:nvPr/>
        </p:nvSpPr>
        <p:spPr>
          <a:xfrm>
            <a:off x="14861057" y="5643563"/>
            <a:ext cx="2664943" cy="738188"/>
          </a:xfrm>
          <a:prstGeom prst="roundRect">
            <a:avLst>
              <a:gd name="adj" fmla="val 41290"/>
            </a:avLst>
          </a:prstGeom>
          <a:solidFill>
            <a:srgbClr val="FFFFFF"/>
          </a:solidFill>
          <a:ln/>
        </p:spPr>
      </p:sp>
      <p:sp>
        <p:nvSpPr>
          <p:cNvPr id="41" name="Text 39"/>
          <p:cNvSpPr/>
          <p:nvPr/>
        </p:nvSpPr>
        <p:spPr>
          <a:xfrm>
            <a:off x="15146807" y="5834063"/>
            <a:ext cx="2169643" cy="384464"/>
          </a:xfrm>
          <a:prstGeom prst="rect">
            <a:avLst/>
          </a:prstGeom>
          <a:noFill/>
          <a:ln/>
        </p:spPr>
        <p:txBody>
          <a:bodyPr wrap="square" lIns="0" tIns="0" rIns="0" bIns="0" rtlCol="0" anchor="t">
            <a:normAutofit/>
          </a:bodyPr>
          <a:lstStyle/>
          <a:p>
            <a:pPr algn="l" indent="0" marL="0">
              <a:lnSpc>
                <a:spcPct val="103125"/>
              </a:lnSpc>
              <a:buNone/>
            </a:pPr>
            <a:r>
              <a:rPr lang="en-US" sz="2250" dirty="0">
                <a:solidFill>
                  <a:srgbClr val="16191F"/>
                </a:solidFill>
                <a:latin typeface="Inter" pitchFamily="34" charset="0"/>
                <a:ea typeface="Inter" pitchFamily="34" charset="-122"/>
                <a:cs typeface="Inter" pitchFamily="34" charset="-120"/>
              </a:rPr>
              <a:t>Only 160 pairs?</a:t>
            </a:r>
            <a:endParaRPr lang="en-US" sz="2250" dirty="0"/>
          </a:p>
        </p:txBody>
      </p:sp>
      <p:sp>
        <p:nvSpPr>
          <p:cNvPr id="42" name="Shape 40"/>
          <p:cNvSpPr/>
          <p:nvPr/>
        </p:nvSpPr>
        <p:spPr>
          <a:xfrm>
            <a:off x="15925800" y="6457950"/>
            <a:ext cx="171450" cy="171450"/>
          </a:xfrm>
          <a:prstGeom prst="ellipse">
            <a:avLst/>
          </a:prstGeom>
          <a:solidFill>
            <a:srgbClr val="FFFFFF"/>
          </a:solidFill>
          <a:ln/>
        </p:spPr>
      </p:sp>
      <p:sp>
        <p:nvSpPr>
          <p:cNvPr id="43" name="Shape 41"/>
          <p:cNvSpPr/>
          <p:nvPr/>
        </p:nvSpPr>
        <p:spPr>
          <a:xfrm>
            <a:off x="16135350" y="6724650"/>
            <a:ext cx="95250" cy="95250"/>
          </a:xfrm>
          <a:prstGeom prst="ellipse">
            <a:avLst/>
          </a:prstGeom>
          <a:solidFill>
            <a:srgbClr val="FFFFFF"/>
          </a:solidFill>
          <a:ln/>
        </p:spPr>
      </p:sp>
      <p:pic>
        <p:nvPicPr>
          <p:cNvPr id="44" name="Image 0" descr="preencoded.png">    </p:cNvPr>
          <p:cNvPicPr>
            <a:picLocks noChangeAspect="1"/>
          </p:cNvPicPr>
          <p:nvPr/>
        </p:nvPicPr>
        <p:blipFill>
          <a:blip r:embed="rId1"/>
          <a:stretch>
            <a:fillRect/>
          </a:stretch>
        </p:blipFill>
        <p:spPr>
          <a:xfrm>
            <a:off x="14300272" y="7048500"/>
            <a:ext cx="3130478" cy="3238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91F"/>
        </a:solidFill>
      </p:bgPr>
    </p:bg>
    <p:spTree>
      <p:nvGrpSpPr>
        <p:cNvPr id="1" name=""/>
        <p:cNvGrpSpPr/>
        <p:nvPr/>
      </p:nvGrpSpPr>
      <p:grpSpPr>
        <a:xfrm>
          <a:off x="0" y="0"/>
          <a:ext cx="0" cy="0"/>
          <a:chOff x="0" y="0"/>
          <a:chExt cx="0" cy="0"/>
        </a:xfrm>
      </p:grpSpPr>
      <p:sp>
        <p:nvSpPr>
          <p:cNvPr id="2" name="Text 0"/>
          <p:cNvSpPr/>
          <p:nvPr/>
        </p:nvSpPr>
        <p:spPr>
          <a:xfrm>
            <a:off x="952500"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II</a:t>
            </a:r>
            <a:endParaRPr lang="en-US" sz="1800" dirty="0"/>
          </a:p>
        </p:txBody>
      </p:sp>
      <p:sp>
        <p:nvSpPr>
          <p:cNvPr id="3" name="Text 1"/>
          <p:cNvSpPr/>
          <p:nvPr/>
        </p:nvSpPr>
        <p:spPr>
          <a:xfrm>
            <a:off x="1434920" y="533400"/>
            <a:ext cx="1368028"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THE TURN</a:t>
            </a:r>
            <a:endParaRPr lang="en-US" sz="1800" dirty="0"/>
          </a:p>
        </p:txBody>
      </p:sp>
      <p:sp>
        <p:nvSpPr>
          <p:cNvPr id="4" name="Shape 2"/>
          <p:cNvSpPr/>
          <p:nvPr/>
        </p:nvSpPr>
        <p:spPr>
          <a:xfrm>
            <a:off x="15271931" y="666750"/>
            <a:ext cx="457200" cy="38100"/>
          </a:xfrm>
          <a:prstGeom prst="rect">
            <a:avLst/>
          </a:prstGeom>
          <a:solidFill>
            <a:srgbClr val="99A1AE"/>
          </a:solidFill>
          <a:ln/>
        </p:spPr>
      </p:sp>
      <p:sp>
        <p:nvSpPr>
          <p:cNvPr id="5" name="Shape 3"/>
          <p:cNvSpPr/>
          <p:nvPr/>
        </p:nvSpPr>
        <p:spPr>
          <a:xfrm>
            <a:off x="15805331" y="666750"/>
            <a:ext cx="457200" cy="38100"/>
          </a:xfrm>
          <a:prstGeom prst="rect">
            <a:avLst/>
          </a:prstGeom>
          <a:solidFill>
            <a:srgbClr val="FFFFFF"/>
          </a:solidFill>
          <a:ln/>
        </p:spPr>
      </p:sp>
      <p:sp>
        <p:nvSpPr>
          <p:cNvPr id="6" name="Shape 4"/>
          <p:cNvSpPr/>
          <p:nvPr/>
        </p:nvSpPr>
        <p:spPr>
          <a:xfrm>
            <a:off x="16338731" y="666750"/>
            <a:ext cx="457200" cy="38100"/>
          </a:xfrm>
          <a:prstGeom prst="rect">
            <a:avLst/>
          </a:prstGeom>
          <a:solidFill>
            <a:srgbClr val="414750"/>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11</a:t>
            </a:r>
            <a:endParaRPr lang="en-US" sz="1800" dirty="0"/>
          </a:p>
        </p:txBody>
      </p:sp>
      <p:sp>
        <p:nvSpPr>
          <p:cNvPr id="8" name="Text 6"/>
          <p:cNvSpPr/>
          <p:nvPr/>
        </p:nvSpPr>
        <p:spPr>
          <a:xfrm>
            <a:off x="952500" y="1333500"/>
            <a:ext cx="15246072"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FFFFFF"/>
                </a:solidFill>
                <a:latin typeface="Inter" pitchFamily="34" charset="0"/>
                <a:ea typeface="Inter" pitchFamily="34" charset="-122"/>
                <a:cs typeface="Inter" pitchFamily="34" charset="-120"/>
              </a:rPr>
              <a:t>A cross-family jury evaluates plots independently</a:t>
            </a:r>
            <a:endParaRPr lang="en-US" sz="4800" dirty="0"/>
          </a:p>
        </p:txBody>
      </p:sp>
      <p:sp>
        <p:nvSpPr>
          <p:cNvPr id="9" name="Shape 7"/>
          <p:cNvSpPr/>
          <p:nvPr/>
        </p:nvSpPr>
        <p:spPr>
          <a:xfrm>
            <a:off x="952500" y="2495550"/>
            <a:ext cx="1393031" cy="419100"/>
          </a:xfrm>
          <a:prstGeom prst="roundRect">
            <a:avLst>
              <a:gd name="adj" fmla="val 50000"/>
            </a:avLst>
          </a:prstGeom>
          <a:solidFill>
            <a:srgbClr val="0F9D58"/>
          </a:solidFill>
          <a:ln/>
        </p:spPr>
      </p:sp>
      <p:sp>
        <p:nvSpPr>
          <p:cNvPr id="10" name="Text 8"/>
          <p:cNvSpPr/>
          <p:nvPr/>
        </p:nvSpPr>
        <p:spPr>
          <a:xfrm>
            <a:off x="1104900" y="2552700"/>
            <a:ext cx="1164431"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FFFFFF"/>
                </a:solidFill>
                <a:latin typeface="JetBrains Mono" pitchFamily="34" charset="0"/>
                <a:ea typeface="JetBrains Mono" pitchFamily="34" charset="-122"/>
                <a:cs typeface="JetBrains Mono" pitchFamily="34" charset="-120"/>
              </a:rPr>
              <a:t>03 JURY</a:t>
            </a:r>
            <a:endParaRPr lang="en-US" sz="1800" dirty="0"/>
          </a:p>
        </p:txBody>
      </p:sp>
      <p:sp>
        <p:nvSpPr>
          <p:cNvPr id="11" name="Shape 9"/>
          <p:cNvSpPr/>
          <p:nvPr/>
        </p:nvSpPr>
        <p:spPr>
          <a:xfrm>
            <a:off x="952500" y="4095750"/>
            <a:ext cx="1619250" cy="1714500"/>
          </a:xfrm>
          <a:prstGeom prst="roundRect">
            <a:avLst>
              <a:gd name="adj" fmla="val 9412"/>
            </a:avLst>
          </a:prstGeom>
          <a:ln w="6927">
            <a:solidFill>
              <a:srgbClr val="FFFFFF">
                <a:alpha val="20000"/>
              </a:srgbClr>
            </a:solidFill>
            <a:prstDash val="solid"/>
          </a:ln>
        </p:spPr>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95425" y="4460298"/>
            <a:ext cx="533400" cy="533400"/>
          </a:xfrm>
          <a:prstGeom prst="rect">
            <a:avLst/>
          </a:prstGeom>
        </p:spPr>
      </p:pic>
      <p:sp>
        <p:nvSpPr>
          <p:cNvPr id="13" name="Text 10"/>
          <p:cNvSpPr/>
          <p:nvPr/>
        </p:nvSpPr>
        <p:spPr>
          <a:xfrm>
            <a:off x="1512851" y="5127048"/>
            <a:ext cx="574639" cy="356755"/>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Inter" pitchFamily="34" charset="0"/>
                <a:ea typeface="Inter" pitchFamily="34" charset="-122"/>
                <a:cs typeface="Inter" pitchFamily="34" charset="-120"/>
              </a:rPr>
              <a:t>Plot</a:t>
            </a:r>
            <a:endParaRPr lang="en-US" sz="2100" dirty="0"/>
          </a:p>
        </p:txBody>
      </p:sp>
      <p:sp>
        <p:nvSpPr>
          <p:cNvPr id="14" name="Shape 11"/>
          <p:cNvSpPr/>
          <p:nvPr/>
        </p:nvSpPr>
        <p:spPr>
          <a:xfrm>
            <a:off x="2571750" y="4943475"/>
            <a:ext cx="381000" cy="19050"/>
          </a:xfrm>
          <a:prstGeom prst="rect">
            <a:avLst/>
          </a:prstGeom>
          <a:solidFill>
            <a:srgbClr val="99A1AE"/>
          </a:solidFill>
          <a:ln/>
        </p:spPr>
      </p:sp>
      <p:sp>
        <p:nvSpPr>
          <p:cNvPr id="15" name="Shape 12"/>
          <p:cNvSpPr/>
          <p:nvPr/>
        </p:nvSpPr>
        <p:spPr>
          <a:xfrm>
            <a:off x="2952750" y="3333750"/>
            <a:ext cx="3429000" cy="3238500"/>
          </a:xfrm>
          <a:prstGeom prst="roundRect">
            <a:avLst>
              <a:gd name="adj" fmla="val 4706"/>
            </a:avLst>
          </a:prstGeom>
          <a:solidFill>
            <a:srgbClr val="0F9D58">
              <a:alpha val="8000"/>
            </a:srgbClr>
          </a:solidFill>
          <a:ln w="6927">
            <a:solidFill>
              <a:srgbClr val="0F9D58">
                <a:alpha val="60000"/>
              </a:srgbClr>
            </a:solidFill>
            <a:prstDash val="solid"/>
          </a:ln>
        </p:spPr>
      </p:sp>
      <p:sp>
        <p:nvSpPr>
          <p:cNvPr id="16" name="Text 13"/>
          <p:cNvSpPr/>
          <p:nvPr/>
        </p:nvSpPr>
        <p:spPr>
          <a:xfrm>
            <a:off x="3226377" y="3569277"/>
            <a:ext cx="31699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CC38A"/>
                </a:solidFill>
                <a:latin typeface="JetBrains Mono" pitchFamily="34" charset="0"/>
                <a:ea typeface="JetBrains Mono" pitchFamily="34" charset="-122"/>
                <a:cs typeface="JetBrains Mono" pitchFamily="34" charset="-120"/>
              </a:rPr>
              <a:t>1 · 5 JURORS</a:t>
            </a:r>
            <a:endParaRPr lang="en-US" sz="1800" dirty="0"/>
          </a:p>
        </p:txBody>
      </p:sp>
      <p:sp>
        <p:nvSpPr>
          <p:cNvPr id="17" name="Shape 14"/>
          <p:cNvSpPr/>
          <p:nvPr/>
        </p:nvSpPr>
        <p:spPr>
          <a:xfrm>
            <a:off x="3226377" y="4071505"/>
            <a:ext cx="152400" cy="152400"/>
          </a:xfrm>
          <a:prstGeom prst="ellipse">
            <a:avLst/>
          </a:prstGeom>
          <a:solidFill>
            <a:srgbClr val="4CC38A"/>
          </a:solidFill>
          <a:ln/>
        </p:spPr>
      </p:sp>
      <p:sp>
        <p:nvSpPr>
          <p:cNvPr id="18" name="Text 15"/>
          <p:cNvSpPr/>
          <p:nvPr/>
        </p:nvSpPr>
        <p:spPr>
          <a:xfrm>
            <a:off x="3512127" y="3988377"/>
            <a:ext cx="1012140" cy="356755"/>
          </a:xfrm>
          <a:prstGeom prst="rect">
            <a:avLst/>
          </a:prstGeom>
          <a:noFill/>
          <a:ln/>
        </p:spPr>
        <p:txBody>
          <a:bodyPr wrap="square" lIns="25400" tIns="25400" rIns="25400" bIns="25400" rtlCol="0" anchor="t">
            <a:normAutofit/>
          </a:bodyPr>
          <a:lstStyle/>
          <a:p>
            <a:pPr algn="l" indent="0" marL="0">
              <a:buNone/>
            </a:pPr>
            <a:r>
              <a:rPr lang="en-US" sz="2100" dirty="0">
                <a:solidFill>
                  <a:srgbClr val="FFFFFF"/>
                </a:solidFill>
                <a:latin typeface="Inter" pitchFamily="34" charset="0"/>
                <a:ea typeface="Inter" pitchFamily="34" charset="-122"/>
                <a:cs typeface="Inter" pitchFamily="34" charset="-120"/>
              </a:rPr>
              <a:t>OpenAI</a:t>
            </a:r>
            <a:endParaRPr lang="en-US" sz="2100" dirty="0"/>
          </a:p>
        </p:txBody>
      </p:sp>
      <p:sp>
        <p:nvSpPr>
          <p:cNvPr id="19" name="Shape 16"/>
          <p:cNvSpPr/>
          <p:nvPr/>
        </p:nvSpPr>
        <p:spPr>
          <a:xfrm>
            <a:off x="3226377" y="4504459"/>
            <a:ext cx="152400" cy="152400"/>
          </a:xfrm>
          <a:prstGeom prst="ellipse">
            <a:avLst/>
          </a:prstGeom>
          <a:solidFill>
            <a:srgbClr val="4CC38A"/>
          </a:solidFill>
          <a:ln/>
        </p:spPr>
      </p:sp>
      <p:sp>
        <p:nvSpPr>
          <p:cNvPr id="20" name="Text 17"/>
          <p:cNvSpPr/>
          <p:nvPr/>
        </p:nvSpPr>
        <p:spPr>
          <a:xfrm>
            <a:off x="3512127" y="4421332"/>
            <a:ext cx="978694" cy="356755"/>
          </a:xfrm>
          <a:prstGeom prst="rect">
            <a:avLst/>
          </a:prstGeom>
          <a:noFill/>
          <a:ln/>
        </p:spPr>
        <p:txBody>
          <a:bodyPr wrap="square" lIns="25400" tIns="25400" rIns="25400" bIns="25400" rtlCol="0" anchor="t">
            <a:normAutofit/>
          </a:bodyPr>
          <a:lstStyle/>
          <a:p>
            <a:pPr algn="l" indent="0" marL="0">
              <a:buNone/>
            </a:pPr>
            <a:r>
              <a:rPr lang="en-US" sz="2100" dirty="0">
                <a:solidFill>
                  <a:srgbClr val="FFFFFF"/>
                </a:solidFill>
                <a:latin typeface="Inter" pitchFamily="34" charset="0"/>
                <a:ea typeface="Inter" pitchFamily="34" charset="-122"/>
                <a:cs typeface="Inter" pitchFamily="34" charset="-120"/>
              </a:rPr>
              <a:t>Google</a:t>
            </a:r>
            <a:endParaRPr lang="en-US" sz="2100" dirty="0"/>
          </a:p>
        </p:txBody>
      </p:sp>
      <p:sp>
        <p:nvSpPr>
          <p:cNvPr id="21" name="Shape 18"/>
          <p:cNvSpPr/>
          <p:nvPr/>
        </p:nvSpPr>
        <p:spPr>
          <a:xfrm>
            <a:off x="3226377" y="4937414"/>
            <a:ext cx="152400" cy="152400"/>
          </a:xfrm>
          <a:prstGeom prst="ellipse">
            <a:avLst/>
          </a:prstGeom>
          <a:solidFill>
            <a:srgbClr val="4CC38A"/>
          </a:solidFill>
          <a:ln/>
        </p:spPr>
      </p:sp>
      <p:sp>
        <p:nvSpPr>
          <p:cNvPr id="22" name="Text 19"/>
          <p:cNvSpPr/>
          <p:nvPr/>
        </p:nvSpPr>
        <p:spPr>
          <a:xfrm>
            <a:off x="3512127" y="4854287"/>
            <a:ext cx="924574" cy="356755"/>
          </a:xfrm>
          <a:prstGeom prst="rect">
            <a:avLst/>
          </a:prstGeom>
          <a:noFill/>
          <a:ln/>
        </p:spPr>
        <p:txBody>
          <a:bodyPr wrap="square" lIns="25400" tIns="25400" rIns="25400" bIns="25400" rtlCol="0" anchor="t">
            <a:normAutofit/>
          </a:bodyPr>
          <a:lstStyle/>
          <a:p>
            <a:pPr algn="l" indent="0" marL="0">
              <a:buNone/>
            </a:pPr>
            <a:r>
              <a:rPr lang="en-US" sz="2100" dirty="0">
                <a:solidFill>
                  <a:srgbClr val="FFFFFF"/>
                </a:solidFill>
                <a:latin typeface="Inter" pitchFamily="34" charset="0"/>
                <a:ea typeface="Inter" pitchFamily="34" charset="-122"/>
                <a:cs typeface="Inter" pitchFamily="34" charset="-120"/>
              </a:rPr>
              <a:t>Mistral</a:t>
            </a:r>
            <a:endParaRPr lang="en-US" sz="2100" dirty="0"/>
          </a:p>
        </p:txBody>
      </p:sp>
      <p:sp>
        <p:nvSpPr>
          <p:cNvPr id="23" name="Shape 20"/>
          <p:cNvSpPr/>
          <p:nvPr/>
        </p:nvSpPr>
        <p:spPr>
          <a:xfrm>
            <a:off x="3226377" y="5370368"/>
            <a:ext cx="152400" cy="152400"/>
          </a:xfrm>
          <a:prstGeom prst="ellipse">
            <a:avLst/>
          </a:prstGeom>
          <a:solidFill>
            <a:srgbClr val="4CC38A"/>
          </a:solidFill>
          <a:ln/>
        </p:spPr>
      </p:sp>
      <p:sp>
        <p:nvSpPr>
          <p:cNvPr id="24" name="Text 21"/>
          <p:cNvSpPr/>
          <p:nvPr/>
        </p:nvSpPr>
        <p:spPr>
          <a:xfrm>
            <a:off x="3512127" y="5287241"/>
            <a:ext cx="980967" cy="356755"/>
          </a:xfrm>
          <a:prstGeom prst="rect">
            <a:avLst/>
          </a:prstGeom>
          <a:noFill/>
          <a:ln/>
        </p:spPr>
        <p:txBody>
          <a:bodyPr wrap="square" lIns="25400" tIns="25400" rIns="25400" bIns="25400" rtlCol="0" anchor="t">
            <a:normAutofit/>
          </a:bodyPr>
          <a:lstStyle/>
          <a:p>
            <a:pPr algn="l" indent="0" marL="0">
              <a:buNone/>
            </a:pPr>
            <a:r>
              <a:rPr lang="en-US" sz="2100" dirty="0">
                <a:solidFill>
                  <a:srgbClr val="FFFFFF"/>
                </a:solidFill>
                <a:latin typeface="Inter" pitchFamily="34" charset="0"/>
                <a:ea typeface="Inter" pitchFamily="34" charset="-122"/>
                <a:cs typeface="Inter" pitchFamily="34" charset="-120"/>
              </a:rPr>
              <a:t>NVIDIA</a:t>
            </a:r>
            <a:endParaRPr lang="en-US" sz="2100" dirty="0"/>
          </a:p>
        </p:txBody>
      </p:sp>
      <p:sp>
        <p:nvSpPr>
          <p:cNvPr id="25" name="Shape 22"/>
          <p:cNvSpPr/>
          <p:nvPr/>
        </p:nvSpPr>
        <p:spPr>
          <a:xfrm>
            <a:off x="3226377" y="5803323"/>
            <a:ext cx="152400" cy="152400"/>
          </a:xfrm>
          <a:prstGeom prst="ellipse">
            <a:avLst/>
          </a:prstGeom>
          <a:solidFill>
            <a:srgbClr val="4CC38A"/>
          </a:solidFill>
          <a:ln/>
        </p:spPr>
      </p:sp>
      <p:sp>
        <p:nvSpPr>
          <p:cNvPr id="26" name="Text 23"/>
          <p:cNvSpPr/>
          <p:nvPr/>
        </p:nvSpPr>
        <p:spPr>
          <a:xfrm>
            <a:off x="3512127" y="5720196"/>
            <a:ext cx="787328" cy="356755"/>
          </a:xfrm>
          <a:prstGeom prst="rect">
            <a:avLst/>
          </a:prstGeom>
          <a:noFill/>
          <a:ln/>
        </p:spPr>
        <p:txBody>
          <a:bodyPr wrap="square" lIns="25400" tIns="25400" rIns="25400" bIns="25400" rtlCol="0" anchor="t">
            <a:normAutofit/>
          </a:bodyPr>
          <a:lstStyle/>
          <a:p>
            <a:pPr algn="l" indent="0" marL="0">
              <a:buNone/>
            </a:pPr>
            <a:r>
              <a:rPr lang="en-US" sz="2100" dirty="0">
                <a:solidFill>
                  <a:srgbClr val="FFFFFF"/>
                </a:solidFill>
                <a:latin typeface="Inter" pitchFamily="34" charset="0"/>
                <a:ea typeface="Inter" pitchFamily="34" charset="-122"/>
                <a:cs typeface="Inter" pitchFamily="34" charset="-120"/>
              </a:rPr>
              <a:t>Zhipu</a:t>
            </a:r>
            <a:endParaRPr lang="en-US" sz="2100" dirty="0"/>
          </a:p>
        </p:txBody>
      </p:sp>
      <p:sp>
        <p:nvSpPr>
          <p:cNvPr id="27" name="Shape 24"/>
          <p:cNvSpPr/>
          <p:nvPr/>
        </p:nvSpPr>
        <p:spPr>
          <a:xfrm>
            <a:off x="6381750" y="4943475"/>
            <a:ext cx="381000" cy="19050"/>
          </a:xfrm>
          <a:prstGeom prst="rect">
            <a:avLst/>
          </a:prstGeom>
          <a:solidFill>
            <a:srgbClr val="99A1AE"/>
          </a:solidFill>
          <a:ln/>
        </p:spPr>
      </p:sp>
      <p:sp>
        <p:nvSpPr>
          <p:cNvPr id="28" name="Shape 25"/>
          <p:cNvSpPr/>
          <p:nvPr/>
        </p:nvSpPr>
        <p:spPr>
          <a:xfrm>
            <a:off x="6762750" y="3905250"/>
            <a:ext cx="2762250" cy="2095500"/>
          </a:xfrm>
          <a:prstGeom prst="roundRect">
            <a:avLst>
              <a:gd name="adj" fmla="val 7273"/>
            </a:avLst>
          </a:prstGeom>
          <a:ln w="6927">
            <a:solidFill>
              <a:srgbClr val="FFFFFF">
                <a:alpha val="20000"/>
              </a:srgbClr>
            </a:solidFill>
            <a:prstDash val="solid"/>
          </a:ln>
        </p:spPr>
      </p:sp>
      <p:pic>
        <p:nvPicPr>
          <p:cNvPr id="2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6377" y="4140777"/>
            <a:ext cx="457200" cy="457200"/>
          </a:xfrm>
          <a:prstGeom prst="rect">
            <a:avLst/>
          </a:prstGeom>
        </p:spPr>
      </p:pic>
      <p:sp>
        <p:nvSpPr>
          <p:cNvPr id="30" name="Text 26"/>
          <p:cNvSpPr/>
          <p:nvPr/>
        </p:nvSpPr>
        <p:spPr>
          <a:xfrm>
            <a:off x="7036377" y="4731327"/>
            <a:ext cx="243649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CC38A"/>
                </a:solidFill>
                <a:latin typeface="JetBrains Mono" pitchFamily="34" charset="0"/>
                <a:ea typeface="JetBrains Mono" pitchFamily="34" charset="-122"/>
                <a:cs typeface="JetBrains Mono" pitchFamily="34" charset="-120"/>
              </a:rPr>
              <a:t>2 · DELIBERATE</a:t>
            </a:r>
            <a:endParaRPr lang="en-US" sz="1800" dirty="0"/>
          </a:p>
        </p:txBody>
      </p:sp>
      <p:sp>
        <p:nvSpPr>
          <p:cNvPr id="31" name="Text 27"/>
          <p:cNvSpPr/>
          <p:nvPr/>
        </p:nvSpPr>
        <p:spPr>
          <a:xfrm>
            <a:off x="7036377" y="5169477"/>
            <a:ext cx="2436495" cy="356755"/>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Inter" pitchFamily="34" charset="0"/>
                <a:ea typeface="Inter" pitchFamily="34" charset="-122"/>
                <a:cs typeface="Inter" pitchFamily="34" charset="-120"/>
              </a:rPr>
              <a:t>Gap ≥ 2 Points</a:t>
            </a:r>
            <a:endParaRPr lang="en-US" sz="2100" dirty="0"/>
          </a:p>
        </p:txBody>
      </p:sp>
      <p:sp>
        <p:nvSpPr>
          <p:cNvPr id="32" name="Shape 28"/>
          <p:cNvSpPr/>
          <p:nvPr/>
        </p:nvSpPr>
        <p:spPr>
          <a:xfrm>
            <a:off x="9525000" y="4943475"/>
            <a:ext cx="381000" cy="19050"/>
          </a:xfrm>
          <a:prstGeom prst="rect">
            <a:avLst/>
          </a:prstGeom>
          <a:solidFill>
            <a:srgbClr val="99A1AE"/>
          </a:solidFill>
          <a:ln/>
        </p:spPr>
      </p:sp>
      <p:sp>
        <p:nvSpPr>
          <p:cNvPr id="33" name="Shape 29"/>
          <p:cNvSpPr/>
          <p:nvPr/>
        </p:nvSpPr>
        <p:spPr>
          <a:xfrm>
            <a:off x="9906000" y="3905250"/>
            <a:ext cx="2857500" cy="2095500"/>
          </a:xfrm>
          <a:prstGeom prst="roundRect">
            <a:avLst>
              <a:gd name="adj" fmla="val 7273"/>
            </a:avLst>
          </a:prstGeom>
          <a:ln w="6927">
            <a:solidFill>
              <a:srgbClr val="FFFFFF">
                <a:alpha val="20000"/>
              </a:srgbClr>
            </a:solidFill>
            <a:prstDash val="solid"/>
          </a:ln>
        </p:spPr>
      </p:sp>
      <p:pic>
        <p:nvPicPr>
          <p:cNvPr id="3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79627" y="4140777"/>
            <a:ext cx="457200" cy="457200"/>
          </a:xfrm>
          <a:prstGeom prst="rect">
            <a:avLst/>
          </a:prstGeom>
        </p:spPr>
      </p:pic>
      <p:sp>
        <p:nvSpPr>
          <p:cNvPr id="35" name="Text 30"/>
          <p:cNvSpPr/>
          <p:nvPr/>
        </p:nvSpPr>
        <p:spPr>
          <a:xfrm>
            <a:off x="10179627" y="4731327"/>
            <a:ext cx="254127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CC38A"/>
                </a:solidFill>
                <a:latin typeface="JetBrains Mono" pitchFamily="34" charset="0"/>
                <a:ea typeface="JetBrains Mono" pitchFamily="34" charset="-122"/>
                <a:cs typeface="JetBrains Mono" pitchFamily="34" charset="-120"/>
              </a:rPr>
              <a:t>3 · JUDGE</a:t>
            </a:r>
            <a:endParaRPr lang="en-US" sz="1800" dirty="0"/>
          </a:p>
        </p:txBody>
      </p:sp>
      <p:sp>
        <p:nvSpPr>
          <p:cNvPr id="36" name="Text 31"/>
          <p:cNvSpPr/>
          <p:nvPr/>
        </p:nvSpPr>
        <p:spPr>
          <a:xfrm>
            <a:off x="10179627" y="5169477"/>
            <a:ext cx="2386445" cy="675409"/>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Inter" pitchFamily="34" charset="0"/>
                <a:ea typeface="Inter" pitchFamily="34" charset="-122"/>
                <a:cs typeface="Inter" pitchFamily="34" charset="-120"/>
              </a:rPr>
              <a:t>Llama · 6th Family</a:t>
            </a:r>
            <a:endParaRPr lang="en-US" sz="2100" dirty="0"/>
          </a:p>
        </p:txBody>
      </p:sp>
      <p:sp>
        <p:nvSpPr>
          <p:cNvPr id="37" name="Shape 32"/>
          <p:cNvSpPr/>
          <p:nvPr/>
        </p:nvSpPr>
        <p:spPr>
          <a:xfrm>
            <a:off x="952500" y="7239000"/>
            <a:ext cx="5695950" cy="9525"/>
          </a:xfrm>
          <a:prstGeom prst="rect">
            <a:avLst/>
          </a:prstGeom>
          <a:solidFill>
            <a:srgbClr val="414750"/>
          </a:solidFill>
          <a:ln/>
        </p:spPr>
      </p:sp>
      <p:pic>
        <p:nvPicPr>
          <p:cNvPr id="3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2500" y="7645112"/>
            <a:ext cx="609600" cy="609600"/>
          </a:xfrm>
          <a:prstGeom prst="rect">
            <a:avLst/>
          </a:prstGeom>
        </p:spPr>
      </p:pic>
      <p:sp>
        <p:nvSpPr>
          <p:cNvPr id="39" name="Text 33"/>
          <p:cNvSpPr/>
          <p:nvPr/>
        </p:nvSpPr>
        <p:spPr>
          <a:xfrm>
            <a:off x="1809750" y="7512627"/>
            <a:ext cx="3553182" cy="550718"/>
          </a:xfrm>
          <a:prstGeom prst="rect">
            <a:avLst/>
          </a:prstGeom>
          <a:noFill/>
          <a:ln/>
        </p:spPr>
        <p:txBody>
          <a:bodyPr wrap="square" lIns="25400" tIns="25400" rIns="25400" bIns="25400" rtlCol="0" anchor="t">
            <a:normAutofit/>
          </a:bodyPr>
          <a:lstStyle/>
          <a:p>
            <a:pPr algn="l" indent="0" marL="0">
              <a:buNone/>
            </a:pPr>
            <a:r>
              <a:rPr lang="en-US" sz="3300" b="1" spc="-66" kern="0" dirty="0">
                <a:solidFill>
                  <a:srgbClr val="FFFFFF"/>
                </a:solidFill>
                <a:latin typeface="Inter" pitchFamily="34" charset="0"/>
                <a:ea typeface="Inter" pitchFamily="34" charset="-122"/>
                <a:cs typeface="Inter" pitchFamily="34" charset="-120"/>
              </a:rPr>
              <a:t>10 Criteria / NQD</a:t>
            </a:r>
            <a:endParaRPr lang="en-US" sz="3300" dirty="0"/>
          </a:p>
        </p:txBody>
      </p:sp>
      <p:sp>
        <p:nvSpPr>
          <p:cNvPr id="40" name="Text 34"/>
          <p:cNvSpPr/>
          <p:nvPr/>
        </p:nvSpPr>
        <p:spPr>
          <a:xfrm>
            <a:off x="1809750" y="8082396"/>
            <a:ext cx="355318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9A1AE"/>
                </a:solidFill>
                <a:latin typeface="JetBrains Mono" pitchFamily="34" charset="0"/>
                <a:ea typeface="JetBrains Mono" pitchFamily="34" charset="-122"/>
                <a:cs typeface="JetBrains Mono" pitchFamily="34" charset="-120"/>
              </a:rPr>
              <a:t>Each 0–1 · Summed to 10</a:t>
            </a:r>
            <a:endParaRPr lang="en-US" sz="1800" dirty="0"/>
          </a:p>
        </p:txBody>
      </p:sp>
      <p:sp>
        <p:nvSpPr>
          <p:cNvPr id="41" name="Shape 35"/>
          <p:cNvSpPr/>
          <p:nvPr/>
        </p:nvSpPr>
        <p:spPr>
          <a:xfrm>
            <a:off x="7258050" y="7239000"/>
            <a:ext cx="5695950" cy="9525"/>
          </a:xfrm>
          <a:prstGeom prst="rect">
            <a:avLst/>
          </a:prstGeom>
          <a:solidFill>
            <a:srgbClr val="414750"/>
          </a:solidFill>
          <a:ln/>
        </p:spPr>
      </p:sp>
      <p:pic>
        <p:nvPicPr>
          <p:cNvPr id="4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58050" y="7645112"/>
            <a:ext cx="609600" cy="609600"/>
          </a:xfrm>
          <a:prstGeom prst="rect">
            <a:avLst/>
          </a:prstGeom>
        </p:spPr>
      </p:pic>
      <p:sp>
        <p:nvSpPr>
          <p:cNvPr id="43" name="Text 36"/>
          <p:cNvSpPr/>
          <p:nvPr/>
        </p:nvSpPr>
        <p:spPr>
          <a:xfrm>
            <a:off x="8115300" y="7512627"/>
            <a:ext cx="3621048" cy="550718"/>
          </a:xfrm>
          <a:prstGeom prst="rect">
            <a:avLst/>
          </a:prstGeom>
          <a:noFill/>
          <a:ln/>
        </p:spPr>
        <p:txBody>
          <a:bodyPr wrap="square" lIns="25400" tIns="25400" rIns="25400" bIns="25400" rtlCol="0" anchor="t">
            <a:normAutofit/>
          </a:bodyPr>
          <a:lstStyle/>
          <a:p>
            <a:pPr algn="l" indent="0" marL="0">
              <a:buNone/>
            </a:pPr>
            <a:r>
              <a:rPr lang="en-US" sz="3300" b="1" spc="-66" kern="0" dirty="0">
                <a:solidFill>
                  <a:srgbClr val="FFFFFF"/>
                </a:solidFill>
                <a:latin typeface="Inter" pitchFamily="34" charset="0"/>
                <a:ea typeface="Inter" pitchFamily="34" charset="-122"/>
                <a:cs typeface="Inter" pitchFamily="34" charset="-120"/>
              </a:rPr>
              <a:t>94–99% Verified</a:t>
            </a:r>
            <a:endParaRPr lang="en-US" sz="3300" dirty="0"/>
          </a:p>
        </p:txBody>
      </p:sp>
      <p:sp>
        <p:nvSpPr>
          <p:cNvPr id="44" name="Text 37"/>
          <p:cNvSpPr/>
          <p:nvPr/>
        </p:nvSpPr>
        <p:spPr>
          <a:xfrm>
            <a:off x="8115300" y="8082396"/>
            <a:ext cx="362104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9A1AE"/>
                </a:solidFill>
                <a:latin typeface="JetBrains Mono" pitchFamily="34" charset="0"/>
                <a:ea typeface="JetBrains Mono" pitchFamily="34" charset="-122"/>
                <a:cs typeface="JetBrains Mono" pitchFamily="34" charset="-120"/>
              </a:rPr>
              <a:t>Evidence Quoted Verbatim</a:t>
            </a:r>
            <a:endParaRPr lang="en-US" sz="1800" dirty="0"/>
          </a:p>
        </p:txBody>
      </p:sp>
      <p:sp>
        <p:nvSpPr>
          <p:cNvPr id="45" name="Shape 38"/>
          <p:cNvSpPr/>
          <p:nvPr/>
        </p:nvSpPr>
        <p:spPr>
          <a:xfrm>
            <a:off x="12192000" y="6096000"/>
            <a:ext cx="6667500" cy="6667500"/>
          </a:xfrm>
          <a:prstGeom prst="ellipse">
            <a:avLst/>
          </a:prstGeom>
          <a:gradFill rotWithShape="1">
            <a:gsLst>
              <a:gs pos="0">
                <a:srgbClr val="FFFFFF">
                  <a:alpha val="12000"/>
                </a:srgbClr>
              </a:gs>
              <a:gs pos="100000">
                <a:srgbClr val="FFFFFF">
                  <a:alpha val="0"/>
                </a:srgbClr>
              </a:gs>
            </a:gsLst>
            <a:path path="circle">
              <a:fillToRect l="50000" t="50000" r="50000" b="50000"/>
            </a:path>
          </a:gradFill>
          <a:ln/>
        </p:spPr>
      </p:sp>
      <p:sp>
        <p:nvSpPr>
          <p:cNvPr id="46" name="Shape 39"/>
          <p:cNvSpPr/>
          <p:nvPr/>
        </p:nvSpPr>
        <p:spPr>
          <a:xfrm>
            <a:off x="13668159" y="5643563"/>
            <a:ext cx="3857842" cy="738188"/>
          </a:xfrm>
          <a:prstGeom prst="roundRect">
            <a:avLst>
              <a:gd name="adj" fmla="val 41290"/>
            </a:avLst>
          </a:prstGeom>
          <a:solidFill>
            <a:srgbClr val="FFFFFF"/>
          </a:solidFill>
          <a:ln/>
        </p:spPr>
      </p:sp>
      <p:sp>
        <p:nvSpPr>
          <p:cNvPr id="47" name="Text 40"/>
          <p:cNvSpPr/>
          <p:nvPr/>
        </p:nvSpPr>
        <p:spPr>
          <a:xfrm>
            <a:off x="13953909" y="5834063"/>
            <a:ext cx="3384932" cy="384464"/>
          </a:xfrm>
          <a:prstGeom prst="rect">
            <a:avLst/>
          </a:prstGeom>
          <a:noFill/>
          <a:ln/>
        </p:spPr>
        <p:txBody>
          <a:bodyPr wrap="square" lIns="0" tIns="0" rIns="0" bIns="0" rtlCol="0" anchor="t">
            <a:normAutofit/>
          </a:bodyPr>
          <a:lstStyle/>
          <a:p>
            <a:pPr algn="l" indent="0" marL="0">
              <a:lnSpc>
                <a:spcPct val="103125"/>
              </a:lnSpc>
              <a:buNone/>
            </a:pPr>
            <a:r>
              <a:rPr lang="en-US" sz="2250" dirty="0">
                <a:solidFill>
                  <a:srgbClr val="16191F"/>
                </a:solidFill>
                <a:latin typeface="Inter" pitchFamily="34" charset="0"/>
                <a:ea typeface="Inter" pitchFamily="34" charset="-122"/>
                <a:cs typeface="Inter" pitchFamily="34" charset="-120"/>
              </a:rPr>
              <a:t>Who judges the judges?</a:t>
            </a:r>
            <a:endParaRPr lang="en-US" sz="2250" dirty="0"/>
          </a:p>
        </p:txBody>
      </p:sp>
      <p:sp>
        <p:nvSpPr>
          <p:cNvPr id="48" name="Shape 41"/>
          <p:cNvSpPr/>
          <p:nvPr/>
        </p:nvSpPr>
        <p:spPr>
          <a:xfrm>
            <a:off x="15925800" y="6457950"/>
            <a:ext cx="171450" cy="171450"/>
          </a:xfrm>
          <a:prstGeom prst="ellipse">
            <a:avLst/>
          </a:prstGeom>
          <a:solidFill>
            <a:srgbClr val="FFFFFF"/>
          </a:solidFill>
          <a:ln/>
        </p:spPr>
      </p:sp>
      <p:sp>
        <p:nvSpPr>
          <p:cNvPr id="49" name="Shape 42"/>
          <p:cNvSpPr/>
          <p:nvPr/>
        </p:nvSpPr>
        <p:spPr>
          <a:xfrm>
            <a:off x="16135350" y="6724650"/>
            <a:ext cx="95250" cy="95250"/>
          </a:xfrm>
          <a:prstGeom prst="ellipse">
            <a:avLst/>
          </a:prstGeom>
          <a:solidFill>
            <a:srgbClr val="FFFFFF"/>
          </a:solidFill>
          <a:ln/>
        </p:spPr>
      </p:sp>
      <p:pic>
        <p:nvPicPr>
          <p:cNvPr id="50" name="Image 5" descr="preencoded.png">    </p:cNvPr>
          <p:cNvPicPr>
            <a:picLocks noChangeAspect="1"/>
          </p:cNvPicPr>
          <p:nvPr/>
        </p:nvPicPr>
        <p:blipFill>
          <a:blip r:embed="rId11"/>
          <a:stretch>
            <a:fillRect/>
          </a:stretch>
        </p:blipFill>
        <p:spPr>
          <a:xfrm>
            <a:off x="14321379" y="6953250"/>
            <a:ext cx="3014121" cy="33337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91F"/>
        </a:solidFill>
      </p:bgPr>
    </p:bg>
    <p:spTree>
      <p:nvGrpSpPr>
        <p:cNvPr id="1" name=""/>
        <p:cNvGrpSpPr/>
        <p:nvPr/>
      </p:nvGrpSpPr>
      <p:grpSpPr>
        <a:xfrm>
          <a:off x="0" y="0"/>
          <a:ext cx="0" cy="0"/>
          <a:chOff x="0" y="0"/>
          <a:chExt cx="0" cy="0"/>
        </a:xfrm>
      </p:grpSpPr>
      <p:sp>
        <p:nvSpPr>
          <p:cNvPr id="2" name="Text 0"/>
          <p:cNvSpPr/>
          <p:nvPr/>
        </p:nvSpPr>
        <p:spPr>
          <a:xfrm>
            <a:off x="952500" y="533400"/>
            <a:ext cx="1539002"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PLOTTWIST</a:t>
            </a:r>
            <a:endParaRPr lang="en-US" sz="1800" dirty="0"/>
          </a:p>
        </p:txBody>
      </p:sp>
      <p:sp>
        <p:nvSpPr>
          <p:cNvPr id="3" name="Shape 1"/>
          <p:cNvSpPr/>
          <p:nvPr/>
        </p:nvSpPr>
        <p:spPr>
          <a:xfrm>
            <a:off x="15271931" y="666750"/>
            <a:ext cx="457200" cy="38100"/>
          </a:xfrm>
          <a:prstGeom prst="rect">
            <a:avLst/>
          </a:prstGeom>
          <a:solidFill>
            <a:srgbClr val="99A1AE"/>
          </a:solidFill>
          <a:ln/>
        </p:spPr>
      </p:sp>
      <p:sp>
        <p:nvSpPr>
          <p:cNvPr id="4" name="Shape 2"/>
          <p:cNvSpPr/>
          <p:nvPr/>
        </p:nvSpPr>
        <p:spPr>
          <a:xfrm>
            <a:off x="15805331" y="666750"/>
            <a:ext cx="457200" cy="38100"/>
          </a:xfrm>
          <a:prstGeom prst="rect">
            <a:avLst/>
          </a:prstGeom>
          <a:solidFill>
            <a:srgbClr val="99A1AE"/>
          </a:solidFill>
          <a:ln/>
        </p:spPr>
      </p:sp>
      <p:sp>
        <p:nvSpPr>
          <p:cNvPr id="5" name="Shape 3"/>
          <p:cNvSpPr/>
          <p:nvPr/>
        </p:nvSpPr>
        <p:spPr>
          <a:xfrm>
            <a:off x="16338731" y="666750"/>
            <a:ext cx="457200" cy="38100"/>
          </a:xfrm>
          <a:prstGeom prst="rect">
            <a:avLst/>
          </a:prstGeom>
          <a:solidFill>
            <a:srgbClr val="FFFFFF"/>
          </a:solidFill>
          <a:ln/>
        </p:spPr>
      </p:sp>
      <p:sp>
        <p:nvSpPr>
          <p:cNvPr id="6" name="Text 4"/>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12</a:t>
            </a:r>
            <a:endParaRPr lang="en-US" sz="1800" dirty="0"/>
          </a:p>
        </p:txBody>
      </p:sp>
      <p:sp>
        <p:nvSpPr>
          <p:cNvPr id="7" name="Text 5"/>
          <p:cNvSpPr/>
          <p:nvPr/>
        </p:nvSpPr>
        <p:spPr>
          <a:xfrm>
            <a:off x="952500" y="3143250"/>
            <a:ext cx="9992916" cy="391391"/>
          </a:xfrm>
          <a:prstGeom prst="rect">
            <a:avLst/>
          </a:prstGeom>
          <a:noFill/>
          <a:ln/>
        </p:spPr>
        <p:txBody>
          <a:bodyPr wrap="square" lIns="25400" tIns="25400" rIns="25400" bIns="25400" rtlCol="0" anchor="t">
            <a:normAutofit/>
          </a:bodyPr>
          <a:lstStyle/>
          <a:p>
            <a:pPr algn="l" indent="0" marL="0">
              <a:buNone/>
            </a:pPr>
            <a:r>
              <a:rPr lang="en-US" sz="2100" spc="420" kern="0" dirty="0">
                <a:solidFill>
                  <a:srgbClr val="99A1AE"/>
                </a:solidFill>
                <a:latin typeface="JetBrains Mono" pitchFamily="34" charset="0"/>
                <a:ea typeface="JetBrains Mono" pitchFamily="34" charset="-122"/>
                <a:cs typeface="JetBrains Mono" pitchFamily="34" charset="-120"/>
              </a:rPr>
              <a:t>ACT III</a:t>
            </a:r>
            <a:endParaRPr lang="en-US" sz="2100" dirty="0"/>
          </a:p>
        </p:txBody>
      </p:sp>
      <p:sp>
        <p:nvSpPr>
          <p:cNvPr id="8" name="Text 6"/>
          <p:cNvSpPr/>
          <p:nvPr/>
        </p:nvSpPr>
        <p:spPr>
          <a:xfrm>
            <a:off x="952500" y="3763241"/>
            <a:ext cx="9992916" cy="1485900"/>
          </a:xfrm>
          <a:prstGeom prst="rect">
            <a:avLst/>
          </a:prstGeom>
          <a:noFill/>
          <a:ln/>
        </p:spPr>
        <p:txBody>
          <a:bodyPr wrap="none" lIns="25400" tIns="25400" rIns="25400" bIns="25400" rtlCol="0" anchor="t">
            <a:normAutofit/>
          </a:bodyPr>
          <a:lstStyle/>
          <a:p>
            <a:pPr algn="l" indent="0" marL="0">
              <a:lnSpc>
                <a:spcPct val="78571"/>
              </a:lnSpc>
              <a:buNone/>
            </a:pPr>
            <a:r>
              <a:rPr lang="en-US" sz="12000" b="1" spc="-480" kern="0" dirty="0">
                <a:solidFill>
                  <a:srgbClr val="FFFFFF"/>
                </a:solidFill>
                <a:latin typeface="Inter" pitchFamily="34" charset="0"/>
                <a:ea typeface="Inter" pitchFamily="34" charset="-122"/>
                <a:cs typeface="Inter" pitchFamily="34" charset="-120"/>
              </a:rPr>
              <a:t>The Prestige</a:t>
            </a:r>
            <a:endParaRPr lang="en-US" sz="12000" dirty="0"/>
          </a:p>
        </p:txBody>
      </p:sp>
      <p:sp>
        <p:nvSpPr>
          <p:cNvPr id="9" name="Text 7"/>
          <p:cNvSpPr/>
          <p:nvPr/>
        </p:nvSpPr>
        <p:spPr>
          <a:xfrm>
            <a:off x="952500" y="5477741"/>
            <a:ext cx="9992916" cy="533400"/>
          </a:xfrm>
          <a:prstGeom prst="rect">
            <a:avLst/>
          </a:prstGeom>
          <a:noFill/>
          <a:ln/>
        </p:spPr>
        <p:txBody>
          <a:bodyPr wrap="square" lIns="25400" tIns="25400" rIns="25400" bIns="25400" rtlCol="0" anchor="t">
            <a:normAutofit/>
          </a:bodyPr>
          <a:lstStyle/>
          <a:p>
            <a:pPr algn="l" indent="0" marL="0">
              <a:lnSpc>
                <a:spcPct val="108333"/>
              </a:lnSpc>
              <a:buNone/>
            </a:pPr>
            <a:r>
              <a:rPr lang="en-US" sz="3000" dirty="0">
                <a:solidFill>
                  <a:srgbClr val="99A1AE"/>
                </a:solidFill>
                <a:latin typeface="Inter" pitchFamily="34" charset="0"/>
                <a:ea typeface="Inter" pitchFamily="34" charset="-122"/>
                <a:cs typeface="Inter" pitchFamily="34" charset="-120"/>
              </a:rPr>
              <a:t>What a model with 3B active parameters achieves.</a:t>
            </a:r>
            <a:endParaRPr lang="en-US" sz="3000" dirty="0"/>
          </a:p>
        </p:txBody>
      </p:sp>
      <p:sp>
        <p:nvSpPr>
          <p:cNvPr id="10" name="Shape 8"/>
          <p:cNvSpPr/>
          <p:nvPr/>
        </p:nvSpPr>
        <p:spPr>
          <a:xfrm>
            <a:off x="8953500" y="3048000"/>
            <a:ext cx="9525000" cy="9525000"/>
          </a:xfrm>
          <a:prstGeom prst="ellipse">
            <a:avLst/>
          </a:prstGeom>
          <a:gradFill rotWithShape="1">
            <a:gsLst>
              <a:gs pos="0">
                <a:srgbClr val="FFFFFF">
                  <a:alpha val="13000"/>
                </a:srgbClr>
              </a:gs>
              <a:gs pos="100000">
                <a:srgbClr val="FFFFFF">
                  <a:alpha val="0"/>
                </a:srgbClr>
              </a:gs>
            </a:gsLst>
            <a:path path="circle">
              <a:fillToRect l="50000" t="50000" r="50000" b="50000"/>
            </a:path>
          </a:gradFill>
          <a:ln/>
        </p:spPr>
      </p:sp>
      <p:pic>
        <p:nvPicPr>
          <p:cNvPr id="11" name="Image 0" descr="preencoded.png">    </p:cNvPr>
          <p:cNvPicPr>
            <a:picLocks noChangeAspect="1"/>
          </p:cNvPicPr>
          <p:nvPr/>
        </p:nvPicPr>
        <p:blipFill>
          <a:blip r:embed="rId1"/>
          <a:stretch>
            <a:fillRect/>
          </a:stretch>
        </p:blipFill>
        <p:spPr>
          <a:xfrm>
            <a:off x="11348172" y="4572000"/>
            <a:ext cx="4653828" cy="5715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533400"/>
            <a:ext cx="54260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III</a:t>
            </a:r>
            <a:endParaRPr lang="en-US" sz="1800" dirty="0"/>
          </a:p>
        </p:txBody>
      </p:sp>
      <p:sp>
        <p:nvSpPr>
          <p:cNvPr id="3" name="Text 1"/>
          <p:cNvSpPr/>
          <p:nvPr/>
        </p:nvSpPr>
        <p:spPr>
          <a:xfrm>
            <a:off x="1590350" y="533400"/>
            <a:ext cx="2051923"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THE PRESTIGE</a:t>
            </a:r>
            <a:endParaRPr lang="en-US" sz="1800" dirty="0"/>
          </a:p>
        </p:txBody>
      </p:sp>
      <p:sp>
        <p:nvSpPr>
          <p:cNvPr id="4" name="Shape 2"/>
          <p:cNvSpPr/>
          <p:nvPr/>
        </p:nvSpPr>
        <p:spPr>
          <a:xfrm>
            <a:off x="15271931" y="666750"/>
            <a:ext cx="457200" cy="38100"/>
          </a:xfrm>
          <a:prstGeom prst="rect">
            <a:avLst/>
          </a:prstGeom>
          <a:solidFill>
            <a:srgbClr val="99A1AE"/>
          </a:solidFill>
          <a:ln/>
        </p:spPr>
      </p:sp>
      <p:sp>
        <p:nvSpPr>
          <p:cNvPr id="5" name="Shape 3"/>
          <p:cNvSpPr/>
          <p:nvPr/>
        </p:nvSpPr>
        <p:spPr>
          <a:xfrm>
            <a:off x="15805331" y="666750"/>
            <a:ext cx="457200" cy="38100"/>
          </a:xfrm>
          <a:prstGeom prst="rect">
            <a:avLst/>
          </a:prstGeom>
          <a:solidFill>
            <a:srgbClr val="99A1AE"/>
          </a:solidFill>
          <a:ln/>
        </p:spPr>
      </p:sp>
      <p:sp>
        <p:nvSpPr>
          <p:cNvPr id="6" name="Shape 4"/>
          <p:cNvSpPr/>
          <p:nvPr/>
        </p:nvSpPr>
        <p:spPr>
          <a:xfrm>
            <a:off x="16338731" y="666750"/>
            <a:ext cx="457200" cy="38100"/>
          </a:xfrm>
          <a:prstGeom prst="rect">
            <a:avLst/>
          </a:prstGeom>
          <a:solidFill>
            <a:srgbClr val="16191F"/>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13</a:t>
            </a:r>
            <a:endParaRPr lang="en-US" sz="1800" dirty="0"/>
          </a:p>
        </p:txBody>
      </p:sp>
      <p:sp>
        <p:nvSpPr>
          <p:cNvPr id="8" name="Text 6"/>
          <p:cNvSpPr/>
          <p:nvPr/>
        </p:nvSpPr>
        <p:spPr>
          <a:xfrm>
            <a:off x="952500" y="1333500"/>
            <a:ext cx="14485621"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16191F"/>
                </a:solidFill>
                <a:latin typeface="Inter" pitchFamily="34" charset="0"/>
                <a:ea typeface="Inter" pitchFamily="34" charset="-122"/>
                <a:cs typeface="Inter" pitchFamily="34" charset="-120"/>
              </a:rPr>
              <a:t>Both evaluators separate classics from Razzies</a:t>
            </a:r>
            <a:endParaRPr lang="en-US" sz="4800" dirty="0"/>
          </a:p>
        </p:txBody>
      </p:sp>
      <p:sp>
        <p:nvSpPr>
          <p:cNvPr id="9" name="Text 7"/>
          <p:cNvSpPr/>
          <p:nvPr/>
        </p:nvSpPr>
        <p:spPr>
          <a:xfrm>
            <a:off x="952500" y="2286000"/>
            <a:ext cx="11051024" cy="438150"/>
          </a:xfrm>
          <a:prstGeom prst="rect">
            <a:avLst/>
          </a:prstGeom>
          <a:noFill/>
          <a:ln/>
        </p:spPr>
        <p:txBody>
          <a:bodyPr wrap="square" lIns="25400" tIns="25400" rIns="25400" bIns="25400" rtlCol="0" anchor="t">
            <a:normAutofit/>
          </a:bodyPr>
          <a:lstStyle/>
          <a:p>
            <a:pPr algn="l" indent="0" marL="0">
              <a:lnSpc>
                <a:spcPct val="115500"/>
              </a:lnSpc>
              <a:buNone/>
            </a:pPr>
            <a:r>
              <a:rPr lang="en-US" sz="2250" dirty="0">
                <a:solidFill>
                  <a:srgbClr val="414750"/>
                </a:solidFill>
                <a:latin typeface="Inter" pitchFamily="34" charset="0"/>
                <a:ea typeface="Inter" pitchFamily="34" charset="-122"/>
                <a:cs typeface="Inter" pitchFamily="34" charset="-120"/>
              </a:rPr>
              <a:t>101 Greatest Screenplays (GSAT) vs Razzie Winners · 1,000 Balanced Runs</a:t>
            </a:r>
            <a:endParaRPr lang="en-US" sz="2250" dirty="0"/>
          </a:p>
        </p:txBody>
      </p:sp>
      <p:sp>
        <p:nvSpPr>
          <p:cNvPr id="10" name="Shape 8"/>
          <p:cNvSpPr/>
          <p:nvPr/>
        </p:nvSpPr>
        <p:spPr>
          <a:xfrm>
            <a:off x="10629792" y="3486150"/>
            <a:ext cx="190500" cy="190500"/>
          </a:xfrm>
          <a:prstGeom prst="ellipse">
            <a:avLst/>
          </a:prstGeom>
          <a:ln w="27709">
            <a:solidFill>
              <a:srgbClr val="16191F"/>
            </a:solidFill>
            <a:prstDash val="solid"/>
          </a:ln>
        </p:spPr>
      </p:sp>
      <p:sp>
        <p:nvSpPr>
          <p:cNvPr id="11" name="Text 9"/>
          <p:cNvSpPr/>
          <p:nvPr/>
        </p:nvSpPr>
        <p:spPr>
          <a:xfrm>
            <a:off x="10915542" y="3429000"/>
            <a:ext cx="899246" cy="342900"/>
          </a:xfrm>
          <a:prstGeom prst="rect">
            <a:avLst/>
          </a:prstGeom>
          <a:noFill/>
          <a:ln/>
        </p:spPr>
        <p:txBody>
          <a:bodyPr wrap="square" lIns="0" tIns="0" rIns="0" bIns="0" rtlCol="0" anchor="t">
            <a:normAutofit/>
          </a:bodyPr>
          <a:lstStyle/>
          <a:p>
            <a:pPr algn="l" indent="0" marL="0">
              <a:buNone/>
            </a:pPr>
            <a:r>
              <a:rPr lang="en-US" sz="1800" dirty="0">
                <a:solidFill>
                  <a:srgbClr val="414750"/>
                </a:solidFill>
                <a:latin typeface="JetBrains Mono" pitchFamily="34" charset="0"/>
                <a:ea typeface="JetBrains Mono" pitchFamily="34" charset="-122"/>
                <a:cs typeface="JetBrains Mono" pitchFamily="34" charset="-120"/>
              </a:rPr>
              <a:t>Razzie</a:t>
            </a:r>
            <a:endParaRPr lang="en-US" sz="1800" dirty="0"/>
          </a:p>
        </p:txBody>
      </p:sp>
      <p:sp>
        <p:nvSpPr>
          <p:cNvPr id="12" name="Shape 10"/>
          <p:cNvSpPr/>
          <p:nvPr/>
        </p:nvSpPr>
        <p:spPr>
          <a:xfrm>
            <a:off x="12119588" y="3486150"/>
            <a:ext cx="190500" cy="190500"/>
          </a:xfrm>
          <a:prstGeom prst="ellipse">
            <a:avLst/>
          </a:prstGeom>
          <a:solidFill>
            <a:srgbClr val="16191F"/>
          </a:solidFill>
          <a:ln/>
        </p:spPr>
      </p:sp>
      <p:sp>
        <p:nvSpPr>
          <p:cNvPr id="13" name="Text 11"/>
          <p:cNvSpPr/>
          <p:nvPr/>
        </p:nvSpPr>
        <p:spPr>
          <a:xfrm>
            <a:off x="12405338" y="3429000"/>
            <a:ext cx="624862" cy="342900"/>
          </a:xfrm>
          <a:prstGeom prst="rect">
            <a:avLst/>
          </a:prstGeom>
          <a:noFill/>
          <a:ln/>
        </p:spPr>
        <p:txBody>
          <a:bodyPr wrap="square" lIns="0" tIns="0" rIns="0" bIns="0" rtlCol="0" anchor="t">
            <a:normAutofit/>
          </a:bodyPr>
          <a:lstStyle/>
          <a:p>
            <a:pPr algn="l" indent="0" marL="0">
              <a:buNone/>
            </a:pPr>
            <a:r>
              <a:rPr lang="en-US" sz="1800" dirty="0">
                <a:solidFill>
                  <a:srgbClr val="414750"/>
                </a:solidFill>
                <a:latin typeface="JetBrains Mono" pitchFamily="34" charset="0"/>
                <a:ea typeface="JetBrains Mono" pitchFamily="34" charset="-122"/>
                <a:cs typeface="JetBrains Mono" pitchFamily="34" charset="-120"/>
              </a:rPr>
              <a:t>GSAT</a:t>
            </a:r>
            <a:endParaRPr lang="en-US" sz="1800" dirty="0"/>
          </a:p>
        </p:txBody>
      </p:sp>
      <p:sp>
        <p:nvSpPr>
          <p:cNvPr id="14" name="Shape 12"/>
          <p:cNvSpPr/>
          <p:nvPr/>
        </p:nvSpPr>
        <p:spPr>
          <a:xfrm>
            <a:off x="952500" y="4000500"/>
            <a:ext cx="12001500" cy="9525"/>
          </a:xfrm>
          <a:prstGeom prst="rect">
            <a:avLst/>
          </a:prstGeom>
          <a:solidFill>
            <a:srgbClr val="CFD4DC"/>
          </a:solidFill>
          <a:ln/>
        </p:spPr>
      </p:sp>
      <p:sp>
        <p:nvSpPr>
          <p:cNvPr id="15" name="Shape 13"/>
          <p:cNvSpPr/>
          <p:nvPr/>
        </p:nvSpPr>
        <p:spPr>
          <a:xfrm>
            <a:off x="952500" y="4396221"/>
            <a:ext cx="1665793" cy="381000"/>
          </a:xfrm>
          <a:prstGeom prst="roundRect">
            <a:avLst>
              <a:gd name="adj" fmla="val 50000"/>
            </a:avLst>
          </a:prstGeom>
          <a:solidFill>
            <a:srgbClr val="7C4DFF"/>
          </a:solidFill>
          <a:ln/>
        </p:spPr>
      </p:sp>
      <p:sp>
        <p:nvSpPr>
          <p:cNvPr id="16" name="Text 14"/>
          <p:cNvSpPr/>
          <p:nvPr/>
        </p:nvSpPr>
        <p:spPr>
          <a:xfrm>
            <a:off x="1085850" y="4434321"/>
            <a:ext cx="147529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FFFFFF"/>
                </a:solidFill>
                <a:latin typeface="JetBrains Mono" pitchFamily="34" charset="0"/>
                <a:ea typeface="JetBrains Mono" pitchFamily="34" charset="-122"/>
                <a:cs typeface="JetBrains Mono" pitchFamily="34" charset="-120"/>
              </a:rPr>
              <a:t>01 REWARD</a:t>
            </a:r>
            <a:endParaRPr lang="en-US" sz="1800" dirty="0"/>
          </a:p>
        </p:txBody>
      </p:sp>
      <p:sp>
        <p:nvSpPr>
          <p:cNvPr id="17" name="Text 15"/>
          <p:cNvSpPr/>
          <p:nvPr/>
        </p:nvSpPr>
        <p:spPr>
          <a:xfrm>
            <a:off x="952500" y="4891521"/>
            <a:ext cx="3143250" cy="384464"/>
          </a:xfrm>
          <a:prstGeom prst="rect">
            <a:avLst/>
          </a:prstGeom>
          <a:noFill/>
          <a:ln/>
        </p:spPr>
        <p:txBody>
          <a:bodyPr wrap="square" lIns="25400" tIns="25400" rIns="25400" bIns="25400" rtlCol="0" anchor="t">
            <a:normAutofit/>
          </a:bodyPr>
          <a:lstStyle/>
          <a:p>
            <a:pPr algn="l" indent="0" marL="0">
              <a:buNone/>
            </a:pPr>
            <a:r>
              <a:rPr lang="en-US" sz="2250" b="1" dirty="0">
                <a:solidFill>
                  <a:srgbClr val="16191F"/>
                </a:solidFill>
                <a:latin typeface="Inter" pitchFamily="34" charset="0"/>
                <a:ea typeface="Inter" pitchFamily="34" charset="-122"/>
                <a:cs typeface="Inter" pitchFamily="34" charset="-120"/>
              </a:rPr>
              <a:t>Reward Model</a:t>
            </a:r>
            <a:endParaRPr lang="en-US" sz="2250" dirty="0"/>
          </a:p>
        </p:txBody>
      </p:sp>
      <p:sp>
        <p:nvSpPr>
          <p:cNvPr id="18" name="Shape 16"/>
          <p:cNvSpPr/>
          <p:nvPr/>
        </p:nvSpPr>
        <p:spPr>
          <a:xfrm>
            <a:off x="6861572" y="4902777"/>
            <a:ext cx="2446193" cy="38100"/>
          </a:xfrm>
          <a:prstGeom prst="rect">
            <a:avLst/>
          </a:prstGeom>
          <a:solidFill>
            <a:srgbClr val="7C4DFF"/>
          </a:solidFill>
          <a:ln/>
        </p:spPr>
      </p:sp>
      <p:sp>
        <p:nvSpPr>
          <p:cNvPr id="19" name="Shape 17"/>
          <p:cNvSpPr/>
          <p:nvPr/>
        </p:nvSpPr>
        <p:spPr>
          <a:xfrm>
            <a:off x="6737747" y="4798002"/>
            <a:ext cx="247650" cy="247650"/>
          </a:xfrm>
          <a:prstGeom prst="ellipse">
            <a:avLst/>
          </a:prstGeom>
          <a:solidFill>
            <a:srgbClr val="FFFFFF"/>
          </a:solidFill>
          <a:ln w="34636">
            <a:solidFill>
              <a:srgbClr val="7C4DFF"/>
            </a:solidFill>
            <a:prstDash val="solid"/>
          </a:ln>
        </p:spPr>
      </p:sp>
      <p:sp>
        <p:nvSpPr>
          <p:cNvPr id="20" name="Shape 18"/>
          <p:cNvSpPr/>
          <p:nvPr/>
        </p:nvSpPr>
        <p:spPr>
          <a:xfrm>
            <a:off x="9183941" y="4798002"/>
            <a:ext cx="247650" cy="247650"/>
          </a:xfrm>
          <a:prstGeom prst="ellipse">
            <a:avLst/>
          </a:prstGeom>
          <a:solidFill>
            <a:srgbClr val="7C4DFF"/>
          </a:solidFill>
          <a:ln/>
        </p:spPr>
      </p:sp>
      <p:sp>
        <p:nvSpPr>
          <p:cNvPr id="21" name="Text 19"/>
          <p:cNvSpPr/>
          <p:nvPr/>
        </p:nvSpPr>
        <p:spPr>
          <a:xfrm>
            <a:off x="6602070" y="4340802"/>
            <a:ext cx="595204" cy="384464"/>
          </a:xfrm>
          <a:prstGeom prst="rect">
            <a:avLst/>
          </a:prstGeom>
          <a:noFill/>
          <a:ln/>
        </p:spPr>
        <p:txBody>
          <a:bodyPr wrap="square" lIns="25400" tIns="25400" rIns="25400" bIns="25400" rtlCol="0" anchor="t">
            <a:normAutofit/>
          </a:bodyPr>
          <a:lstStyle/>
          <a:p>
            <a:pPr algn="l" indent="0" marL="0">
              <a:buNone/>
            </a:pPr>
            <a:r>
              <a:rPr lang="en-US" sz="2250" b="1" dirty="0">
                <a:solidFill>
                  <a:srgbClr val="414750"/>
                </a:solidFill>
                <a:latin typeface="Inter" pitchFamily="34" charset="0"/>
                <a:ea typeface="Inter" pitchFamily="34" charset="-122"/>
                <a:cs typeface="Inter" pitchFamily="34" charset="-120"/>
              </a:rPr>
              <a:t>7.21</a:t>
            </a:r>
            <a:endParaRPr lang="en-US" sz="2250" dirty="0"/>
          </a:p>
        </p:txBody>
      </p:sp>
      <p:sp>
        <p:nvSpPr>
          <p:cNvPr id="22" name="Text 20"/>
          <p:cNvSpPr/>
          <p:nvPr/>
        </p:nvSpPr>
        <p:spPr>
          <a:xfrm>
            <a:off x="8993278" y="4340802"/>
            <a:ext cx="705175" cy="384464"/>
          </a:xfrm>
          <a:prstGeom prst="rect">
            <a:avLst/>
          </a:prstGeom>
          <a:noFill/>
          <a:ln/>
        </p:spPr>
        <p:txBody>
          <a:bodyPr wrap="square" lIns="25400" tIns="25400" rIns="25400" bIns="25400" rtlCol="0" anchor="t">
            <a:normAutofit/>
          </a:bodyPr>
          <a:lstStyle/>
          <a:p>
            <a:pPr algn="l" indent="0" marL="0">
              <a:buNone/>
            </a:pPr>
            <a:r>
              <a:rPr lang="en-US" sz="2250" b="1" dirty="0">
                <a:solidFill>
                  <a:srgbClr val="16191F"/>
                </a:solidFill>
                <a:latin typeface="Inter" pitchFamily="34" charset="0"/>
                <a:ea typeface="Inter" pitchFamily="34" charset="-122"/>
                <a:cs typeface="Inter" pitchFamily="34" charset="-120"/>
              </a:rPr>
              <a:t>8.28</a:t>
            </a:r>
            <a:endParaRPr lang="en-US" sz="2250" dirty="0"/>
          </a:p>
        </p:txBody>
      </p:sp>
      <p:sp>
        <p:nvSpPr>
          <p:cNvPr id="23" name="Text 21"/>
          <p:cNvSpPr/>
          <p:nvPr/>
        </p:nvSpPr>
        <p:spPr>
          <a:xfrm>
            <a:off x="11068050" y="4368512"/>
            <a:ext cx="1885950" cy="592282"/>
          </a:xfrm>
          <a:prstGeom prst="rect">
            <a:avLst/>
          </a:prstGeom>
          <a:noFill/>
          <a:ln/>
        </p:spPr>
        <p:txBody>
          <a:bodyPr wrap="square" lIns="25400" tIns="25400" rIns="25400" bIns="25400" rtlCol="0" anchor="t">
            <a:normAutofit/>
          </a:bodyPr>
          <a:lstStyle/>
          <a:p>
            <a:pPr algn="r" indent="0" marL="0">
              <a:buNone/>
            </a:pPr>
            <a:r>
              <a:rPr lang="en-US" sz="3600" b="1" spc="-72" kern="0" dirty="0">
                <a:solidFill>
                  <a:srgbClr val="7C4DFF"/>
                </a:solidFill>
                <a:latin typeface="Inter" pitchFamily="34" charset="0"/>
                <a:ea typeface="Inter" pitchFamily="34" charset="-122"/>
                <a:cs typeface="Inter" pitchFamily="34" charset="-120"/>
              </a:rPr>
              <a:t>+1.07</a:t>
            </a:r>
            <a:endParaRPr lang="en-US" sz="3600" dirty="0"/>
          </a:p>
        </p:txBody>
      </p:sp>
      <p:sp>
        <p:nvSpPr>
          <p:cNvPr id="24" name="Text 22"/>
          <p:cNvSpPr/>
          <p:nvPr/>
        </p:nvSpPr>
        <p:spPr>
          <a:xfrm>
            <a:off x="11068050" y="4960793"/>
            <a:ext cx="1885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6B7380"/>
                </a:solidFill>
                <a:latin typeface="JetBrains Mono" pitchFamily="34" charset="0"/>
                <a:ea typeface="JetBrains Mono" pitchFamily="34" charset="-122"/>
                <a:cs typeface="JetBrains Mono" pitchFamily="34" charset="-120"/>
              </a:rPr>
              <a:t>[0.96, 1.19]</a:t>
            </a:r>
            <a:endParaRPr lang="en-US" sz="1800" dirty="0"/>
          </a:p>
        </p:txBody>
      </p:sp>
      <p:sp>
        <p:nvSpPr>
          <p:cNvPr id="25" name="Shape 23"/>
          <p:cNvSpPr/>
          <p:nvPr/>
        </p:nvSpPr>
        <p:spPr>
          <a:xfrm>
            <a:off x="952500" y="7252855"/>
            <a:ext cx="12001500" cy="9525"/>
          </a:xfrm>
          <a:prstGeom prst="rect">
            <a:avLst/>
          </a:prstGeom>
          <a:solidFill>
            <a:srgbClr val="CFD4DC"/>
          </a:solidFill>
          <a:ln/>
        </p:spPr>
      </p:sp>
      <p:sp>
        <p:nvSpPr>
          <p:cNvPr id="26" name="Shape 24"/>
          <p:cNvSpPr/>
          <p:nvPr/>
        </p:nvSpPr>
        <p:spPr>
          <a:xfrm>
            <a:off x="952500" y="5626677"/>
            <a:ext cx="12001500" cy="9525"/>
          </a:xfrm>
          <a:prstGeom prst="rect">
            <a:avLst/>
          </a:prstGeom>
          <a:solidFill>
            <a:srgbClr val="CFD4DC"/>
          </a:solidFill>
          <a:ln/>
        </p:spPr>
      </p:sp>
      <p:sp>
        <p:nvSpPr>
          <p:cNvPr id="27" name="Shape 25"/>
          <p:cNvSpPr/>
          <p:nvPr/>
        </p:nvSpPr>
        <p:spPr>
          <a:xfrm>
            <a:off x="952500" y="6022398"/>
            <a:ext cx="1354931" cy="381000"/>
          </a:xfrm>
          <a:prstGeom prst="roundRect">
            <a:avLst>
              <a:gd name="adj" fmla="val 50000"/>
            </a:avLst>
          </a:prstGeom>
          <a:solidFill>
            <a:srgbClr val="0F9D58"/>
          </a:solidFill>
          <a:ln/>
        </p:spPr>
      </p:sp>
      <p:sp>
        <p:nvSpPr>
          <p:cNvPr id="28" name="Text 26"/>
          <p:cNvSpPr/>
          <p:nvPr/>
        </p:nvSpPr>
        <p:spPr>
          <a:xfrm>
            <a:off x="1085850" y="6060498"/>
            <a:ext cx="1164431"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FFFFFF"/>
                </a:solidFill>
                <a:latin typeface="JetBrains Mono" pitchFamily="34" charset="0"/>
                <a:ea typeface="JetBrains Mono" pitchFamily="34" charset="-122"/>
                <a:cs typeface="JetBrains Mono" pitchFamily="34" charset="-120"/>
              </a:rPr>
              <a:t>03 JURY</a:t>
            </a:r>
            <a:endParaRPr lang="en-US" sz="1800" dirty="0"/>
          </a:p>
        </p:txBody>
      </p:sp>
      <p:sp>
        <p:nvSpPr>
          <p:cNvPr id="29" name="Text 27"/>
          <p:cNvSpPr/>
          <p:nvPr/>
        </p:nvSpPr>
        <p:spPr>
          <a:xfrm>
            <a:off x="952500" y="6517698"/>
            <a:ext cx="3143250" cy="384464"/>
          </a:xfrm>
          <a:prstGeom prst="rect">
            <a:avLst/>
          </a:prstGeom>
          <a:noFill/>
          <a:ln/>
        </p:spPr>
        <p:txBody>
          <a:bodyPr wrap="square" lIns="25400" tIns="25400" rIns="25400" bIns="25400" rtlCol="0" anchor="t">
            <a:normAutofit/>
          </a:bodyPr>
          <a:lstStyle/>
          <a:p>
            <a:pPr algn="l" indent="0" marL="0">
              <a:buNone/>
            </a:pPr>
            <a:r>
              <a:rPr lang="en-US" sz="2250" b="1" dirty="0">
                <a:solidFill>
                  <a:srgbClr val="16191F"/>
                </a:solidFill>
                <a:latin typeface="Inter" pitchFamily="34" charset="0"/>
                <a:ea typeface="Inter" pitchFamily="34" charset="-122"/>
                <a:cs typeface="Inter" pitchFamily="34" charset="-120"/>
              </a:rPr>
              <a:t>Cross-Family Jury</a:t>
            </a:r>
            <a:endParaRPr lang="en-US" sz="2250" dirty="0"/>
          </a:p>
        </p:txBody>
      </p:sp>
      <p:sp>
        <p:nvSpPr>
          <p:cNvPr id="30" name="Shape 28"/>
          <p:cNvSpPr/>
          <p:nvPr/>
        </p:nvSpPr>
        <p:spPr>
          <a:xfrm>
            <a:off x="5421349" y="6528955"/>
            <a:ext cx="4000933" cy="38100"/>
          </a:xfrm>
          <a:prstGeom prst="rect">
            <a:avLst/>
          </a:prstGeom>
          <a:solidFill>
            <a:srgbClr val="0F9D58"/>
          </a:solidFill>
          <a:ln/>
        </p:spPr>
      </p:sp>
      <p:sp>
        <p:nvSpPr>
          <p:cNvPr id="31" name="Shape 29"/>
          <p:cNvSpPr/>
          <p:nvPr/>
        </p:nvSpPr>
        <p:spPr>
          <a:xfrm>
            <a:off x="5297524" y="6424180"/>
            <a:ext cx="247650" cy="247650"/>
          </a:xfrm>
          <a:prstGeom prst="ellipse">
            <a:avLst/>
          </a:prstGeom>
          <a:solidFill>
            <a:srgbClr val="FFFFFF"/>
          </a:solidFill>
          <a:ln w="34636">
            <a:solidFill>
              <a:srgbClr val="0F9D58"/>
            </a:solidFill>
            <a:prstDash val="solid"/>
          </a:ln>
        </p:spPr>
      </p:sp>
      <p:sp>
        <p:nvSpPr>
          <p:cNvPr id="32" name="Shape 30"/>
          <p:cNvSpPr/>
          <p:nvPr/>
        </p:nvSpPr>
        <p:spPr>
          <a:xfrm>
            <a:off x="9298457" y="6424180"/>
            <a:ext cx="247650" cy="247650"/>
          </a:xfrm>
          <a:prstGeom prst="ellipse">
            <a:avLst/>
          </a:prstGeom>
          <a:solidFill>
            <a:srgbClr val="0F9D58"/>
          </a:solidFill>
          <a:ln/>
        </p:spPr>
      </p:sp>
      <p:sp>
        <p:nvSpPr>
          <p:cNvPr id="33" name="Text 31"/>
          <p:cNvSpPr/>
          <p:nvPr/>
        </p:nvSpPr>
        <p:spPr>
          <a:xfrm>
            <a:off x="5111191" y="5966980"/>
            <a:ext cx="696516" cy="384464"/>
          </a:xfrm>
          <a:prstGeom prst="rect">
            <a:avLst/>
          </a:prstGeom>
          <a:noFill/>
          <a:ln/>
        </p:spPr>
        <p:txBody>
          <a:bodyPr wrap="square" lIns="25400" tIns="25400" rIns="25400" bIns="25400" rtlCol="0" anchor="t">
            <a:normAutofit/>
          </a:bodyPr>
          <a:lstStyle/>
          <a:p>
            <a:pPr algn="l" indent="0" marL="0">
              <a:buNone/>
            </a:pPr>
            <a:r>
              <a:rPr lang="en-US" sz="2250" b="1" dirty="0">
                <a:solidFill>
                  <a:srgbClr val="414750"/>
                </a:solidFill>
                <a:latin typeface="Inter" pitchFamily="34" charset="0"/>
                <a:ea typeface="Inter" pitchFamily="34" charset="-122"/>
                <a:cs typeface="Inter" pitchFamily="34" charset="-120"/>
              </a:rPr>
              <a:t>6.58</a:t>
            </a:r>
            <a:endParaRPr lang="en-US" sz="2250" dirty="0"/>
          </a:p>
        </p:txBody>
      </p:sp>
      <p:sp>
        <p:nvSpPr>
          <p:cNvPr id="34" name="Text 32"/>
          <p:cNvSpPr/>
          <p:nvPr/>
        </p:nvSpPr>
        <p:spPr>
          <a:xfrm>
            <a:off x="9109959" y="5966980"/>
            <a:ext cx="700845" cy="384464"/>
          </a:xfrm>
          <a:prstGeom prst="rect">
            <a:avLst/>
          </a:prstGeom>
          <a:noFill/>
          <a:ln/>
        </p:spPr>
        <p:txBody>
          <a:bodyPr wrap="square" lIns="25400" tIns="25400" rIns="25400" bIns="25400" rtlCol="0" anchor="t">
            <a:normAutofit/>
          </a:bodyPr>
          <a:lstStyle/>
          <a:p>
            <a:pPr algn="l" indent="0" marL="0">
              <a:buNone/>
            </a:pPr>
            <a:r>
              <a:rPr lang="en-US" sz="2250" b="1" dirty="0">
                <a:solidFill>
                  <a:srgbClr val="16191F"/>
                </a:solidFill>
                <a:latin typeface="Inter" pitchFamily="34" charset="0"/>
                <a:ea typeface="Inter" pitchFamily="34" charset="-122"/>
                <a:cs typeface="Inter" pitchFamily="34" charset="-120"/>
              </a:rPr>
              <a:t>8.33</a:t>
            </a:r>
            <a:endParaRPr lang="en-US" sz="2250" dirty="0"/>
          </a:p>
        </p:txBody>
      </p:sp>
      <p:sp>
        <p:nvSpPr>
          <p:cNvPr id="35" name="Text 33"/>
          <p:cNvSpPr/>
          <p:nvPr/>
        </p:nvSpPr>
        <p:spPr>
          <a:xfrm>
            <a:off x="11068050" y="5994689"/>
            <a:ext cx="1885950" cy="592282"/>
          </a:xfrm>
          <a:prstGeom prst="rect">
            <a:avLst/>
          </a:prstGeom>
          <a:noFill/>
          <a:ln/>
        </p:spPr>
        <p:txBody>
          <a:bodyPr wrap="square" lIns="25400" tIns="25400" rIns="25400" bIns="25400" rtlCol="0" anchor="t">
            <a:normAutofit/>
          </a:bodyPr>
          <a:lstStyle/>
          <a:p>
            <a:pPr algn="r" indent="0" marL="0">
              <a:buNone/>
            </a:pPr>
            <a:r>
              <a:rPr lang="en-US" sz="3600" b="1" spc="-72" kern="0" dirty="0">
                <a:solidFill>
                  <a:srgbClr val="0F9D58"/>
                </a:solidFill>
                <a:latin typeface="Inter" pitchFamily="34" charset="0"/>
                <a:ea typeface="Inter" pitchFamily="34" charset="-122"/>
                <a:cs typeface="Inter" pitchFamily="34" charset="-120"/>
              </a:rPr>
              <a:t>+1.75</a:t>
            </a:r>
            <a:endParaRPr lang="en-US" sz="3600" dirty="0"/>
          </a:p>
        </p:txBody>
      </p:sp>
      <p:sp>
        <p:nvSpPr>
          <p:cNvPr id="36" name="Text 34"/>
          <p:cNvSpPr/>
          <p:nvPr/>
        </p:nvSpPr>
        <p:spPr>
          <a:xfrm>
            <a:off x="11068050" y="6586971"/>
            <a:ext cx="1885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6B7380"/>
                </a:solidFill>
                <a:latin typeface="JetBrains Mono" pitchFamily="34" charset="0"/>
                <a:ea typeface="JetBrains Mono" pitchFamily="34" charset="-122"/>
                <a:cs typeface="JetBrains Mono" pitchFamily="34" charset="-120"/>
              </a:rPr>
              <a:t>[1.66, 1.85]</a:t>
            </a:r>
            <a:endParaRPr lang="en-US" sz="1800" dirty="0"/>
          </a:p>
        </p:txBody>
      </p:sp>
      <p:sp>
        <p:nvSpPr>
          <p:cNvPr id="37" name="Text 35"/>
          <p:cNvSpPr/>
          <p:nvPr/>
        </p:nvSpPr>
        <p:spPr>
          <a:xfrm>
            <a:off x="4027127" y="7393132"/>
            <a:ext cx="21344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6</a:t>
            </a:r>
            <a:endParaRPr lang="en-US" sz="1800" dirty="0"/>
          </a:p>
        </p:txBody>
      </p:sp>
      <p:sp>
        <p:nvSpPr>
          <p:cNvPr id="38" name="Text 36"/>
          <p:cNvSpPr/>
          <p:nvPr/>
        </p:nvSpPr>
        <p:spPr>
          <a:xfrm>
            <a:off x="6312802" y="7393132"/>
            <a:ext cx="21344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7</a:t>
            </a:r>
            <a:endParaRPr lang="en-US" sz="1800" dirty="0"/>
          </a:p>
        </p:txBody>
      </p:sp>
      <p:sp>
        <p:nvSpPr>
          <p:cNvPr id="39" name="Text 37"/>
          <p:cNvSpPr/>
          <p:nvPr/>
        </p:nvSpPr>
        <p:spPr>
          <a:xfrm>
            <a:off x="8599344" y="7393132"/>
            <a:ext cx="21344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8</a:t>
            </a:r>
            <a:endParaRPr lang="en-US" sz="1800" dirty="0"/>
          </a:p>
        </p:txBody>
      </p:sp>
      <p:sp>
        <p:nvSpPr>
          <p:cNvPr id="40" name="Text 38"/>
          <p:cNvSpPr/>
          <p:nvPr/>
        </p:nvSpPr>
        <p:spPr>
          <a:xfrm>
            <a:off x="10885127" y="7393132"/>
            <a:ext cx="21344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9</a:t>
            </a:r>
            <a:endParaRPr lang="en-US" sz="1800" dirty="0"/>
          </a:p>
        </p:txBody>
      </p:sp>
      <p:sp>
        <p:nvSpPr>
          <p:cNvPr id="41" name="Text 39"/>
          <p:cNvSpPr/>
          <p:nvPr/>
        </p:nvSpPr>
        <p:spPr>
          <a:xfrm>
            <a:off x="11068050" y="7393132"/>
            <a:ext cx="1885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6B7380"/>
                </a:solidFill>
                <a:latin typeface="JetBrains Mono" pitchFamily="34" charset="0"/>
                <a:ea typeface="JetBrains Mono" pitchFamily="34" charset="-122"/>
                <a:cs typeface="JetBrains Mono" pitchFamily="34" charset="-120"/>
              </a:rPr>
              <a:t>Δ · 95% CI</a:t>
            </a:r>
            <a:endParaRPr lang="en-US" sz="1800" dirty="0"/>
          </a:p>
        </p:txBody>
      </p:sp>
      <p:pic>
        <p:nvPicPr>
          <p:cNvPr id="4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8382000"/>
            <a:ext cx="457200" cy="457200"/>
          </a:xfrm>
          <a:prstGeom prst="rect">
            <a:avLst/>
          </a:prstGeom>
        </p:spPr>
      </p:pic>
      <p:sp>
        <p:nvSpPr>
          <p:cNvPr id="43" name="Text 40"/>
          <p:cNvSpPr/>
          <p:nvPr/>
        </p:nvSpPr>
        <p:spPr>
          <a:xfrm>
            <a:off x="1581150" y="8423564"/>
            <a:ext cx="6779300" cy="412173"/>
          </a:xfrm>
          <a:prstGeom prst="rect">
            <a:avLst/>
          </a:prstGeom>
          <a:noFill/>
          <a:ln/>
        </p:spPr>
        <p:txBody>
          <a:bodyPr wrap="square" lIns="25400" tIns="25400" rIns="25400" bIns="25400" rtlCol="0" anchor="t">
            <a:normAutofit/>
          </a:bodyPr>
          <a:lstStyle/>
          <a:p>
            <a:pPr algn="l" indent="0" marL="0">
              <a:buNone/>
            </a:pPr>
            <a:r>
              <a:rPr lang="en-US" sz="2400" b="1" dirty="0">
                <a:solidFill>
                  <a:srgbClr val="16191F"/>
                </a:solidFill>
                <a:latin typeface="Inter" pitchFamily="34" charset="0"/>
                <a:ea typeface="Inter" pitchFamily="34" charset="-122"/>
                <a:cs typeface="Inter" pitchFamily="34" charset="-120"/>
              </a:rPr>
              <a:t>GSAT Higher in 100% of Runs · All 5 NQDs</a:t>
            </a:r>
            <a:endParaRPr lang="en-US" sz="2400" dirty="0"/>
          </a:p>
        </p:txBody>
      </p:sp>
      <p:sp>
        <p:nvSpPr>
          <p:cNvPr id="44" name="Shape 41"/>
          <p:cNvSpPr/>
          <p:nvPr/>
        </p:nvSpPr>
        <p:spPr>
          <a:xfrm>
            <a:off x="13525500" y="5258666"/>
            <a:ext cx="4000500" cy="1123084"/>
          </a:xfrm>
          <a:prstGeom prst="roundRect">
            <a:avLst>
              <a:gd name="adj" fmla="val 27140"/>
            </a:avLst>
          </a:prstGeom>
          <a:solidFill>
            <a:srgbClr val="FFFFFF"/>
          </a:solidFill>
          <a:ln w="13855">
            <a:solidFill>
              <a:srgbClr val="16191F"/>
            </a:solidFill>
            <a:prstDash val="solid"/>
          </a:ln>
        </p:spPr>
      </p:sp>
      <p:sp>
        <p:nvSpPr>
          <p:cNvPr id="45" name="Text 42"/>
          <p:cNvSpPr/>
          <p:nvPr/>
        </p:nvSpPr>
        <p:spPr>
          <a:xfrm>
            <a:off x="13825105" y="5463021"/>
            <a:ext cx="3045904" cy="741651"/>
          </a:xfrm>
          <a:prstGeom prst="rect">
            <a:avLst/>
          </a:prstGeom>
          <a:noFill/>
          <a:ln/>
        </p:spPr>
        <p:txBody>
          <a:bodyPr wrap="square" lIns="0" tIns="0" rIns="0" bIns="0" rtlCol="0" anchor="t">
            <a:normAutofit/>
          </a:bodyPr>
          <a:lstStyle/>
          <a:p>
            <a:pPr algn="l" indent="0" marL="0">
              <a:lnSpc>
                <a:spcPct val="103125"/>
              </a:lnSpc>
              <a:buNone/>
            </a:pPr>
            <a:r>
              <a:rPr lang="en-US" sz="2250" dirty="0">
                <a:solidFill>
                  <a:srgbClr val="16191F"/>
                </a:solidFill>
                <a:latin typeface="Inter" pitchFamily="34" charset="0"/>
                <a:ea typeface="Inter" pitchFamily="34" charset="-122"/>
                <a:cs typeface="Inter" pitchFamily="34" charset="-120"/>
              </a:rPr>
              <a:t>Can they tell a classic from a Razzie?</a:t>
            </a:r>
            <a:endParaRPr lang="en-US" sz="2250" dirty="0"/>
          </a:p>
        </p:txBody>
      </p:sp>
      <p:sp>
        <p:nvSpPr>
          <p:cNvPr id="46" name="Shape 43"/>
          <p:cNvSpPr/>
          <p:nvPr/>
        </p:nvSpPr>
        <p:spPr>
          <a:xfrm>
            <a:off x="15884236" y="6416387"/>
            <a:ext cx="199159" cy="199159"/>
          </a:xfrm>
          <a:prstGeom prst="ellipse">
            <a:avLst/>
          </a:prstGeom>
          <a:solidFill>
            <a:srgbClr val="FFFFFF"/>
          </a:solidFill>
          <a:ln w="13855">
            <a:solidFill>
              <a:srgbClr val="16191F"/>
            </a:solidFill>
            <a:prstDash val="solid"/>
          </a:ln>
        </p:spPr>
      </p:sp>
      <p:sp>
        <p:nvSpPr>
          <p:cNvPr id="47" name="Shape 44"/>
          <p:cNvSpPr/>
          <p:nvPr/>
        </p:nvSpPr>
        <p:spPr>
          <a:xfrm>
            <a:off x="16093787" y="6683087"/>
            <a:ext cx="122959" cy="122959"/>
          </a:xfrm>
          <a:prstGeom prst="ellipse">
            <a:avLst/>
          </a:prstGeom>
          <a:solidFill>
            <a:srgbClr val="FFFFFF"/>
          </a:solidFill>
          <a:ln w="13855">
            <a:solidFill>
              <a:srgbClr val="16191F"/>
            </a:solidFill>
            <a:prstDash val="solid"/>
          </a:ln>
        </p:spPr>
      </p:sp>
      <p:pic>
        <p:nvPicPr>
          <p:cNvPr id="48" name="Image 1" descr="preencoded.png">    </p:cNvPr>
          <p:cNvPicPr>
            <a:picLocks noChangeAspect="1"/>
          </p:cNvPicPr>
          <p:nvPr/>
        </p:nvPicPr>
        <p:blipFill>
          <a:blip r:embed="rId3"/>
          <a:stretch>
            <a:fillRect/>
          </a:stretch>
        </p:blipFill>
        <p:spPr>
          <a:xfrm>
            <a:off x="14225588" y="6953250"/>
            <a:ext cx="3109913" cy="3333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533400"/>
            <a:ext cx="54260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III</a:t>
            </a:r>
            <a:endParaRPr lang="en-US" sz="1800" dirty="0"/>
          </a:p>
        </p:txBody>
      </p:sp>
      <p:sp>
        <p:nvSpPr>
          <p:cNvPr id="3" name="Text 1"/>
          <p:cNvSpPr/>
          <p:nvPr/>
        </p:nvSpPr>
        <p:spPr>
          <a:xfrm>
            <a:off x="1590350" y="533400"/>
            <a:ext cx="2051923"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THE PRESTIGE</a:t>
            </a:r>
            <a:endParaRPr lang="en-US" sz="1800" dirty="0"/>
          </a:p>
        </p:txBody>
      </p:sp>
      <p:sp>
        <p:nvSpPr>
          <p:cNvPr id="4" name="Shape 2"/>
          <p:cNvSpPr/>
          <p:nvPr/>
        </p:nvSpPr>
        <p:spPr>
          <a:xfrm>
            <a:off x="15271931" y="666750"/>
            <a:ext cx="457200" cy="38100"/>
          </a:xfrm>
          <a:prstGeom prst="rect">
            <a:avLst/>
          </a:prstGeom>
          <a:solidFill>
            <a:srgbClr val="99A1AE"/>
          </a:solidFill>
          <a:ln/>
        </p:spPr>
      </p:sp>
      <p:sp>
        <p:nvSpPr>
          <p:cNvPr id="5" name="Shape 3"/>
          <p:cNvSpPr/>
          <p:nvPr/>
        </p:nvSpPr>
        <p:spPr>
          <a:xfrm>
            <a:off x="15805331" y="666750"/>
            <a:ext cx="457200" cy="38100"/>
          </a:xfrm>
          <a:prstGeom prst="rect">
            <a:avLst/>
          </a:prstGeom>
          <a:solidFill>
            <a:srgbClr val="99A1AE"/>
          </a:solidFill>
          <a:ln/>
        </p:spPr>
      </p:sp>
      <p:sp>
        <p:nvSpPr>
          <p:cNvPr id="6" name="Shape 4"/>
          <p:cNvSpPr/>
          <p:nvPr/>
        </p:nvSpPr>
        <p:spPr>
          <a:xfrm>
            <a:off x="16338731" y="666750"/>
            <a:ext cx="457200" cy="38100"/>
          </a:xfrm>
          <a:prstGeom prst="rect">
            <a:avLst/>
          </a:prstGeom>
          <a:solidFill>
            <a:srgbClr val="16191F"/>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14</a:t>
            </a:r>
            <a:endParaRPr lang="en-US" sz="1800" dirty="0"/>
          </a:p>
        </p:txBody>
      </p:sp>
      <p:sp>
        <p:nvSpPr>
          <p:cNvPr id="8" name="Text 6"/>
          <p:cNvSpPr/>
          <p:nvPr/>
        </p:nvSpPr>
        <p:spPr>
          <a:xfrm>
            <a:off x="952500" y="1333500"/>
            <a:ext cx="15261551"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16191F"/>
                </a:solidFill>
                <a:latin typeface="Inter" pitchFamily="34" charset="0"/>
                <a:ea typeface="Inter" pitchFamily="34" charset="-122"/>
                <a:cs typeface="Inter" pitchFamily="34" charset="-120"/>
              </a:rPr>
              <a:t>The jurors agree on rankings more than on scores</a:t>
            </a:r>
            <a:endParaRPr lang="en-US" sz="4800" dirty="0"/>
          </a:p>
        </p:txBody>
      </p:sp>
      <p:sp>
        <p:nvSpPr>
          <p:cNvPr id="9" name="Text 7"/>
          <p:cNvSpPr/>
          <p:nvPr/>
        </p:nvSpPr>
        <p:spPr>
          <a:xfrm>
            <a:off x="952500" y="2762250"/>
            <a:ext cx="7181731"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SCHEMATIC · SAME ORDER, DIFFERENT LENIENCY</a:t>
            </a:r>
            <a:endParaRPr lang="en-US" sz="1800" dirty="0"/>
          </a:p>
        </p:txBody>
      </p:sp>
      <p:sp>
        <p:nvSpPr>
          <p:cNvPr id="10" name="Text 8"/>
          <p:cNvSpPr/>
          <p:nvPr/>
        </p:nvSpPr>
        <p:spPr>
          <a:xfrm>
            <a:off x="952500" y="3333750"/>
            <a:ext cx="6477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J1</a:t>
            </a:r>
            <a:endParaRPr lang="en-US" sz="1800" dirty="0"/>
          </a:p>
        </p:txBody>
      </p:sp>
      <p:sp>
        <p:nvSpPr>
          <p:cNvPr id="11" name="Shape 9"/>
          <p:cNvSpPr/>
          <p:nvPr/>
        </p:nvSpPr>
        <p:spPr>
          <a:xfrm>
            <a:off x="1524000" y="3476625"/>
            <a:ext cx="5334000" cy="19050"/>
          </a:xfrm>
          <a:prstGeom prst="rect">
            <a:avLst/>
          </a:prstGeom>
          <a:solidFill>
            <a:srgbClr val="E4E8EE"/>
          </a:solidFill>
          <a:ln/>
        </p:spPr>
      </p:sp>
      <p:sp>
        <p:nvSpPr>
          <p:cNvPr id="12" name="Shape 10"/>
          <p:cNvSpPr/>
          <p:nvPr/>
        </p:nvSpPr>
        <p:spPr>
          <a:xfrm>
            <a:off x="2360252" y="3362325"/>
            <a:ext cx="247650" cy="247650"/>
          </a:xfrm>
          <a:prstGeom prst="ellipse">
            <a:avLst/>
          </a:prstGeom>
          <a:solidFill>
            <a:srgbClr val="CFD4DC"/>
          </a:solidFill>
          <a:ln/>
        </p:spPr>
      </p:sp>
      <p:sp>
        <p:nvSpPr>
          <p:cNvPr id="13" name="Shape 11"/>
          <p:cNvSpPr/>
          <p:nvPr/>
        </p:nvSpPr>
        <p:spPr>
          <a:xfrm>
            <a:off x="3800475" y="3362325"/>
            <a:ext cx="247650" cy="247650"/>
          </a:xfrm>
          <a:prstGeom prst="ellipse">
            <a:avLst/>
          </a:prstGeom>
          <a:solidFill>
            <a:srgbClr val="99A1AE"/>
          </a:solidFill>
          <a:ln/>
        </p:spPr>
      </p:sp>
      <p:sp>
        <p:nvSpPr>
          <p:cNvPr id="14" name="Shape 12"/>
          <p:cNvSpPr/>
          <p:nvPr/>
        </p:nvSpPr>
        <p:spPr>
          <a:xfrm>
            <a:off x="5240590" y="3362325"/>
            <a:ext cx="247650" cy="247650"/>
          </a:xfrm>
          <a:prstGeom prst="ellipse">
            <a:avLst/>
          </a:prstGeom>
          <a:solidFill>
            <a:srgbClr val="0F9D58"/>
          </a:solidFill>
          <a:ln/>
        </p:spPr>
      </p:sp>
      <p:sp>
        <p:nvSpPr>
          <p:cNvPr id="15" name="Text 13"/>
          <p:cNvSpPr/>
          <p:nvPr/>
        </p:nvSpPr>
        <p:spPr>
          <a:xfrm>
            <a:off x="952500" y="3924300"/>
            <a:ext cx="6477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J2</a:t>
            </a:r>
            <a:endParaRPr lang="en-US" sz="1800" dirty="0"/>
          </a:p>
        </p:txBody>
      </p:sp>
      <p:sp>
        <p:nvSpPr>
          <p:cNvPr id="16" name="Shape 14"/>
          <p:cNvSpPr/>
          <p:nvPr/>
        </p:nvSpPr>
        <p:spPr>
          <a:xfrm>
            <a:off x="1524000" y="4067175"/>
            <a:ext cx="5334000" cy="19050"/>
          </a:xfrm>
          <a:prstGeom prst="rect">
            <a:avLst/>
          </a:prstGeom>
          <a:solidFill>
            <a:srgbClr val="E4E8EE"/>
          </a:solidFill>
          <a:ln/>
        </p:spPr>
      </p:sp>
      <p:sp>
        <p:nvSpPr>
          <p:cNvPr id="17" name="Shape 15"/>
          <p:cNvSpPr/>
          <p:nvPr/>
        </p:nvSpPr>
        <p:spPr>
          <a:xfrm>
            <a:off x="2893652" y="3952875"/>
            <a:ext cx="247650" cy="247650"/>
          </a:xfrm>
          <a:prstGeom prst="ellipse">
            <a:avLst/>
          </a:prstGeom>
          <a:solidFill>
            <a:srgbClr val="CFD4DC"/>
          </a:solidFill>
          <a:ln/>
        </p:spPr>
      </p:sp>
      <p:sp>
        <p:nvSpPr>
          <p:cNvPr id="18" name="Shape 16"/>
          <p:cNvSpPr/>
          <p:nvPr/>
        </p:nvSpPr>
        <p:spPr>
          <a:xfrm>
            <a:off x="4333875" y="3952875"/>
            <a:ext cx="247650" cy="247650"/>
          </a:xfrm>
          <a:prstGeom prst="ellipse">
            <a:avLst/>
          </a:prstGeom>
          <a:solidFill>
            <a:srgbClr val="99A1AE"/>
          </a:solidFill>
          <a:ln/>
        </p:spPr>
      </p:sp>
      <p:sp>
        <p:nvSpPr>
          <p:cNvPr id="19" name="Shape 17"/>
          <p:cNvSpPr/>
          <p:nvPr/>
        </p:nvSpPr>
        <p:spPr>
          <a:xfrm>
            <a:off x="5773990" y="3952875"/>
            <a:ext cx="247650" cy="247650"/>
          </a:xfrm>
          <a:prstGeom prst="ellipse">
            <a:avLst/>
          </a:prstGeom>
          <a:solidFill>
            <a:srgbClr val="0F9D58"/>
          </a:solidFill>
          <a:ln/>
        </p:spPr>
      </p:sp>
      <p:sp>
        <p:nvSpPr>
          <p:cNvPr id="20" name="Text 18"/>
          <p:cNvSpPr/>
          <p:nvPr/>
        </p:nvSpPr>
        <p:spPr>
          <a:xfrm>
            <a:off x="952500" y="4514850"/>
            <a:ext cx="6477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J3</a:t>
            </a:r>
            <a:endParaRPr lang="en-US" sz="1800" dirty="0"/>
          </a:p>
        </p:txBody>
      </p:sp>
      <p:sp>
        <p:nvSpPr>
          <p:cNvPr id="21" name="Shape 19"/>
          <p:cNvSpPr/>
          <p:nvPr/>
        </p:nvSpPr>
        <p:spPr>
          <a:xfrm>
            <a:off x="1524000" y="4657725"/>
            <a:ext cx="5334000" cy="19050"/>
          </a:xfrm>
          <a:prstGeom prst="rect">
            <a:avLst/>
          </a:prstGeom>
          <a:solidFill>
            <a:srgbClr val="E4E8EE"/>
          </a:solidFill>
          <a:ln/>
        </p:spPr>
      </p:sp>
      <p:sp>
        <p:nvSpPr>
          <p:cNvPr id="22" name="Shape 20"/>
          <p:cNvSpPr/>
          <p:nvPr/>
        </p:nvSpPr>
        <p:spPr>
          <a:xfrm>
            <a:off x="1933575" y="4543425"/>
            <a:ext cx="247650" cy="247650"/>
          </a:xfrm>
          <a:prstGeom prst="ellipse">
            <a:avLst/>
          </a:prstGeom>
          <a:solidFill>
            <a:srgbClr val="CFD4DC"/>
          </a:solidFill>
          <a:ln/>
        </p:spPr>
      </p:sp>
      <p:sp>
        <p:nvSpPr>
          <p:cNvPr id="23" name="Shape 21"/>
          <p:cNvSpPr/>
          <p:nvPr/>
        </p:nvSpPr>
        <p:spPr>
          <a:xfrm>
            <a:off x="3373690" y="4543425"/>
            <a:ext cx="247650" cy="247650"/>
          </a:xfrm>
          <a:prstGeom prst="ellipse">
            <a:avLst/>
          </a:prstGeom>
          <a:solidFill>
            <a:srgbClr val="99A1AE"/>
          </a:solidFill>
          <a:ln/>
        </p:spPr>
      </p:sp>
      <p:sp>
        <p:nvSpPr>
          <p:cNvPr id="24" name="Shape 22"/>
          <p:cNvSpPr/>
          <p:nvPr/>
        </p:nvSpPr>
        <p:spPr>
          <a:xfrm>
            <a:off x="4813913" y="4543425"/>
            <a:ext cx="247650" cy="247650"/>
          </a:xfrm>
          <a:prstGeom prst="ellipse">
            <a:avLst/>
          </a:prstGeom>
          <a:solidFill>
            <a:srgbClr val="0F9D58"/>
          </a:solidFill>
          <a:ln/>
        </p:spPr>
      </p:sp>
      <p:sp>
        <p:nvSpPr>
          <p:cNvPr id="25" name="Text 23"/>
          <p:cNvSpPr/>
          <p:nvPr/>
        </p:nvSpPr>
        <p:spPr>
          <a:xfrm>
            <a:off x="952500" y="5105400"/>
            <a:ext cx="6477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J4</a:t>
            </a:r>
            <a:endParaRPr lang="en-US" sz="1800" dirty="0"/>
          </a:p>
        </p:txBody>
      </p:sp>
      <p:sp>
        <p:nvSpPr>
          <p:cNvPr id="26" name="Shape 24"/>
          <p:cNvSpPr/>
          <p:nvPr/>
        </p:nvSpPr>
        <p:spPr>
          <a:xfrm>
            <a:off x="1524000" y="5248275"/>
            <a:ext cx="5334000" cy="19050"/>
          </a:xfrm>
          <a:prstGeom prst="rect">
            <a:avLst/>
          </a:prstGeom>
          <a:solidFill>
            <a:srgbClr val="E4E8EE"/>
          </a:solidFill>
          <a:ln/>
        </p:spPr>
      </p:sp>
      <p:sp>
        <p:nvSpPr>
          <p:cNvPr id="27" name="Shape 25"/>
          <p:cNvSpPr/>
          <p:nvPr/>
        </p:nvSpPr>
        <p:spPr>
          <a:xfrm>
            <a:off x="2626952" y="5133975"/>
            <a:ext cx="247650" cy="247650"/>
          </a:xfrm>
          <a:prstGeom prst="ellipse">
            <a:avLst/>
          </a:prstGeom>
          <a:solidFill>
            <a:srgbClr val="CFD4DC"/>
          </a:solidFill>
          <a:ln/>
        </p:spPr>
      </p:sp>
      <p:sp>
        <p:nvSpPr>
          <p:cNvPr id="28" name="Shape 26"/>
          <p:cNvSpPr/>
          <p:nvPr/>
        </p:nvSpPr>
        <p:spPr>
          <a:xfrm>
            <a:off x="4067175" y="5133975"/>
            <a:ext cx="247650" cy="247650"/>
          </a:xfrm>
          <a:prstGeom prst="ellipse">
            <a:avLst/>
          </a:prstGeom>
          <a:solidFill>
            <a:srgbClr val="99A1AE"/>
          </a:solidFill>
          <a:ln/>
        </p:spPr>
      </p:sp>
      <p:sp>
        <p:nvSpPr>
          <p:cNvPr id="29" name="Shape 27"/>
          <p:cNvSpPr/>
          <p:nvPr/>
        </p:nvSpPr>
        <p:spPr>
          <a:xfrm>
            <a:off x="5507290" y="5133975"/>
            <a:ext cx="247650" cy="247650"/>
          </a:xfrm>
          <a:prstGeom prst="ellipse">
            <a:avLst/>
          </a:prstGeom>
          <a:solidFill>
            <a:srgbClr val="0F9D58"/>
          </a:solidFill>
          <a:ln/>
        </p:spPr>
      </p:sp>
      <p:sp>
        <p:nvSpPr>
          <p:cNvPr id="30" name="Text 28"/>
          <p:cNvSpPr/>
          <p:nvPr/>
        </p:nvSpPr>
        <p:spPr>
          <a:xfrm>
            <a:off x="952500" y="5695950"/>
            <a:ext cx="6477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J5</a:t>
            </a:r>
            <a:endParaRPr lang="en-US" sz="1800" dirty="0"/>
          </a:p>
        </p:txBody>
      </p:sp>
      <p:sp>
        <p:nvSpPr>
          <p:cNvPr id="31" name="Shape 29"/>
          <p:cNvSpPr/>
          <p:nvPr/>
        </p:nvSpPr>
        <p:spPr>
          <a:xfrm>
            <a:off x="1524000" y="5838825"/>
            <a:ext cx="5334000" cy="19050"/>
          </a:xfrm>
          <a:prstGeom prst="rect">
            <a:avLst/>
          </a:prstGeom>
          <a:solidFill>
            <a:srgbClr val="E4E8EE"/>
          </a:solidFill>
          <a:ln/>
        </p:spPr>
      </p:sp>
      <p:sp>
        <p:nvSpPr>
          <p:cNvPr id="32" name="Shape 30"/>
          <p:cNvSpPr/>
          <p:nvPr/>
        </p:nvSpPr>
        <p:spPr>
          <a:xfrm>
            <a:off x="1720128" y="5724525"/>
            <a:ext cx="247650" cy="247650"/>
          </a:xfrm>
          <a:prstGeom prst="ellipse">
            <a:avLst/>
          </a:prstGeom>
          <a:solidFill>
            <a:srgbClr val="CFD4DC"/>
          </a:solidFill>
          <a:ln/>
        </p:spPr>
      </p:sp>
      <p:sp>
        <p:nvSpPr>
          <p:cNvPr id="33" name="Shape 31"/>
          <p:cNvSpPr/>
          <p:nvPr/>
        </p:nvSpPr>
        <p:spPr>
          <a:xfrm>
            <a:off x="3160352" y="5724525"/>
            <a:ext cx="247650" cy="247650"/>
          </a:xfrm>
          <a:prstGeom prst="ellipse">
            <a:avLst/>
          </a:prstGeom>
          <a:solidFill>
            <a:srgbClr val="99A1AE"/>
          </a:solidFill>
          <a:ln/>
        </p:spPr>
      </p:sp>
      <p:sp>
        <p:nvSpPr>
          <p:cNvPr id="34" name="Shape 32"/>
          <p:cNvSpPr/>
          <p:nvPr/>
        </p:nvSpPr>
        <p:spPr>
          <a:xfrm>
            <a:off x="4600575" y="5724525"/>
            <a:ext cx="247650" cy="247650"/>
          </a:xfrm>
          <a:prstGeom prst="ellipse">
            <a:avLst/>
          </a:prstGeom>
          <a:solidFill>
            <a:srgbClr val="0F9D58"/>
          </a:solidFill>
          <a:ln/>
        </p:spPr>
      </p:sp>
      <p:sp>
        <p:nvSpPr>
          <p:cNvPr id="35" name="Text 33"/>
          <p:cNvSpPr/>
          <p:nvPr/>
        </p:nvSpPr>
        <p:spPr>
          <a:xfrm>
            <a:off x="1524000" y="6229350"/>
            <a:ext cx="165973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Lower Score</a:t>
            </a:r>
            <a:endParaRPr lang="en-US" sz="1800" dirty="0"/>
          </a:p>
        </p:txBody>
      </p:sp>
      <p:sp>
        <p:nvSpPr>
          <p:cNvPr id="36" name="Text 34"/>
          <p:cNvSpPr/>
          <p:nvPr/>
        </p:nvSpPr>
        <p:spPr>
          <a:xfrm>
            <a:off x="4949212" y="6229350"/>
            <a:ext cx="209966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Higher Score →</a:t>
            </a:r>
            <a:endParaRPr lang="en-US" sz="1800" dirty="0"/>
          </a:p>
        </p:txBody>
      </p:sp>
      <p:sp>
        <p:nvSpPr>
          <p:cNvPr id="37" name="Shape 35"/>
          <p:cNvSpPr/>
          <p:nvPr/>
        </p:nvSpPr>
        <p:spPr>
          <a:xfrm>
            <a:off x="8382000" y="2857500"/>
            <a:ext cx="4381500" cy="9525"/>
          </a:xfrm>
          <a:prstGeom prst="rect">
            <a:avLst/>
          </a:prstGeom>
          <a:solidFill>
            <a:srgbClr val="CFD4DC"/>
          </a:solidFill>
          <a:ln/>
        </p:spPr>
      </p:sp>
      <p:sp>
        <p:nvSpPr>
          <p:cNvPr id="38" name="Text 36"/>
          <p:cNvSpPr/>
          <p:nvPr/>
        </p:nvSpPr>
        <p:spPr>
          <a:xfrm>
            <a:off x="8382000" y="3073977"/>
            <a:ext cx="481965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SCORE AGREEMENT</a:t>
            </a:r>
            <a:endParaRPr lang="en-US" sz="1800" dirty="0"/>
          </a:p>
        </p:txBody>
      </p:sp>
      <p:sp>
        <p:nvSpPr>
          <p:cNvPr id="39" name="Text 37"/>
          <p:cNvSpPr/>
          <p:nvPr/>
        </p:nvSpPr>
        <p:spPr>
          <a:xfrm>
            <a:off x="8382000" y="3474027"/>
            <a:ext cx="4819650" cy="647700"/>
          </a:xfrm>
          <a:prstGeom prst="rect">
            <a:avLst/>
          </a:prstGeom>
          <a:noFill/>
          <a:ln/>
        </p:spPr>
        <p:txBody>
          <a:bodyPr wrap="square" lIns="25400" tIns="25400" rIns="25400" bIns="25400" rtlCol="0" anchor="t">
            <a:normAutofit/>
          </a:bodyPr>
          <a:lstStyle/>
          <a:p>
            <a:pPr algn="l" indent="0" marL="0">
              <a:lnSpc>
                <a:spcPct val="83019"/>
              </a:lnSpc>
              <a:buNone/>
            </a:pPr>
            <a:r>
              <a:rPr lang="en-US" sz="4800" b="1" spc="-144" kern="0" dirty="0">
                <a:solidFill>
                  <a:srgbClr val="16191F"/>
                </a:solidFill>
                <a:latin typeface="Inter" pitchFamily="34" charset="0"/>
                <a:ea typeface="Inter" pitchFamily="34" charset="-122"/>
                <a:cs typeface="Inter" pitchFamily="34" charset="-120"/>
              </a:rPr>
              <a:t>0.41 → 0.64</a:t>
            </a:r>
            <a:endParaRPr lang="en-US" sz="4800" dirty="0"/>
          </a:p>
        </p:txBody>
      </p:sp>
      <p:sp>
        <p:nvSpPr>
          <p:cNvPr id="40" name="Text 38"/>
          <p:cNvSpPr/>
          <p:nvPr/>
        </p:nvSpPr>
        <p:spPr>
          <a:xfrm>
            <a:off x="8382000" y="4178877"/>
            <a:ext cx="48196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Krippendorff's α · Recentered</a:t>
            </a:r>
            <a:endParaRPr lang="en-US" sz="1800" dirty="0"/>
          </a:p>
        </p:txBody>
      </p:sp>
      <p:sp>
        <p:nvSpPr>
          <p:cNvPr id="41" name="Shape 39"/>
          <p:cNvSpPr/>
          <p:nvPr/>
        </p:nvSpPr>
        <p:spPr>
          <a:xfrm>
            <a:off x="8382000" y="4826577"/>
            <a:ext cx="4381500" cy="9525"/>
          </a:xfrm>
          <a:prstGeom prst="rect">
            <a:avLst/>
          </a:prstGeom>
          <a:solidFill>
            <a:srgbClr val="CFD4DC"/>
          </a:solidFill>
          <a:ln/>
        </p:spPr>
      </p:sp>
      <p:sp>
        <p:nvSpPr>
          <p:cNvPr id="42" name="Text 40"/>
          <p:cNvSpPr/>
          <p:nvPr/>
        </p:nvSpPr>
        <p:spPr>
          <a:xfrm>
            <a:off x="8382000" y="5043055"/>
            <a:ext cx="481965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RANK AGREEMENT</a:t>
            </a:r>
            <a:endParaRPr lang="en-US" sz="1800" dirty="0"/>
          </a:p>
        </p:txBody>
      </p:sp>
      <p:sp>
        <p:nvSpPr>
          <p:cNvPr id="43" name="Text 41"/>
          <p:cNvSpPr/>
          <p:nvPr/>
        </p:nvSpPr>
        <p:spPr>
          <a:xfrm>
            <a:off x="8382000" y="5443105"/>
            <a:ext cx="4819650" cy="647700"/>
          </a:xfrm>
          <a:prstGeom prst="rect">
            <a:avLst/>
          </a:prstGeom>
          <a:noFill/>
          <a:ln/>
        </p:spPr>
        <p:txBody>
          <a:bodyPr wrap="square" lIns="25400" tIns="25400" rIns="25400" bIns="25400" rtlCol="0" anchor="t">
            <a:normAutofit/>
          </a:bodyPr>
          <a:lstStyle/>
          <a:p>
            <a:pPr algn="l" indent="0" marL="0">
              <a:lnSpc>
                <a:spcPct val="83019"/>
              </a:lnSpc>
              <a:buNone/>
            </a:pPr>
            <a:r>
              <a:rPr lang="en-US" sz="4800" b="1" spc="-144" kern="0" dirty="0">
                <a:solidFill>
                  <a:srgbClr val="0F9D58"/>
                </a:solidFill>
                <a:latin typeface="Inter" pitchFamily="34" charset="0"/>
                <a:ea typeface="Inter" pitchFamily="34" charset="-122"/>
                <a:cs typeface="Inter" pitchFamily="34" charset="-120"/>
              </a:rPr>
              <a:t>0.98</a:t>
            </a:r>
            <a:endParaRPr lang="en-US" sz="4800" dirty="0"/>
          </a:p>
        </p:txBody>
      </p:sp>
      <p:sp>
        <p:nvSpPr>
          <p:cNvPr id="44" name="Text 42"/>
          <p:cNvSpPr/>
          <p:nvPr/>
        </p:nvSpPr>
        <p:spPr>
          <a:xfrm>
            <a:off x="8382000" y="6147955"/>
            <a:ext cx="48196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Kendall's W</a:t>
            </a:r>
            <a:endParaRPr lang="en-US" sz="1800" dirty="0"/>
          </a:p>
        </p:txBody>
      </p:sp>
      <p:sp>
        <p:nvSpPr>
          <p:cNvPr id="45" name="Shape 43"/>
          <p:cNvSpPr/>
          <p:nvPr/>
        </p:nvSpPr>
        <p:spPr>
          <a:xfrm>
            <a:off x="952500" y="7239000"/>
            <a:ext cx="800100" cy="800100"/>
          </a:xfrm>
          <a:prstGeom prst="ellipse">
            <a:avLst/>
          </a:prstGeom>
          <a:solidFill>
            <a:srgbClr val="0F9D58"/>
          </a:solidFill>
          <a:ln w="27709">
            <a:solidFill>
              <a:srgbClr val="0F9D58"/>
            </a:solidFill>
            <a:prstDash val="solid"/>
          </a:ln>
        </p:spPr>
      </p:sp>
      <p:sp>
        <p:nvSpPr>
          <p:cNvPr id="46" name="Shape 44"/>
          <p:cNvSpPr/>
          <p:nvPr/>
        </p:nvSpPr>
        <p:spPr>
          <a:xfrm>
            <a:off x="1885950" y="7239000"/>
            <a:ext cx="800100" cy="800100"/>
          </a:xfrm>
          <a:prstGeom prst="ellipse">
            <a:avLst/>
          </a:prstGeom>
          <a:gradFill rotWithShape="1">
            <a:gsLst>
              <a:gs pos="35000">
                <a:srgbClr val="0F9D58">
                  <a:alpha val="100000"/>
                </a:srgbClr>
              </a:gs>
              <a:gs pos="35000">
                <a:srgbClr val="0F9D58">
                  <a:alpha val="0"/>
                </a:srgbClr>
              </a:gs>
            </a:gsLst>
            <a:lin ang="0" scaled="0"/>
          </a:gradFill>
          <a:ln w="27709">
            <a:solidFill>
              <a:srgbClr val="0F9D58"/>
            </a:solidFill>
            <a:prstDash val="solid"/>
          </a:ln>
        </p:spPr>
      </p:sp>
      <p:sp>
        <p:nvSpPr>
          <p:cNvPr id="47" name="Shape 45"/>
          <p:cNvSpPr/>
          <p:nvPr/>
        </p:nvSpPr>
        <p:spPr>
          <a:xfrm>
            <a:off x="2819400" y="7239000"/>
            <a:ext cx="800100" cy="800100"/>
          </a:xfrm>
          <a:prstGeom prst="ellipse">
            <a:avLst/>
          </a:prstGeom>
          <a:ln w="27709">
            <a:solidFill>
              <a:srgbClr val="CFD4DC"/>
            </a:solidFill>
            <a:prstDash val="solid"/>
          </a:ln>
        </p:spPr>
      </p:sp>
      <p:sp>
        <p:nvSpPr>
          <p:cNvPr id="48" name="Shape 46"/>
          <p:cNvSpPr/>
          <p:nvPr/>
        </p:nvSpPr>
        <p:spPr>
          <a:xfrm>
            <a:off x="3752850" y="7239000"/>
            <a:ext cx="800100" cy="800100"/>
          </a:xfrm>
          <a:prstGeom prst="ellipse">
            <a:avLst/>
          </a:prstGeom>
          <a:ln w="27709">
            <a:solidFill>
              <a:srgbClr val="CFD4DC"/>
            </a:solidFill>
            <a:prstDash val="solid"/>
          </a:ln>
        </p:spPr>
      </p:sp>
      <p:sp>
        <p:nvSpPr>
          <p:cNvPr id="49" name="Shape 47"/>
          <p:cNvSpPr/>
          <p:nvPr/>
        </p:nvSpPr>
        <p:spPr>
          <a:xfrm>
            <a:off x="4686300" y="7239000"/>
            <a:ext cx="800100" cy="800100"/>
          </a:xfrm>
          <a:prstGeom prst="ellipse">
            <a:avLst/>
          </a:prstGeom>
          <a:ln w="27709">
            <a:solidFill>
              <a:srgbClr val="CFD4DC"/>
            </a:solidFill>
            <a:prstDash val="solid"/>
          </a:ln>
        </p:spPr>
      </p:sp>
      <p:sp>
        <p:nvSpPr>
          <p:cNvPr id="50" name="Text 48"/>
          <p:cNvSpPr/>
          <p:nvPr/>
        </p:nvSpPr>
        <p:spPr>
          <a:xfrm>
            <a:off x="5829300" y="7250257"/>
            <a:ext cx="4607600" cy="453736"/>
          </a:xfrm>
          <a:prstGeom prst="rect">
            <a:avLst/>
          </a:prstGeom>
          <a:noFill/>
          <a:ln/>
        </p:spPr>
        <p:txBody>
          <a:bodyPr wrap="square" lIns="25400" tIns="25400" rIns="25400" bIns="25400" rtlCol="0" anchor="t">
            <a:normAutofit/>
          </a:bodyPr>
          <a:lstStyle/>
          <a:p>
            <a:pPr algn="l" indent="0" marL="0">
              <a:buNone/>
            </a:pPr>
            <a:r>
              <a:rPr lang="en-US" sz="2700" b="1" spc="-40" kern="0" dirty="0">
                <a:solidFill>
                  <a:srgbClr val="16191F"/>
                </a:solidFill>
                <a:latin typeface="Inter" pitchFamily="34" charset="0"/>
                <a:ea typeface="Inter" pitchFamily="34" charset="-122"/>
                <a:cs typeface="Inter" pitchFamily="34" charset="-120"/>
              </a:rPr>
              <a:t>≈ 1.3 Effective Judges of 5</a:t>
            </a:r>
            <a:endParaRPr lang="en-US" sz="2700" dirty="0"/>
          </a:p>
        </p:txBody>
      </p:sp>
      <p:sp>
        <p:nvSpPr>
          <p:cNvPr id="51" name="Text 49"/>
          <p:cNvSpPr/>
          <p:nvPr/>
        </p:nvSpPr>
        <p:spPr>
          <a:xfrm>
            <a:off x="5829300" y="7723043"/>
            <a:ext cx="46076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Correlated Judgments</a:t>
            </a:r>
            <a:endParaRPr lang="en-US" sz="1800" dirty="0"/>
          </a:p>
        </p:txBody>
      </p:sp>
      <p:sp>
        <p:nvSpPr>
          <p:cNvPr id="52" name="Shape 50"/>
          <p:cNvSpPr/>
          <p:nvPr/>
        </p:nvSpPr>
        <p:spPr>
          <a:xfrm>
            <a:off x="952500" y="8572500"/>
            <a:ext cx="5576455" cy="509155"/>
          </a:xfrm>
          <a:prstGeom prst="roundRect">
            <a:avLst>
              <a:gd name="adj" fmla="val 22449"/>
            </a:avLst>
          </a:prstGeom>
          <a:ln w="6927">
            <a:solidFill>
              <a:srgbClr val="CFD4DC"/>
            </a:solidFill>
            <a:prstDash val="solid"/>
          </a:ln>
        </p:spPr>
      </p:sp>
      <p:pic>
        <p:nvPicPr>
          <p:cNvPr id="5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0877" y="8674677"/>
            <a:ext cx="304800" cy="304800"/>
          </a:xfrm>
          <a:prstGeom prst="rect">
            <a:avLst/>
          </a:prstGeom>
        </p:spPr>
      </p:pic>
      <p:sp>
        <p:nvSpPr>
          <p:cNvPr id="54" name="Text 51"/>
          <p:cNvSpPr/>
          <p:nvPr/>
        </p:nvSpPr>
        <p:spPr>
          <a:xfrm>
            <a:off x="1549977" y="8674677"/>
            <a:ext cx="4944618" cy="342900"/>
          </a:xfrm>
          <a:prstGeom prst="rect">
            <a:avLst/>
          </a:prstGeom>
          <a:noFill/>
          <a:ln/>
        </p:spPr>
        <p:txBody>
          <a:bodyPr wrap="square" lIns="0" tIns="0" rIns="0" bIns="0" rtlCol="0" anchor="t">
            <a:normAutofit/>
          </a:bodyPr>
          <a:lstStyle/>
          <a:p>
            <a:pPr algn="l" indent="0" marL="0">
              <a:buNone/>
            </a:pPr>
            <a:r>
              <a:rPr lang="en-US" sz="1800" dirty="0">
                <a:solidFill>
                  <a:srgbClr val="16191F"/>
                </a:solidFill>
                <a:latin typeface="JetBrains Mono" pitchFamily="34" charset="0"/>
                <a:ea typeface="JetBrains Mono" pitchFamily="34" charset="-122"/>
                <a:cs typeface="JetBrains Mono" pitchFamily="34" charset="-120"/>
              </a:rPr>
              <a:t>No Same-Family Cells · Same Ranking</a:t>
            </a:r>
            <a:endParaRPr lang="en-US" sz="1800" dirty="0"/>
          </a:p>
        </p:txBody>
      </p:sp>
      <p:sp>
        <p:nvSpPr>
          <p:cNvPr id="55" name="Shape 52"/>
          <p:cNvSpPr/>
          <p:nvPr/>
        </p:nvSpPr>
        <p:spPr>
          <a:xfrm>
            <a:off x="6662305" y="8572500"/>
            <a:ext cx="5302178" cy="509155"/>
          </a:xfrm>
          <a:prstGeom prst="roundRect">
            <a:avLst>
              <a:gd name="adj" fmla="val 22449"/>
            </a:avLst>
          </a:prstGeom>
          <a:ln w="6927">
            <a:solidFill>
              <a:srgbClr val="CFD4DC"/>
            </a:solidFill>
            <a:prstDash val="solid"/>
          </a:ln>
        </p:spPr>
      </p:sp>
      <p:pic>
        <p:nvPicPr>
          <p:cNvPr id="5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40682" y="8674677"/>
            <a:ext cx="304800" cy="304800"/>
          </a:xfrm>
          <a:prstGeom prst="rect">
            <a:avLst/>
          </a:prstGeom>
        </p:spPr>
      </p:pic>
      <p:sp>
        <p:nvSpPr>
          <p:cNvPr id="57" name="Text 53"/>
          <p:cNvSpPr/>
          <p:nvPr/>
        </p:nvSpPr>
        <p:spPr>
          <a:xfrm>
            <a:off x="7259782" y="8674677"/>
            <a:ext cx="4662113" cy="342900"/>
          </a:xfrm>
          <a:prstGeom prst="rect">
            <a:avLst/>
          </a:prstGeom>
          <a:noFill/>
          <a:ln/>
        </p:spPr>
        <p:txBody>
          <a:bodyPr wrap="square" lIns="0" tIns="0" rIns="0" bIns="0" rtlCol="0" anchor="t">
            <a:normAutofit/>
          </a:bodyPr>
          <a:lstStyle/>
          <a:p>
            <a:pPr algn="l" indent="0" marL="0">
              <a:buNone/>
            </a:pPr>
            <a:r>
              <a:rPr lang="en-US" sz="1800" dirty="0">
                <a:solidFill>
                  <a:srgbClr val="16191F"/>
                </a:solidFill>
                <a:latin typeface="JetBrains Mono" pitchFamily="34" charset="0"/>
                <a:ea typeface="JetBrains Mono" pitchFamily="34" charset="-122"/>
                <a:cs typeface="JetBrains Mono" pitchFamily="34" charset="-120"/>
              </a:rPr>
              <a:t>113 Specifications · Same Ranking</a:t>
            </a:r>
            <a:endParaRPr lang="en-US" sz="1800" dirty="0"/>
          </a:p>
        </p:txBody>
      </p:sp>
      <p:sp>
        <p:nvSpPr>
          <p:cNvPr id="58" name="Shape 54"/>
          <p:cNvSpPr/>
          <p:nvPr/>
        </p:nvSpPr>
        <p:spPr>
          <a:xfrm>
            <a:off x="13525500" y="5258666"/>
            <a:ext cx="4000500" cy="1123084"/>
          </a:xfrm>
          <a:prstGeom prst="roundRect">
            <a:avLst>
              <a:gd name="adj" fmla="val 27140"/>
            </a:avLst>
          </a:prstGeom>
          <a:solidFill>
            <a:srgbClr val="FFFFFF"/>
          </a:solidFill>
          <a:ln w="13855">
            <a:solidFill>
              <a:srgbClr val="16191F"/>
            </a:solidFill>
            <a:prstDash val="solid"/>
          </a:ln>
        </p:spPr>
      </p:sp>
      <p:sp>
        <p:nvSpPr>
          <p:cNvPr id="59" name="Text 55"/>
          <p:cNvSpPr/>
          <p:nvPr/>
        </p:nvSpPr>
        <p:spPr>
          <a:xfrm>
            <a:off x="13825105" y="5463021"/>
            <a:ext cx="2965745" cy="741651"/>
          </a:xfrm>
          <a:prstGeom prst="rect">
            <a:avLst/>
          </a:prstGeom>
          <a:noFill/>
          <a:ln/>
        </p:spPr>
        <p:txBody>
          <a:bodyPr wrap="square" lIns="0" tIns="0" rIns="0" bIns="0" rtlCol="0" anchor="t">
            <a:normAutofit/>
          </a:bodyPr>
          <a:lstStyle/>
          <a:p>
            <a:pPr algn="l" indent="0" marL="0">
              <a:lnSpc>
                <a:spcPct val="103125"/>
              </a:lnSpc>
              <a:buNone/>
            </a:pPr>
            <a:r>
              <a:rPr lang="en-US" sz="2250" dirty="0">
                <a:solidFill>
                  <a:srgbClr val="16191F"/>
                </a:solidFill>
                <a:latin typeface="Inter" pitchFamily="34" charset="0"/>
                <a:ea typeface="Inter" pitchFamily="34" charset="-122"/>
                <a:cs typeface="Inter" pitchFamily="34" charset="-120"/>
              </a:rPr>
              <a:t>Are five judges really five?</a:t>
            </a:r>
            <a:endParaRPr lang="en-US" sz="2250" dirty="0"/>
          </a:p>
        </p:txBody>
      </p:sp>
      <p:sp>
        <p:nvSpPr>
          <p:cNvPr id="60" name="Shape 56"/>
          <p:cNvSpPr/>
          <p:nvPr/>
        </p:nvSpPr>
        <p:spPr>
          <a:xfrm>
            <a:off x="15884236" y="6416387"/>
            <a:ext cx="199159" cy="199159"/>
          </a:xfrm>
          <a:prstGeom prst="ellipse">
            <a:avLst/>
          </a:prstGeom>
          <a:solidFill>
            <a:srgbClr val="FFFFFF"/>
          </a:solidFill>
          <a:ln w="13855">
            <a:solidFill>
              <a:srgbClr val="16191F"/>
            </a:solidFill>
            <a:prstDash val="solid"/>
          </a:ln>
        </p:spPr>
      </p:sp>
      <p:sp>
        <p:nvSpPr>
          <p:cNvPr id="61" name="Shape 57"/>
          <p:cNvSpPr/>
          <p:nvPr/>
        </p:nvSpPr>
        <p:spPr>
          <a:xfrm>
            <a:off x="16093787" y="6683087"/>
            <a:ext cx="122959" cy="122959"/>
          </a:xfrm>
          <a:prstGeom prst="ellipse">
            <a:avLst/>
          </a:prstGeom>
          <a:solidFill>
            <a:srgbClr val="FFFFFF"/>
          </a:solidFill>
          <a:ln w="13855">
            <a:solidFill>
              <a:srgbClr val="16191F"/>
            </a:solidFill>
            <a:prstDash val="solid"/>
          </a:ln>
        </p:spPr>
      </p:sp>
      <p:pic>
        <p:nvPicPr>
          <p:cNvPr id="62" name="Image 2" descr="preencoded.png">    </p:cNvPr>
          <p:cNvPicPr>
            <a:picLocks noChangeAspect="1"/>
          </p:cNvPicPr>
          <p:nvPr/>
        </p:nvPicPr>
        <p:blipFill>
          <a:blip r:embed="rId5"/>
          <a:stretch>
            <a:fillRect/>
          </a:stretch>
        </p:blipFill>
        <p:spPr>
          <a:xfrm>
            <a:off x="14411109" y="6858000"/>
            <a:ext cx="2924392" cy="3429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533400"/>
            <a:ext cx="54260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III</a:t>
            </a:r>
            <a:endParaRPr lang="en-US" sz="1800" dirty="0"/>
          </a:p>
        </p:txBody>
      </p:sp>
      <p:sp>
        <p:nvSpPr>
          <p:cNvPr id="3" name="Text 1"/>
          <p:cNvSpPr/>
          <p:nvPr/>
        </p:nvSpPr>
        <p:spPr>
          <a:xfrm>
            <a:off x="1590350" y="533400"/>
            <a:ext cx="2051923"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THE PRESTIGE</a:t>
            </a:r>
            <a:endParaRPr lang="en-US" sz="1800" dirty="0"/>
          </a:p>
        </p:txBody>
      </p:sp>
      <p:sp>
        <p:nvSpPr>
          <p:cNvPr id="4" name="Shape 2"/>
          <p:cNvSpPr/>
          <p:nvPr/>
        </p:nvSpPr>
        <p:spPr>
          <a:xfrm>
            <a:off x="15271931" y="666750"/>
            <a:ext cx="457200" cy="38100"/>
          </a:xfrm>
          <a:prstGeom prst="rect">
            <a:avLst/>
          </a:prstGeom>
          <a:solidFill>
            <a:srgbClr val="99A1AE"/>
          </a:solidFill>
          <a:ln/>
        </p:spPr>
      </p:sp>
      <p:sp>
        <p:nvSpPr>
          <p:cNvPr id="5" name="Shape 3"/>
          <p:cNvSpPr/>
          <p:nvPr/>
        </p:nvSpPr>
        <p:spPr>
          <a:xfrm>
            <a:off x="15805331" y="666750"/>
            <a:ext cx="457200" cy="38100"/>
          </a:xfrm>
          <a:prstGeom prst="rect">
            <a:avLst/>
          </a:prstGeom>
          <a:solidFill>
            <a:srgbClr val="99A1AE"/>
          </a:solidFill>
          <a:ln/>
        </p:spPr>
      </p:sp>
      <p:sp>
        <p:nvSpPr>
          <p:cNvPr id="6" name="Shape 4"/>
          <p:cNvSpPr/>
          <p:nvPr/>
        </p:nvSpPr>
        <p:spPr>
          <a:xfrm>
            <a:off x="16338731" y="666750"/>
            <a:ext cx="457200" cy="38100"/>
          </a:xfrm>
          <a:prstGeom prst="rect">
            <a:avLst/>
          </a:prstGeom>
          <a:solidFill>
            <a:srgbClr val="16191F"/>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15</a:t>
            </a:r>
            <a:endParaRPr lang="en-US" sz="1800" dirty="0"/>
          </a:p>
        </p:txBody>
      </p:sp>
      <p:sp>
        <p:nvSpPr>
          <p:cNvPr id="8" name="Text 6"/>
          <p:cNvSpPr/>
          <p:nvPr/>
        </p:nvSpPr>
        <p:spPr>
          <a:xfrm>
            <a:off x="952500" y="1333500"/>
            <a:ext cx="14065449"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16191F"/>
                </a:solidFill>
                <a:latin typeface="Inter" pitchFamily="34" charset="0"/>
                <a:ea typeface="Inter" pitchFamily="34" charset="-122"/>
                <a:cs typeface="Inter" pitchFamily="34" charset="-120"/>
              </a:rPr>
              <a:t>PlotTwist wins against ten of eleven baselines</a:t>
            </a:r>
            <a:endParaRPr lang="en-US" sz="4800" dirty="0"/>
          </a:p>
        </p:txBody>
      </p:sp>
      <p:sp>
        <p:nvSpPr>
          <p:cNvPr id="9" name="Text 7"/>
          <p:cNvSpPr/>
          <p:nvPr/>
        </p:nvSpPr>
        <p:spPr>
          <a:xfrm>
            <a:off x="952500" y="2286000"/>
            <a:ext cx="7181493" cy="411415"/>
          </a:xfrm>
          <a:prstGeom prst="rect">
            <a:avLst/>
          </a:prstGeom>
          <a:noFill/>
          <a:ln/>
        </p:spPr>
        <p:txBody>
          <a:bodyPr wrap="square" lIns="25400" tIns="25400" rIns="25400" bIns="25400" rtlCol="0" anchor="t">
            <a:normAutofit/>
          </a:bodyPr>
          <a:lstStyle/>
          <a:p>
            <a:pPr algn="l" indent="0" marL="0">
              <a:lnSpc>
                <a:spcPct val="117174"/>
              </a:lnSpc>
              <a:buNone/>
            </a:pPr>
            <a:r>
              <a:rPr lang="en-US" sz="2100" dirty="0">
                <a:solidFill>
                  <a:srgbClr val="414750"/>
                </a:solidFill>
                <a:latin typeface="Inter" pitchFamily="34" charset="0"/>
                <a:ea typeface="Inter" pitchFamily="34" charset="-122"/>
                <a:cs typeface="Inter" pitchFamily="34" charset="-120"/>
              </a:rPr>
              <a:t>Paired Win Rate · 160 Premises · 95% CI · Ties = 0.5</a:t>
            </a:r>
            <a:endParaRPr lang="en-US" sz="2100" dirty="0"/>
          </a:p>
        </p:txBody>
      </p:sp>
      <p:sp>
        <p:nvSpPr>
          <p:cNvPr id="10" name="Shape 8"/>
          <p:cNvSpPr/>
          <p:nvPr/>
        </p:nvSpPr>
        <p:spPr>
          <a:xfrm>
            <a:off x="3905250" y="3048000"/>
            <a:ext cx="9525" cy="5334000"/>
          </a:xfrm>
          <a:prstGeom prst="rect">
            <a:avLst/>
          </a:prstGeom>
          <a:solidFill>
            <a:srgbClr val="E4E8EE"/>
          </a:solidFill>
          <a:ln/>
        </p:spPr>
      </p:sp>
      <p:sp>
        <p:nvSpPr>
          <p:cNvPr id="11" name="Shape 9"/>
          <p:cNvSpPr/>
          <p:nvPr/>
        </p:nvSpPr>
        <p:spPr>
          <a:xfrm>
            <a:off x="6317997" y="3048000"/>
            <a:ext cx="9525" cy="5334000"/>
          </a:xfrm>
          <a:prstGeom prst="rect">
            <a:avLst/>
          </a:prstGeom>
          <a:solidFill>
            <a:srgbClr val="E4E8EE"/>
          </a:solidFill>
          <a:ln/>
        </p:spPr>
      </p:sp>
      <p:sp>
        <p:nvSpPr>
          <p:cNvPr id="12" name="Shape 10"/>
          <p:cNvSpPr/>
          <p:nvPr/>
        </p:nvSpPr>
        <p:spPr>
          <a:xfrm>
            <a:off x="8731394" y="3048000"/>
            <a:ext cx="9525" cy="5334000"/>
          </a:xfrm>
          <a:prstGeom prst="rect">
            <a:avLst/>
          </a:prstGeom>
          <a:solidFill>
            <a:srgbClr val="E4E8EE"/>
          </a:solidFill>
          <a:ln/>
        </p:spPr>
      </p:sp>
      <p:sp>
        <p:nvSpPr>
          <p:cNvPr id="13" name="Shape 11"/>
          <p:cNvSpPr/>
          <p:nvPr/>
        </p:nvSpPr>
        <p:spPr>
          <a:xfrm>
            <a:off x="11144250" y="3048000"/>
            <a:ext cx="9525" cy="5334000"/>
          </a:xfrm>
          <a:prstGeom prst="rect">
            <a:avLst/>
          </a:prstGeom>
          <a:solidFill>
            <a:srgbClr val="E4E8EE"/>
          </a:solidFill>
          <a:ln/>
        </p:spPr>
      </p:sp>
      <p:sp>
        <p:nvSpPr>
          <p:cNvPr id="14" name="Shape 12"/>
          <p:cNvSpPr/>
          <p:nvPr/>
        </p:nvSpPr>
        <p:spPr>
          <a:xfrm>
            <a:off x="5111894" y="3048000"/>
            <a:ext cx="13855" cy="5334000"/>
          </a:xfrm>
          <a:prstGeom prst="rect">
            <a:avLst/>
          </a:prstGeom>
          <a:solidFill>
            <a:srgbClr val="99A1AE"/>
          </a:solidFill>
          <a:ln/>
        </p:spPr>
      </p:sp>
      <p:sp>
        <p:nvSpPr>
          <p:cNvPr id="15" name="Text 13"/>
          <p:cNvSpPr/>
          <p:nvPr/>
        </p:nvSpPr>
        <p:spPr>
          <a:xfrm>
            <a:off x="952500" y="3124200"/>
            <a:ext cx="3038475"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6191F"/>
                </a:solidFill>
                <a:latin typeface="Inter" pitchFamily="34" charset="0"/>
                <a:ea typeface="Inter" pitchFamily="34" charset="-122"/>
                <a:cs typeface="Inter" pitchFamily="34" charset="-120"/>
              </a:rPr>
              <a:t>Claude Sonnet 4</a:t>
            </a:r>
            <a:endParaRPr lang="en-US" sz="1950" dirty="0"/>
          </a:p>
        </p:txBody>
      </p:sp>
      <p:sp>
        <p:nvSpPr>
          <p:cNvPr id="16" name="Shape 14"/>
          <p:cNvSpPr/>
          <p:nvPr/>
        </p:nvSpPr>
        <p:spPr>
          <a:xfrm>
            <a:off x="4967179" y="3267075"/>
            <a:ext cx="1809750" cy="28575"/>
          </a:xfrm>
          <a:prstGeom prst="rect">
            <a:avLst/>
          </a:prstGeom>
          <a:solidFill>
            <a:srgbClr val="99A1AE"/>
          </a:solidFill>
          <a:ln/>
        </p:spPr>
      </p:sp>
      <p:sp>
        <p:nvSpPr>
          <p:cNvPr id="17" name="Shape 15"/>
          <p:cNvSpPr/>
          <p:nvPr/>
        </p:nvSpPr>
        <p:spPr>
          <a:xfrm>
            <a:off x="5776804" y="3181350"/>
            <a:ext cx="190500" cy="190500"/>
          </a:xfrm>
          <a:prstGeom prst="ellipse">
            <a:avLst/>
          </a:prstGeom>
          <a:solidFill>
            <a:srgbClr val="6B7380"/>
          </a:solidFill>
          <a:ln/>
        </p:spPr>
      </p:sp>
      <p:sp>
        <p:nvSpPr>
          <p:cNvPr id="18" name="Text 16"/>
          <p:cNvSpPr/>
          <p:nvPr/>
        </p:nvSpPr>
        <p:spPr>
          <a:xfrm>
            <a:off x="6945565" y="3133725"/>
            <a:ext cx="3470196" cy="342900"/>
          </a:xfrm>
          <a:prstGeom prst="rect">
            <a:avLst/>
          </a:prstGeom>
          <a:noFill/>
          <a:ln/>
        </p:spPr>
        <p:txBody>
          <a:bodyPr wrap="non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Inconclusive · p = 0.13</a:t>
            </a:r>
            <a:endParaRPr lang="en-US" sz="1800" dirty="0"/>
          </a:p>
        </p:txBody>
      </p:sp>
      <p:sp>
        <p:nvSpPr>
          <p:cNvPr id="19" name="Text 17"/>
          <p:cNvSpPr/>
          <p:nvPr/>
        </p:nvSpPr>
        <p:spPr>
          <a:xfrm>
            <a:off x="11258550" y="3124200"/>
            <a:ext cx="1123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6B7380"/>
                </a:solidFill>
                <a:latin typeface="JetBrains Mono" pitchFamily="34" charset="0"/>
                <a:ea typeface="JetBrains Mono" pitchFamily="34" charset="-122"/>
                <a:cs typeface="JetBrains Mono" pitchFamily="34" charset="-120"/>
              </a:rPr>
              <a:t>0.563</a:t>
            </a:r>
            <a:endParaRPr lang="en-US" sz="1800" dirty="0"/>
          </a:p>
        </p:txBody>
      </p:sp>
      <p:sp>
        <p:nvSpPr>
          <p:cNvPr id="20" name="Text 18"/>
          <p:cNvSpPr/>
          <p:nvPr/>
        </p:nvSpPr>
        <p:spPr>
          <a:xfrm>
            <a:off x="952500" y="3581400"/>
            <a:ext cx="303847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Agents' Room</a:t>
            </a:r>
            <a:endParaRPr lang="en-US" sz="1950" dirty="0"/>
          </a:p>
        </p:txBody>
      </p:sp>
      <p:sp>
        <p:nvSpPr>
          <p:cNvPr id="21" name="Shape 19"/>
          <p:cNvSpPr/>
          <p:nvPr/>
        </p:nvSpPr>
        <p:spPr>
          <a:xfrm>
            <a:off x="7078049" y="3724275"/>
            <a:ext cx="1653345" cy="28575"/>
          </a:xfrm>
          <a:prstGeom prst="rect">
            <a:avLst/>
          </a:prstGeom>
          <a:solidFill>
            <a:srgbClr val="1E88E5"/>
          </a:solidFill>
          <a:ln/>
        </p:spPr>
      </p:sp>
      <p:sp>
        <p:nvSpPr>
          <p:cNvPr id="22" name="Shape 20"/>
          <p:cNvSpPr/>
          <p:nvPr/>
        </p:nvSpPr>
        <p:spPr>
          <a:xfrm>
            <a:off x="7839941" y="3638550"/>
            <a:ext cx="190500" cy="190500"/>
          </a:xfrm>
          <a:prstGeom prst="ellipse">
            <a:avLst/>
          </a:prstGeom>
          <a:solidFill>
            <a:srgbClr val="1E88E5"/>
          </a:solidFill>
          <a:ln/>
        </p:spPr>
      </p:sp>
      <p:sp>
        <p:nvSpPr>
          <p:cNvPr id="23" name="Text 21"/>
          <p:cNvSpPr/>
          <p:nvPr/>
        </p:nvSpPr>
        <p:spPr>
          <a:xfrm>
            <a:off x="11258550" y="3581400"/>
            <a:ext cx="1123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6191F"/>
                </a:solidFill>
                <a:latin typeface="JetBrains Mono" pitchFamily="34" charset="0"/>
                <a:ea typeface="JetBrains Mono" pitchFamily="34" charset="-122"/>
                <a:cs typeface="JetBrains Mono" pitchFamily="34" charset="-120"/>
              </a:rPr>
              <a:t>0.734</a:t>
            </a:r>
            <a:endParaRPr lang="en-US" sz="1800" dirty="0"/>
          </a:p>
        </p:txBody>
      </p:sp>
      <p:sp>
        <p:nvSpPr>
          <p:cNvPr id="24" name="Text 22"/>
          <p:cNvSpPr/>
          <p:nvPr/>
        </p:nvSpPr>
        <p:spPr>
          <a:xfrm>
            <a:off x="952500" y="4038600"/>
            <a:ext cx="303847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GPT-4.1</a:t>
            </a:r>
            <a:endParaRPr lang="en-US" sz="1950" dirty="0"/>
          </a:p>
        </p:txBody>
      </p:sp>
      <p:sp>
        <p:nvSpPr>
          <p:cNvPr id="25" name="Shape 23"/>
          <p:cNvSpPr/>
          <p:nvPr/>
        </p:nvSpPr>
        <p:spPr>
          <a:xfrm>
            <a:off x="9491554" y="4181475"/>
            <a:ext cx="1049590" cy="28575"/>
          </a:xfrm>
          <a:prstGeom prst="rect">
            <a:avLst/>
          </a:prstGeom>
          <a:solidFill>
            <a:srgbClr val="1E88E5"/>
          </a:solidFill>
          <a:ln/>
        </p:spPr>
      </p:sp>
      <p:sp>
        <p:nvSpPr>
          <p:cNvPr id="26" name="Shape 24"/>
          <p:cNvSpPr/>
          <p:nvPr/>
        </p:nvSpPr>
        <p:spPr>
          <a:xfrm>
            <a:off x="9914551" y="4095750"/>
            <a:ext cx="190500" cy="190500"/>
          </a:xfrm>
          <a:prstGeom prst="ellipse">
            <a:avLst/>
          </a:prstGeom>
          <a:solidFill>
            <a:srgbClr val="1E88E5"/>
          </a:solidFill>
          <a:ln/>
        </p:spPr>
      </p:sp>
      <p:sp>
        <p:nvSpPr>
          <p:cNvPr id="27" name="Text 25"/>
          <p:cNvSpPr/>
          <p:nvPr/>
        </p:nvSpPr>
        <p:spPr>
          <a:xfrm>
            <a:off x="11258550" y="4038600"/>
            <a:ext cx="1123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6191F"/>
                </a:solidFill>
                <a:latin typeface="JetBrains Mono" pitchFamily="34" charset="0"/>
                <a:ea typeface="JetBrains Mono" pitchFamily="34" charset="-122"/>
                <a:cs typeface="JetBrains Mono" pitchFamily="34" charset="-120"/>
              </a:rPr>
              <a:t>0.906</a:t>
            </a:r>
            <a:endParaRPr lang="en-US" sz="1800" dirty="0"/>
          </a:p>
        </p:txBody>
      </p:sp>
      <p:sp>
        <p:nvSpPr>
          <p:cNvPr id="28" name="Text 26"/>
          <p:cNvSpPr/>
          <p:nvPr/>
        </p:nvSpPr>
        <p:spPr>
          <a:xfrm>
            <a:off x="952500" y="4495800"/>
            <a:ext cx="303847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Gemini 2.0 Flash</a:t>
            </a:r>
            <a:endParaRPr lang="en-US" sz="1950" dirty="0"/>
          </a:p>
        </p:txBody>
      </p:sp>
      <p:sp>
        <p:nvSpPr>
          <p:cNvPr id="29" name="Shape 27"/>
          <p:cNvSpPr/>
          <p:nvPr/>
        </p:nvSpPr>
        <p:spPr>
          <a:xfrm>
            <a:off x="9937498" y="4638675"/>
            <a:ext cx="904875" cy="28575"/>
          </a:xfrm>
          <a:prstGeom prst="rect">
            <a:avLst/>
          </a:prstGeom>
          <a:solidFill>
            <a:srgbClr val="1E88E5"/>
          </a:solidFill>
          <a:ln/>
        </p:spPr>
      </p:sp>
      <p:sp>
        <p:nvSpPr>
          <p:cNvPr id="30" name="Shape 28"/>
          <p:cNvSpPr/>
          <p:nvPr/>
        </p:nvSpPr>
        <p:spPr>
          <a:xfrm>
            <a:off x="10301179" y="4552950"/>
            <a:ext cx="190500" cy="190500"/>
          </a:xfrm>
          <a:prstGeom prst="ellipse">
            <a:avLst/>
          </a:prstGeom>
          <a:solidFill>
            <a:srgbClr val="1E88E5"/>
          </a:solidFill>
          <a:ln/>
        </p:spPr>
      </p:sp>
      <p:sp>
        <p:nvSpPr>
          <p:cNvPr id="31" name="Text 29"/>
          <p:cNvSpPr/>
          <p:nvPr/>
        </p:nvSpPr>
        <p:spPr>
          <a:xfrm>
            <a:off x="11258550" y="4495800"/>
            <a:ext cx="1123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6191F"/>
                </a:solidFill>
                <a:latin typeface="JetBrains Mono" pitchFamily="34" charset="0"/>
                <a:ea typeface="JetBrains Mono" pitchFamily="34" charset="-122"/>
                <a:cs typeface="JetBrains Mono" pitchFamily="34" charset="-120"/>
              </a:rPr>
              <a:t>0.938</a:t>
            </a:r>
            <a:endParaRPr lang="en-US" sz="1800" dirty="0"/>
          </a:p>
        </p:txBody>
      </p:sp>
      <p:sp>
        <p:nvSpPr>
          <p:cNvPr id="32" name="Text 30"/>
          <p:cNvSpPr/>
          <p:nvPr/>
        </p:nvSpPr>
        <p:spPr>
          <a:xfrm>
            <a:off x="952500" y="4953000"/>
            <a:ext cx="303847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Qwen-3-32B</a:t>
            </a:r>
            <a:endParaRPr lang="en-US" sz="1950" dirty="0"/>
          </a:p>
        </p:txBody>
      </p:sp>
      <p:sp>
        <p:nvSpPr>
          <p:cNvPr id="33" name="Shape 31"/>
          <p:cNvSpPr/>
          <p:nvPr/>
        </p:nvSpPr>
        <p:spPr>
          <a:xfrm>
            <a:off x="10769961" y="5095875"/>
            <a:ext cx="374181" cy="28575"/>
          </a:xfrm>
          <a:prstGeom prst="rect">
            <a:avLst/>
          </a:prstGeom>
          <a:solidFill>
            <a:srgbClr val="1E88E5"/>
          </a:solidFill>
          <a:ln/>
        </p:spPr>
      </p:sp>
      <p:sp>
        <p:nvSpPr>
          <p:cNvPr id="34" name="Shape 32"/>
          <p:cNvSpPr/>
          <p:nvPr/>
        </p:nvSpPr>
        <p:spPr>
          <a:xfrm>
            <a:off x="10891838" y="5010150"/>
            <a:ext cx="190500" cy="190500"/>
          </a:xfrm>
          <a:prstGeom prst="ellipse">
            <a:avLst/>
          </a:prstGeom>
          <a:solidFill>
            <a:srgbClr val="1E88E5"/>
          </a:solidFill>
          <a:ln/>
        </p:spPr>
      </p:sp>
      <p:sp>
        <p:nvSpPr>
          <p:cNvPr id="35" name="Text 33"/>
          <p:cNvSpPr/>
          <p:nvPr/>
        </p:nvSpPr>
        <p:spPr>
          <a:xfrm>
            <a:off x="11258550" y="4953000"/>
            <a:ext cx="1123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6191F"/>
                </a:solidFill>
                <a:latin typeface="JetBrains Mono" pitchFamily="34" charset="0"/>
                <a:ea typeface="JetBrains Mono" pitchFamily="34" charset="-122"/>
                <a:cs typeface="JetBrains Mono" pitchFamily="34" charset="-120"/>
              </a:rPr>
              <a:t>0.987</a:t>
            </a:r>
            <a:endParaRPr lang="en-US" sz="1800" dirty="0"/>
          </a:p>
        </p:txBody>
      </p:sp>
      <p:sp>
        <p:nvSpPr>
          <p:cNvPr id="36" name="Text 34"/>
          <p:cNvSpPr/>
          <p:nvPr/>
        </p:nvSpPr>
        <p:spPr>
          <a:xfrm>
            <a:off x="952500" y="5410200"/>
            <a:ext cx="303847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Qwen-2.5-14B</a:t>
            </a:r>
            <a:endParaRPr lang="en-US" sz="1950" dirty="0"/>
          </a:p>
        </p:txBody>
      </p:sp>
      <p:sp>
        <p:nvSpPr>
          <p:cNvPr id="37" name="Shape 35"/>
          <p:cNvSpPr/>
          <p:nvPr/>
        </p:nvSpPr>
        <p:spPr>
          <a:xfrm>
            <a:off x="10094552" y="5553075"/>
            <a:ext cx="820124" cy="28575"/>
          </a:xfrm>
          <a:prstGeom prst="rect">
            <a:avLst/>
          </a:prstGeom>
          <a:solidFill>
            <a:srgbClr val="1E88E5"/>
          </a:solidFill>
          <a:ln/>
        </p:spPr>
      </p:sp>
      <p:sp>
        <p:nvSpPr>
          <p:cNvPr id="38" name="Shape 36"/>
          <p:cNvSpPr/>
          <p:nvPr/>
        </p:nvSpPr>
        <p:spPr>
          <a:xfrm>
            <a:off x="10445895" y="5467350"/>
            <a:ext cx="190500" cy="190500"/>
          </a:xfrm>
          <a:prstGeom prst="ellipse">
            <a:avLst/>
          </a:prstGeom>
          <a:solidFill>
            <a:srgbClr val="1E88E5"/>
          </a:solidFill>
          <a:ln/>
        </p:spPr>
      </p:sp>
      <p:sp>
        <p:nvSpPr>
          <p:cNvPr id="39" name="Text 37"/>
          <p:cNvSpPr/>
          <p:nvPr/>
        </p:nvSpPr>
        <p:spPr>
          <a:xfrm>
            <a:off x="11258550" y="5410200"/>
            <a:ext cx="1123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6191F"/>
                </a:solidFill>
                <a:latin typeface="JetBrains Mono" pitchFamily="34" charset="0"/>
                <a:ea typeface="JetBrains Mono" pitchFamily="34" charset="-122"/>
                <a:cs typeface="JetBrains Mono" pitchFamily="34" charset="-120"/>
              </a:rPr>
              <a:t>0.950</a:t>
            </a:r>
            <a:endParaRPr lang="en-US" sz="1800" dirty="0"/>
          </a:p>
        </p:txBody>
      </p:sp>
      <p:sp>
        <p:nvSpPr>
          <p:cNvPr id="40" name="Text 38"/>
          <p:cNvSpPr/>
          <p:nvPr/>
        </p:nvSpPr>
        <p:spPr>
          <a:xfrm>
            <a:off x="952500" y="5867400"/>
            <a:ext cx="303847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Mistral Small 24B</a:t>
            </a:r>
            <a:endParaRPr lang="en-US" sz="1950" dirty="0"/>
          </a:p>
        </p:txBody>
      </p:sp>
      <p:sp>
        <p:nvSpPr>
          <p:cNvPr id="41" name="Shape 39"/>
          <p:cNvSpPr/>
          <p:nvPr/>
        </p:nvSpPr>
        <p:spPr>
          <a:xfrm>
            <a:off x="10914676" y="6010275"/>
            <a:ext cx="229466" cy="28575"/>
          </a:xfrm>
          <a:prstGeom prst="rect">
            <a:avLst/>
          </a:prstGeom>
          <a:solidFill>
            <a:srgbClr val="1E88E5"/>
          </a:solidFill>
          <a:ln/>
        </p:spPr>
      </p:sp>
      <p:sp>
        <p:nvSpPr>
          <p:cNvPr id="42" name="Shape 40"/>
          <p:cNvSpPr/>
          <p:nvPr/>
        </p:nvSpPr>
        <p:spPr>
          <a:xfrm>
            <a:off x="10976588" y="5924550"/>
            <a:ext cx="190500" cy="190500"/>
          </a:xfrm>
          <a:prstGeom prst="ellipse">
            <a:avLst/>
          </a:prstGeom>
          <a:solidFill>
            <a:srgbClr val="1E88E5"/>
          </a:solidFill>
          <a:ln/>
        </p:spPr>
      </p:sp>
      <p:sp>
        <p:nvSpPr>
          <p:cNvPr id="43" name="Text 41"/>
          <p:cNvSpPr/>
          <p:nvPr/>
        </p:nvSpPr>
        <p:spPr>
          <a:xfrm>
            <a:off x="11258550" y="5867400"/>
            <a:ext cx="1123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6191F"/>
                </a:solidFill>
                <a:latin typeface="JetBrains Mono" pitchFamily="34" charset="0"/>
                <a:ea typeface="JetBrains Mono" pitchFamily="34" charset="-122"/>
                <a:cs typeface="JetBrains Mono" pitchFamily="34" charset="-120"/>
              </a:rPr>
              <a:t>0.994</a:t>
            </a:r>
            <a:endParaRPr lang="en-US" sz="1800" dirty="0"/>
          </a:p>
        </p:txBody>
      </p:sp>
      <p:sp>
        <p:nvSpPr>
          <p:cNvPr id="44" name="Text 42"/>
          <p:cNvSpPr/>
          <p:nvPr/>
        </p:nvSpPr>
        <p:spPr>
          <a:xfrm>
            <a:off x="952500" y="6324600"/>
            <a:ext cx="303847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DeepSeek-R1-14B</a:t>
            </a:r>
            <a:endParaRPr lang="en-US" sz="1950" dirty="0"/>
          </a:p>
        </p:txBody>
      </p:sp>
      <p:sp>
        <p:nvSpPr>
          <p:cNvPr id="45" name="Shape 43"/>
          <p:cNvSpPr/>
          <p:nvPr/>
        </p:nvSpPr>
        <p:spPr>
          <a:xfrm>
            <a:off x="10914676" y="6467475"/>
            <a:ext cx="229466" cy="28575"/>
          </a:xfrm>
          <a:prstGeom prst="rect">
            <a:avLst/>
          </a:prstGeom>
          <a:solidFill>
            <a:srgbClr val="1E88E5"/>
          </a:solidFill>
          <a:ln/>
        </p:spPr>
      </p:sp>
      <p:sp>
        <p:nvSpPr>
          <p:cNvPr id="46" name="Shape 44"/>
          <p:cNvSpPr/>
          <p:nvPr/>
        </p:nvSpPr>
        <p:spPr>
          <a:xfrm>
            <a:off x="10976588" y="6381750"/>
            <a:ext cx="190500" cy="190500"/>
          </a:xfrm>
          <a:prstGeom prst="ellipse">
            <a:avLst/>
          </a:prstGeom>
          <a:solidFill>
            <a:srgbClr val="1E88E5"/>
          </a:solidFill>
          <a:ln/>
        </p:spPr>
      </p:sp>
      <p:sp>
        <p:nvSpPr>
          <p:cNvPr id="47" name="Text 45"/>
          <p:cNvSpPr/>
          <p:nvPr/>
        </p:nvSpPr>
        <p:spPr>
          <a:xfrm>
            <a:off x="11258550" y="6324600"/>
            <a:ext cx="1123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6191F"/>
                </a:solidFill>
                <a:latin typeface="JetBrains Mono" pitchFamily="34" charset="0"/>
                <a:ea typeface="JetBrains Mono" pitchFamily="34" charset="-122"/>
                <a:cs typeface="JetBrains Mono" pitchFamily="34" charset="-120"/>
              </a:rPr>
              <a:t>0.994</a:t>
            </a:r>
            <a:endParaRPr lang="en-US" sz="1800" dirty="0"/>
          </a:p>
        </p:txBody>
      </p:sp>
      <p:sp>
        <p:nvSpPr>
          <p:cNvPr id="48" name="Text 46"/>
          <p:cNvSpPr/>
          <p:nvPr/>
        </p:nvSpPr>
        <p:spPr>
          <a:xfrm>
            <a:off x="952500" y="6781800"/>
            <a:ext cx="303847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Llama-3.3-70B</a:t>
            </a:r>
            <a:endParaRPr lang="en-US" sz="1950" dirty="0"/>
          </a:p>
        </p:txBody>
      </p:sp>
      <p:sp>
        <p:nvSpPr>
          <p:cNvPr id="49" name="Shape 47"/>
          <p:cNvSpPr/>
          <p:nvPr/>
        </p:nvSpPr>
        <p:spPr>
          <a:xfrm>
            <a:off x="10769961" y="6924675"/>
            <a:ext cx="374181" cy="28575"/>
          </a:xfrm>
          <a:prstGeom prst="rect">
            <a:avLst/>
          </a:prstGeom>
          <a:solidFill>
            <a:srgbClr val="1E88E5"/>
          </a:solidFill>
          <a:ln/>
        </p:spPr>
      </p:sp>
      <p:sp>
        <p:nvSpPr>
          <p:cNvPr id="50" name="Shape 48"/>
          <p:cNvSpPr/>
          <p:nvPr/>
        </p:nvSpPr>
        <p:spPr>
          <a:xfrm>
            <a:off x="10904177" y="6838950"/>
            <a:ext cx="190500" cy="190500"/>
          </a:xfrm>
          <a:prstGeom prst="ellipse">
            <a:avLst/>
          </a:prstGeom>
          <a:solidFill>
            <a:srgbClr val="1E88E5"/>
          </a:solidFill>
          <a:ln/>
        </p:spPr>
      </p:sp>
      <p:sp>
        <p:nvSpPr>
          <p:cNvPr id="51" name="Text 49"/>
          <p:cNvSpPr/>
          <p:nvPr/>
        </p:nvSpPr>
        <p:spPr>
          <a:xfrm>
            <a:off x="11258550" y="6781800"/>
            <a:ext cx="1123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6191F"/>
                </a:solidFill>
                <a:latin typeface="JetBrains Mono" pitchFamily="34" charset="0"/>
                <a:ea typeface="JetBrains Mono" pitchFamily="34" charset="-122"/>
                <a:cs typeface="JetBrains Mono" pitchFamily="34" charset="-120"/>
              </a:rPr>
              <a:t>0.988</a:t>
            </a:r>
            <a:endParaRPr lang="en-US" sz="1800" dirty="0"/>
          </a:p>
        </p:txBody>
      </p:sp>
      <p:sp>
        <p:nvSpPr>
          <p:cNvPr id="52" name="Text 50"/>
          <p:cNvSpPr/>
          <p:nvPr/>
        </p:nvSpPr>
        <p:spPr>
          <a:xfrm>
            <a:off x="952500" y="7239000"/>
            <a:ext cx="303847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WizardLM-30B</a:t>
            </a:r>
            <a:endParaRPr lang="en-US" sz="1950" dirty="0"/>
          </a:p>
        </p:txBody>
      </p:sp>
      <p:sp>
        <p:nvSpPr>
          <p:cNvPr id="53" name="Shape 51"/>
          <p:cNvSpPr/>
          <p:nvPr/>
        </p:nvSpPr>
        <p:spPr>
          <a:xfrm>
            <a:off x="10914676" y="7381875"/>
            <a:ext cx="229466" cy="28575"/>
          </a:xfrm>
          <a:prstGeom prst="rect">
            <a:avLst/>
          </a:prstGeom>
          <a:solidFill>
            <a:srgbClr val="1E88E5"/>
          </a:solidFill>
          <a:ln/>
        </p:spPr>
      </p:sp>
      <p:sp>
        <p:nvSpPr>
          <p:cNvPr id="54" name="Shape 52"/>
          <p:cNvSpPr/>
          <p:nvPr/>
        </p:nvSpPr>
        <p:spPr>
          <a:xfrm>
            <a:off x="10976588" y="7296150"/>
            <a:ext cx="190500" cy="190500"/>
          </a:xfrm>
          <a:prstGeom prst="ellipse">
            <a:avLst/>
          </a:prstGeom>
          <a:solidFill>
            <a:srgbClr val="1E88E5"/>
          </a:solidFill>
          <a:ln/>
        </p:spPr>
      </p:sp>
      <p:sp>
        <p:nvSpPr>
          <p:cNvPr id="55" name="Text 53"/>
          <p:cNvSpPr/>
          <p:nvPr/>
        </p:nvSpPr>
        <p:spPr>
          <a:xfrm>
            <a:off x="11258550" y="7239000"/>
            <a:ext cx="1123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6191F"/>
                </a:solidFill>
                <a:latin typeface="JetBrains Mono" pitchFamily="34" charset="0"/>
                <a:ea typeface="JetBrains Mono" pitchFamily="34" charset="-122"/>
                <a:cs typeface="JetBrains Mono" pitchFamily="34" charset="-120"/>
              </a:rPr>
              <a:t>0.994</a:t>
            </a:r>
            <a:endParaRPr lang="en-US" sz="1800" dirty="0"/>
          </a:p>
        </p:txBody>
      </p:sp>
      <p:sp>
        <p:nvSpPr>
          <p:cNvPr id="56" name="Text 54"/>
          <p:cNvSpPr/>
          <p:nvPr/>
        </p:nvSpPr>
        <p:spPr>
          <a:xfrm>
            <a:off x="952500" y="7696200"/>
            <a:ext cx="303847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Phi-4 Mini</a:t>
            </a:r>
            <a:endParaRPr lang="en-US" sz="1950" dirty="0"/>
          </a:p>
        </p:txBody>
      </p:sp>
      <p:sp>
        <p:nvSpPr>
          <p:cNvPr id="57" name="Shape 55"/>
          <p:cNvSpPr/>
          <p:nvPr/>
        </p:nvSpPr>
        <p:spPr>
          <a:xfrm>
            <a:off x="10914676" y="7839075"/>
            <a:ext cx="229466" cy="28575"/>
          </a:xfrm>
          <a:prstGeom prst="rect">
            <a:avLst/>
          </a:prstGeom>
          <a:solidFill>
            <a:srgbClr val="1E88E5"/>
          </a:solidFill>
          <a:ln/>
        </p:spPr>
      </p:sp>
      <p:sp>
        <p:nvSpPr>
          <p:cNvPr id="58" name="Shape 56"/>
          <p:cNvSpPr/>
          <p:nvPr/>
        </p:nvSpPr>
        <p:spPr>
          <a:xfrm>
            <a:off x="10976588" y="7753350"/>
            <a:ext cx="190500" cy="190500"/>
          </a:xfrm>
          <a:prstGeom prst="ellipse">
            <a:avLst/>
          </a:prstGeom>
          <a:solidFill>
            <a:srgbClr val="1E88E5"/>
          </a:solidFill>
          <a:ln/>
        </p:spPr>
      </p:sp>
      <p:sp>
        <p:nvSpPr>
          <p:cNvPr id="59" name="Text 57"/>
          <p:cNvSpPr/>
          <p:nvPr/>
        </p:nvSpPr>
        <p:spPr>
          <a:xfrm>
            <a:off x="11258550" y="7696200"/>
            <a:ext cx="112395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6191F"/>
                </a:solidFill>
                <a:latin typeface="JetBrains Mono" pitchFamily="34" charset="0"/>
                <a:ea typeface="JetBrains Mono" pitchFamily="34" charset="-122"/>
                <a:cs typeface="JetBrains Mono" pitchFamily="34" charset="-120"/>
              </a:rPr>
              <a:t>0.994</a:t>
            </a:r>
            <a:endParaRPr lang="en-US" sz="1800" dirty="0"/>
          </a:p>
        </p:txBody>
      </p:sp>
      <p:sp>
        <p:nvSpPr>
          <p:cNvPr id="60" name="Text 58"/>
          <p:cNvSpPr/>
          <p:nvPr/>
        </p:nvSpPr>
        <p:spPr>
          <a:xfrm>
            <a:off x="3699488" y="8305800"/>
            <a:ext cx="4877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0.4</a:t>
            </a:r>
            <a:endParaRPr lang="en-US" sz="1800" dirty="0"/>
          </a:p>
        </p:txBody>
      </p:sp>
      <p:sp>
        <p:nvSpPr>
          <p:cNvPr id="61" name="Text 59"/>
          <p:cNvSpPr/>
          <p:nvPr/>
        </p:nvSpPr>
        <p:spPr>
          <a:xfrm>
            <a:off x="4906133" y="8305800"/>
            <a:ext cx="4877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6191F"/>
                </a:solidFill>
                <a:latin typeface="JetBrains Mono" pitchFamily="34" charset="0"/>
                <a:ea typeface="JetBrains Mono" pitchFamily="34" charset="-122"/>
                <a:cs typeface="JetBrains Mono" pitchFamily="34" charset="-120"/>
              </a:rPr>
              <a:t>0.5</a:t>
            </a:r>
            <a:endParaRPr lang="en-US" sz="1800" dirty="0"/>
          </a:p>
        </p:txBody>
      </p:sp>
      <p:sp>
        <p:nvSpPr>
          <p:cNvPr id="62" name="Text 60"/>
          <p:cNvSpPr/>
          <p:nvPr/>
        </p:nvSpPr>
        <p:spPr>
          <a:xfrm>
            <a:off x="6112236" y="8305800"/>
            <a:ext cx="4877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0.6</a:t>
            </a:r>
            <a:endParaRPr lang="en-US" sz="1800" dirty="0"/>
          </a:p>
        </p:txBody>
      </p:sp>
      <p:sp>
        <p:nvSpPr>
          <p:cNvPr id="63" name="Text 61"/>
          <p:cNvSpPr/>
          <p:nvPr/>
        </p:nvSpPr>
        <p:spPr>
          <a:xfrm>
            <a:off x="8525633" y="8305800"/>
            <a:ext cx="4877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0.8</a:t>
            </a:r>
            <a:endParaRPr lang="en-US" sz="1800" dirty="0"/>
          </a:p>
        </p:txBody>
      </p:sp>
      <p:sp>
        <p:nvSpPr>
          <p:cNvPr id="64" name="Text 62"/>
          <p:cNvSpPr/>
          <p:nvPr/>
        </p:nvSpPr>
        <p:spPr>
          <a:xfrm>
            <a:off x="10938488" y="8305800"/>
            <a:ext cx="4877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7380"/>
                </a:solidFill>
                <a:latin typeface="JetBrains Mono" pitchFamily="34" charset="0"/>
                <a:ea typeface="JetBrains Mono" pitchFamily="34" charset="-122"/>
                <a:cs typeface="JetBrains Mono" pitchFamily="34" charset="-120"/>
              </a:rPr>
              <a:t>1.0</a:t>
            </a:r>
            <a:endParaRPr lang="en-US" sz="1800" dirty="0"/>
          </a:p>
        </p:txBody>
      </p:sp>
      <p:sp>
        <p:nvSpPr>
          <p:cNvPr id="65" name="Text 63"/>
          <p:cNvSpPr/>
          <p:nvPr/>
        </p:nvSpPr>
        <p:spPr>
          <a:xfrm>
            <a:off x="13335000" y="3048000"/>
            <a:ext cx="440055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MEAN JURY SCORE</a:t>
            </a:r>
            <a:endParaRPr lang="en-US" sz="1800" dirty="0"/>
          </a:p>
        </p:txBody>
      </p:sp>
      <p:sp>
        <p:nvSpPr>
          <p:cNvPr id="66" name="Shape 64"/>
          <p:cNvSpPr/>
          <p:nvPr/>
        </p:nvSpPr>
        <p:spPr>
          <a:xfrm>
            <a:off x="13335000" y="3524250"/>
            <a:ext cx="4000500" cy="9525"/>
          </a:xfrm>
          <a:prstGeom prst="rect">
            <a:avLst/>
          </a:prstGeom>
          <a:solidFill>
            <a:srgbClr val="CFD4DC"/>
          </a:solidFill>
          <a:ln/>
        </p:spPr>
      </p:sp>
      <p:sp>
        <p:nvSpPr>
          <p:cNvPr id="67" name="Text 65"/>
          <p:cNvSpPr/>
          <p:nvPr/>
        </p:nvSpPr>
        <p:spPr>
          <a:xfrm>
            <a:off x="13335000" y="3816927"/>
            <a:ext cx="1259357" cy="356755"/>
          </a:xfrm>
          <a:prstGeom prst="rect">
            <a:avLst/>
          </a:prstGeom>
          <a:noFill/>
          <a:ln/>
        </p:spPr>
        <p:txBody>
          <a:bodyPr wrap="square" lIns="25400" tIns="25400" rIns="25400" bIns="25400" rtlCol="0" anchor="t">
            <a:normAutofit/>
          </a:bodyPr>
          <a:lstStyle/>
          <a:p>
            <a:pPr algn="l" indent="0" marL="0">
              <a:buNone/>
            </a:pPr>
            <a:r>
              <a:rPr lang="en-US" sz="2100" b="1" dirty="0">
                <a:solidFill>
                  <a:srgbClr val="16191F"/>
                </a:solidFill>
                <a:latin typeface="Inter" pitchFamily="34" charset="0"/>
                <a:ea typeface="Inter" pitchFamily="34" charset="-122"/>
                <a:cs typeface="Inter" pitchFamily="34" charset="-120"/>
              </a:rPr>
              <a:t>PlotTwist</a:t>
            </a:r>
            <a:endParaRPr lang="en-US" sz="2100" dirty="0"/>
          </a:p>
        </p:txBody>
      </p:sp>
      <p:sp>
        <p:nvSpPr>
          <p:cNvPr id="68" name="Text 66"/>
          <p:cNvSpPr/>
          <p:nvPr/>
        </p:nvSpPr>
        <p:spPr>
          <a:xfrm>
            <a:off x="16417962" y="3664527"/>
            <a:ext cx="993739" cy="550718"/>
          </a:xfrm>
          <a:prstGeom prst="rect">
            <a:avLst/>
          </a:prstGeom>
          <a:noFill/>
          <a:ln/>
        </p:spPr>
        <p:txBody>
          <a:bodyPr wrap="square" lIns="25400" tIns="25400" rIns="25400" bIns="25400" rtlCol="0" anchor="t">
            <a:normAutofit/>
          </a:bodyPr>
          <a:lstStyle/>
          <a:p>
            <a:pPr algn="l" indent="0" marL="0">
              <a:buNone/>
            </a:pPr>
            <a:r>
              <a:rPr lang="en-US" sz="3300" b="1" dirty="0">
                <a:solidFill>
                  <a:srgbClr val="1E88E5"/>
                </a:solidFill>
                <a:latin typeface="Inter" pitchFamily="34" charset="0"/>
                <a:ea typeface="Inter" pitchFamily="34" charset="-122"/>
                <a:cs typeface="Inter" pitchFamily="34" charset="-120"/>
              </a:rPr>
              <a:t>8.36</a:t>
            </a:r>
            <a:endParaRPr lang="en-US" sz="3300" dirty="0"/>
          </a:p>
        </p:txBody>
      </p:sp>
      <p:sp>
        <p:nvSpPr>
          <p:cNvPr id="69" name="Shape 67"/>
          <p:cNvSpPr/>
          <p:nvPr/>
        </p:nvSpPr>
        <p:spPr>
          <a:xfrm>
            <a:off x="13335000" y="4348596"/>
            <a:ext cx="4000500" cy="9525"/>
          </a:xfrm>
          <a:prstGeom prst="rect">
            <a:avLst/>
          </a:prstGeom>
          <a:solidFill>
            <a:srgbClr val="CFD4DC"/>
          </a:solidFill>
          <a:ln/>
        </p:spPr>
      </p:sp>
      <p:sp>
        <p:nvSpPr>
          <p:cNvPr id="70" name="Text 68"/>
          <p:cNvSpPr/>
          <p:nvPr/>
        </p:nvSpPr>
        <p:spPr>
          <a:xfrm>
            <a:off x="13335000" y="4641273"/>
            <a:ext cx="2306598" cy="356755"/>
          </a:xfrm>
          <a:prstGeom prst="rect">
            <a:avLst/>
          </a:prstGeom>
          <a:noFill/>
          <a:ln/>
        </p:spPr>
        <p:txBody>
          <a:bodyPr wrap="square" lIns="25400" tIns="25400" rIns="25400" bIns="25400" rtlCol="0" anchor="t">
            <a:normAutofit/>
          </a:bodyPr>
          <a:lstStyle/>
          <a:p>
            <a:pPr algn="l" indent="0" marL="0">
              <a:buNone/>
            </a:pPr>
            <a:r>
              <a:rPr lang="en-US" sz="2100" dirty="0">
                <a:solidFill>
                  <a:srgbClr val="16191F"/>
                </a:solidFill>
                <a:latin typeface="Inter" pitchFamily="34" charset="0"/>
                <a:ea typeface="Inter" pitchFamily="34" charset="-122"/>
                <a:cs typeface="Inter" pitchFamily="34" charset="-120"/>
              </a:rPr>
              <a:t>Claude Sonnet 4</a:t>
            </a:r>
            <a:endParaRPr lang="en-US" sz="2100" dirty="0"/>
          </a:p>
        </p:txBody>
      </p:sp>
      <p:sp>
        <p:nvSpPr>
          <p:cNvPr id="71" name="Text 69"/>
          <p:cNvSpPr/>
          <p:nvPr/>
        </p:nvSpPr>
        <p:spPr>
          <a:xfrm>
            <a:off x="16429434" y="4488873"/>
            <a:ext cx="982266" cy="550718"/>
          </a:xfrm>
          <a:prstGeom prst="rect">
            <a:avLst/>
          </a:prstGeom>
          <a:noFill/>
          <a:ln/>
        </p:spPr>
        <p:txBody>
          <a:bodyPr wrap="square" lIns="25400" tIns="25400" rIns="25400" bIns="25400" rtlCol="0" anchor="t">
            <a:normAutofit/>
          </a:bodyPr>
          <a:lstStyle/>
          <a:p>
            <a:pPr algn="l" indent="0" marL="0">
              <a:buNone/>
            </a:pPr>
            <a:r>
              <a:rPr lang="en-US" sz="3300" b="1" dirty="0">
                <a:solidFill>
                  <a:srgbClr val="6B7380"/>
                </a:solidFill>
                <a:latin typeface="Inter" pitchFamily="34" charset="0"/>
                <a:ea typeface="Inter" pitchFamily="34" charset="-122"/>
                <a:cs typeface="Inter" pitchFamily="34" charset="-120"/>
              </a:rPr>
              <a:t>8.35</a:t>
            </a:r>
            <a:endParaRPr lang="en-US" sz="3300" dirty="0"/>
          </a:p>
        </p:txBody>
      </p:sp>
      <p:sp>
        <p:nvSpPr>
          <p:cNvPr id="72" name="Text 70"/>
          <p:cNvSpPr/>
          <p:nvPr/>
        </p:nvSpPr>
        <p:spPr>
          <a:xfrm>
            <a:off x="13335000" y="5172941"/>
            <a:ext cx="4120515" cy="706582"/>
          </a:xfrm>
          <a:prstGeom prst="rect">
            <a:avLst/>
          </a:prstGeom>
          <a:noFill/>
          <a:ln/>
        </p:spPr>
        <p:txBody>
          <a:bodyPr wrap="square" lIns="25400" tIns="25400" rIns="25400" bIns="25400" rtlCol="0" anchor="t">
            <a:normAutofit/>
          </a:bodyPr>
          <a:lstStyle/>
          <a:p>
            <a:pPr algn="l" indent="0" marL="0">
              <a:lnSpc>
                <a:spcPct val="109688"/>
              </a:lnSpc>
              <a:buNone/>
            </a:pPr>
            <a:r>
              <a:rPr lang="en-US" sz="1950" dirty="0">
                <a:solidFill>
                  <a:srgbClr val="414750"/>
                </a:solidFill>
                <a:latin typeface="Inter" pitchFamily="34" charset="0"/>
                <a:ea typeface="Inter" pitchFamily="34" charset="-122"/>
                <a:cs typeface="Inter" pitchFamily="34" charset="-120"/>
              </a:rPr>
              <a:t>Near-Tie in Mean → Win Rate Is Primary</a:t>
            </a:r>
            <a:endParaRPr lang="en-US" sz="1950" dirty="0"/>
          </a:p>
        </p:txBody>
      </p:sp>
      <p:pic>
        <p:nvPicPr>
          <p:cNvPr id="73" name="Image 0" descr="preencoded.png">    </p:cNvPr>
          <p:cNvPicPr>
            <a:picLocks noChangeAspect="1"/>
          </p:cNvPicPr>
          <p:nvPr/>
        </p:nvPicPr>
        <p:blipFill>
          <a:blip r:embed="rId1"/>
          <a:stretch>
            <a:fillRect/>
          </a:stretch>
        </p:blipFill>
        <p:spPr>
          <a:xfrm>
            <a:off x="13739056" y="7429500"/>
            <a:ext cx="3501195" cy="2857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533400"/>
            <a:ext cx="54260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III</a:t>
            </a:r>
            <a:endParaRPr lang="en-US" sz="1800" dirty="0"/>
          </a:p>
        </p:txBody>
      </p:sp>
      <p:sp>
        <p:nvSpPr>
          <p:cNvPr id="3" name="Text 1"/>
          <p:cNvSpPr/>
          <p:nvPr/>
        </p:nvSpPr>
        <p:spPr>
          <a:xfrm>
            <a:off x="1590350" y="533400"/>
            <a:ext cx="2051923"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THE PRESTIGE</a:t>
            </a:r>
            <a:endParaRPr lang="en-US" sz="1800" dirty="0"/>
          </a:p>
        </p:txBody>
      </p:sp>
      <p:sp>
        <p:nvSpPr>
          <p:cNvPr id="4" name="Shape 2"/>
          <p:cNvSpPr/>
          <p:nvPr/>
        </p:nvSpPr>
        <p:spPr>
          <a:xfrm>
            <a:off x="15271931" y="666750"/>
            <a:ext cx="457200" cy="38100"/>
          </a:xfrm>
          <a:prstGeom prst="rect">
            <a:avLst/>
          </a:prstGeom>
          <a:solidFill>
            <a:srgbClr val="99A1AE"/>
          </a:solidFill>
          <a:ln/>
        </p:spPr>
      </p:sp>
      <p:sp>
        <p:nvSpPr>
          <p:cNvPr id="5" name="Shape 3"/>
          <p:cNvSpPr/>
          <p:nvPr/>
        </p:nvSpPr>
        <p:spPr>
          <a:xfrm>
            <a:off x="15805331" y="666750"/>
            <a:ext cx="457200" cy="38100"/>
          </a:xfrm>
          <a:prstGeom prst="rect">
            <a:avLst/>
          </a:prstGeom>
          <a:solidFill>
            <a:srgbClr val="99A1AE"/>
          </a:solidFill>
          <a:ln/>
        </p:spPr>
      </p:sp>
      <p:sp>
        <p:nvSpPr>
          <p:cNvPr id="6" name="Shape 4"/>
          <p:cNvSpPr/>
          <p:nvPr/>
        </p:nvSpPr>
        <p:spPr>
          <a:xfrm>
            <a:off x="16338731" y="666750"/>
            <a:ext cx="457200" cy="38100"/>
          </a:xfrm>
          <a:prstGeom prst="rect">
            <a:avLst/>
          </a:prstGeom>
          <a:solidFill>
            <a:srgbClr val="16191F"/>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16</a:t>
            </a:r>
            <a:endParaRPr lang="en-US" sz="1800" dirty="0"/>
          </a:p>
        </p:txBody>
      </p:sp>
      <p:sp>
        <p:nvSpPr>
          <p:cNvPr id="8" name="Text 6"/>
          <p:cNvSpPr/>
          <p:nvPr/>
        </p:nvSpPr>
        <p:spPr>
          <a:xfrm>
            <a:off x="952500" y="1333500"/>
            <a:ext cx="14031992"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16191F"/>
                </a:solidFill>
                <a:latin typeface="Inter" pitchFamily="34" charset="0"/>
                <a:ea typeface="Inter" pitchFamily="34" charset="-122"/>
                <a:cs typeface="Inter" pitchFamily="34" charset="-120"/>
              </a:rPr>
              <a:t>Neither scale nor paradigm explains the gains</a:t>
            </a:r>
            <a:endParaRPr lang="en-US" sz="4800" dirty="0"/>
          </a:p>
        </p:txBody>
      </p:sp>
      <p:sp>
        <p:nvSpPr>
          <p:cNvPr id="9" name="Text 7"/>
          <p:cNvSpPr/>
          <p:nvPr/>
        </p:nvSpPr>
        <p:spPr>
          <a:xfrm>
            <a:off x="952500" y="2286000"/>
            <a:ext cx="4432816" cy="438150"/>
          </a:xfrm>
          <a:prstGeom prst="rect">
            <a:avLst/>
          </a:prstGeom>
          <a:noFill/>
          <a:ln/>
        </p:spPr>
        <p:txBody>
          <a:bodyPr wrap="square" lIns="25400" tIns="25400" rIns="25400" bIns="25400" rtlCol="0" anchor="t">
            <a:normAutofit/>
          </a:bodyPr>
          <a:lstStyle/>
          <a:p>
            <a:pPr algn="l" indent="0" marL="0">
              <a:lnSpc>
                <a:spcPct val="115500"/>
              </a:lnSpc>
              <a:buNone/>
            </a:pPr>
            <a:r>
              <a:rPr lang="en-US" sz="2250" dirty="0">
                <a:solidFill>
                  <a:srgbClr val="414750"/>
                </a:solidFill>
                <a:latin typeface="Inter" pitchFamily="34" charset="0"/>
                <a:ea typeface="Inter" pitchFamily="34" charset="-122"/>
                <a:cs typeface="Inter" pitchFamily="34" charset="-120"/>
              </a:rPr>
              <a:t>Overall Mean Score · Axis 7–9</a:t>
            </a:r>
            <a:endParaRPr lang="en-US" sz="2250" dirty="0"/>
          </a:p>
        </p:txBody>
      </p:sp>
      <p:sp>
        <p:nvSpPr>
          <p:cNvPr id="10" name="Shape 8"/>
          <p:cNvSpPr/>
          <p:nvPr/>
        </p:nvSpPr>
        <p:spPr>
          <a:xfrm>
            <a:off x="952500" y="3333750"/>
            <a:ext cx="5003764" cy="13855"/>
          </a:xfrm>
          <a:prstGeom prst="rect">
            <a:avLst/>
          </a:prstGeom>
          <a:solidFill>
            <a:srgbClr val="16191F"/>
          </a:solidFill>
          <a:ln/>
        </p:spPr>
      </p:sp>
      <p:sp>
        <p:nvSpPr>
          <p:cNvPr id="11" name="Text 9"/>
          <p:cNvSpPr/>
          <p:nvPr/>
        </p:nvSpPr>
        <p:spPr>
          <a:xfrm>
            <a:off x="952500" y="3614305"/>
            <a:ext cx="5504141"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SCALE</a:t>
            </a:r>
            <a:endParaRPr lang="en-US" sz="1800" dirty="0"/>
          </a:p>
        </p:txBody>
      </p:sp>
      <p:sp>
        <p:nvSpPr>
          <p:cNvPr id="12" name="Text 10"/>
          <p:cNvSpPr/>
          <p:nvPr/>
        </p:nvSpPr>
        <p:spPr>
          <a:xfrm>
            <a:off x="952500" y="4204855"/>
            <a:ext cx="5153877" cy="876300"/>
          </a:xfrm>
          <a:prstGeom prst="rect">
            <a:avLst/>
          </a:prstGeom>
          <a:noFill/>
          <a:ln/>
        </p:spPr>
        <p:txBody>
          <a:bodyPr wrap="square" lIns="25400" tIns="25400" rIns="25400" bIns="25400" rtlCol="0" anchor="t">
            <a:normAutofit/>
          </a:bodyPr>
          <a:lstStyle/>
          <a:p>
            <a:pPr algn="l" indent="0" marL="0">
              <a:lnSpc>
                <a:spcPct val="93887"/>
              </a:lnSpc>
              <a:buNone/>
            </a:pPr>
            <a:r>
              <a:rPr lang="en-US" sz="2850" b="1" spc="-43" kern="0" dirty="0">
                <a:solidFill>
                  <a:srgbClr val="16191F"/>
                </a:solidFill>
                <a:latin typeface="Inter" pitchFamily="34" charset="0"/>
                <a:ea typeface="Inter" pitchFamily="34" charset="-122"/>
                <a:cs typeface="Inter" pitchFamily="34" charset="-120"/>
              </a:rPr>
              <a:t>vs Larger and Similar-Size Models</a:t>
            </a:r>
            <a:endParaRPr lang="en-US" sz="2850" dirty="0"/>
          </a:p>
        </p:txBody>
      </p:sp>
      <p:sp>
        <p:nvSpPr>
          <p:cNvPr id="13" name="Text 11"/>
          <p:cNvSpPr/>
          <p:nvPr/>
        </p:nvSpPr>
        <p:spPr>
          <a:xfrm>
            <a:off x="952500" y="5335732"/>
            <a:ext cx="1854994"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Qwen-2.5-14B</a:t>
            </a:r>
            <a:endParaRPr lang="en-US" sz="1950" dirty="0"/>
          </a:p>
        </p:txBody>
      </p:sp>
      <p:sp>
        <p:nvSpPr>
          <p:cNvPr id="14" name="Text 12"/>
          <p:cNvSpPr/>
          <p:nvPr/>
        </p:nvSpPr>
        <p:spPr>
          <a:xfrm>
            <a:off x="5361817" y="5328805"/>
            <a:ext cx="670647" cy="363682"/>
          </a:xfrm>
          <a:prstGeom prst="rect">
            <a:avLst/>
          </a:prstGeom>
          <a:noFill/>
          <a:ln/>
        </p:spPr>
        <p:txBody>
          <a:bodyPr wrap="square" lIns="25400" tIns="25400" rIns="25400" bIns="25400" rtlCol="0" anchor="t">
            <a:normAutofit/>
          </a:bodyPr>
          <a:lstStyle/>
          <a:p>
            <a:pPr algn="l" indent="0" marL="0">
              <a:buNone/>
            </a:pPr>
            <a:r>
              <a:rPr lang="en-US" sz="1950" dirty="0">
                <a:solidFill>
                  <a:srgbClr val="414750"/>
                </a:solidFill>
                <a:latin typeface="JetBrains Mono" pitchFamily="34" charset="0"/>
                <a:ea typeface="JetBrains Mono" pitchFamily="34" charset="-122"/>
                <a:cs typeface="JetBrains Mono" pitchFamily="34" charset="-120"/>
              </a:rPr>
              <a:t>7.62</a:t>
            </a:r>
            <a:endParaRPr lang="en-US" sz="1950" dirty="0"/>
          </a:p>
        </p:txBody>
      </p:sp>
      <p:sp>
        <p:nvSpPr>
          <p:cNvPr id="15" name="Shape 13"/>
          <p:cNvSpPr/>
          <p:nvPr/>
        </p:nvSpPr>
        <p:spPr>
          <a:xfrm>
            <a:off x="952500" y="5749636"/>
            <a:ext cx="5003764" cy="209550"/>
          </a:xfrm>
          <a:prstGeom prst="roundRect">
            <a:avLst>
              <a:gd name="adj" fmla="val 18182"/>
            </a:avLst>
          </a:prstGeom>
          <a:solidFill>
            <a:srgbClr val="EEF1F5"/>
          </a:solidFill>
          <a:ln/>
        </p:spPr>
      </p:sp>
      <p:sp>
        <p:nvSpPr>
          <p:cNvPr id="16" name="Shape 14"/>
          <p:cNvSpPr/>
          <p:nvPr/>
        </p:nvSpPr>
        <p:spPr>
          <a:xfrm>
            <a:off x="952500" y="5749636"/>
            <a:ext cx="1551060" cy="209550"/>
          </a:xfrm>
          <a:prstGeom prst="roundRect">
            <a:avLst>
              <a:gd name="adj" fmla="val 18182"/>
            </a:avLst>
          </a:prstGeom>
          <a:solidFill>
            <a:srgbClr val="99A1AE"/>
          </a:solidFill>
          <a:ln/>
        </p:spPr>
      </p:sp>
      <p:sp>
        <p:nvSpPr>
          <p:cNvPr id="17" name="Text 15"/>
          <p:cNvSpPr/>
          <p:nvPr/>
        </p:nvSpPr>
        <p:spPr>
          <a:xfrm>
            <a:off x="952500" y="6175664"/>
            <a:ext cx="264354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Qwen3-32B (Dense)</a:t>
            </a:r>
            <a:endParaRPr lang="en-US" sz="1950" dirty="0"/>
          </a:p>
        </p:txBody>
      </p:sp>
      <p:sp>
        <p:nvSpPr>
          <p:cNvPr id="18" name="Text 16"/>
          <p:cNvSpPr/>
          <p:nvPr/>
        </p:nvSpPr>
        <p:spPr>
          <a:xfrm>
            <a:off x="5361817" y="6168736"/>
            <a:ext cx="670647" cy="363682"/>
          </a:xfrm>
          <a:prstGeom prst="rect">
            <a:avLst/>
          </a:prstGeom>
          <a:noFill/>
          <a:ln/>
        </p:spPr>
        <p:txBody>
          <a:bodyPr wrap="square" lIns="25400" tIns="25400" rIns="25400" bIns="25400" rtlCol="0" anchor="t">
            <a:normAutofit/>
          </a:bodyPr>
          <a:lstStyle/>
          <a:p>
            <a:pPr algn="l" indent="0" marL="0">
              <a:buNone/>
            </a:pPr>
            <a:r>
              <a:rPr lang="en-US" sz="1950" dirty="0">
                <a:solidFill>
                  <a:srgbClr val="414750"/>
                </a:solidFill>
                <a:latin typeface="JetBrains Mono" pitchFamily="34" charset="0"/>
                <a:ea typeface="JetBrains Mono" pitchFamily="34" charset="-122"/>
                <a:cs typeface="JetBrains Mono" pitchFamily="34" charset="-120"/>
              </a:rPr>
              <a:t>7.90</a:t>
            </a:r>
            <a:endParaRPr lang="en-US" sz="1950" dirty="0"/>
          </a:p>
        </p:txBody>
      </p:sp>
      <p:sp>
        <p:nvSpPr>
          <p:cNvPr id="19" name="Shape 17"/>
          <p:cNvSpPr/>
          <p:nvPr/>
        </p:nvSpPr>
        <p:spPr>
          <a:xfrm>
            <a:off x="952500" y="6589568"/>
            <a:ext cx="5003764" cy="209550"/>
          </a:xfrm>
          <a:prstGeom prst="roundRect">
            <a:avLst>
              <a:gd name="adj" fmla="val 18182"/>
            </a:avLst>
          </a:prstGeom>
          <a:solidFill>
            <a:srgbClr val="EEF1F5"/>
          </a:solidFill>
          <a:ln/>
        </p:spPr>
      </p:sp>
      <p:sp>
        <p:nvSpPr>
          <p:cNvPr id="20" name="Shape 18"/>
          <p:cNvSpPr/>
          <p:nvPr/>
        </p:nvSpPr>
        <p:spPr>
          <a:xfrm>
            <a:off x="952500" y="6589568"/>
            <a:ext cx="2251688" cy="209550"/>
          </a:xfrm>
          <a:prstGeom prst="roundRect">
            <a:avLst>
              <a:gd name="adj" fmla="val 18182"/>
            </a:avLst>
          </a:prstGeom>
          <a:solidFill>
            <a:srgbClr val="99A1AE"/>
          </a:solidFill>
          <a:ln/>
        </p:spPr>
      </p:sp>
      <p:sp>
        <p:nvSpPr>
          <p:cNvPr id="21" name="Text 19"/>
          <p:cNvSpPr/>
          <p:nvPr/>
        </p:nvSpPr>
        <p:spPr>
          <a:xfrm>
            <a:off x="952500" y="7015596"/>
            <a:ext cx="1174822"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6191F"/>
                </a:solidFill>
                <a:latin typeface="Inter" pitchFamily="34" charset="0"/>
                <a:ea typeface="Inter" pitchFamily="34" charset="-122"/>
                <a:cs typeface="Inter" pitchFamily="34" charset="-120"/>
              </a:rPr>
              <a:t>PlotTwist</a:t>
            </a:r>
            <a:endParaRPr lang="en-US" sz="1950" dirty="0"/>
          </a:p>
        </p:txBody>
      </p:sp>
      <p:sp>
        <p:nvSpPr>
          <p:cNvPr id="22" name="Text 20"/>
          <p:cNvSpPr/>
          <p:nvPr/>
        </p:nvSpPr>
        <p:spPr>
          <a:xfrm>
            <a:off x="5361817" y="7008668"/>
            <a:ext cx="670647" cy="363682"/>
          </a:xfrm>
          <a:prstGeom prst="rect">
            <a:avLst/>
          </a:prstGeom>
          <a:noFill/>
          <a:ln/>
        </p:spPr>
        <p:txBody>
          <a:bodyPr wrap="square" lIns="25400" tIns="25400" rIns="25400" bIns="25400" rtlCol="0" anchor="t">
            <a:normAutofit/>
          </a:bodyPr>
          <a:lstStyle/>
          <a:p>
            <a:pPr algn="l" indent="0" marL="0">
              <a:buNone/>
            </a:pPr>
            <a:r>
              <a:rPr lang="en-US" sz="1950" b="1" dirty="0">
                <a:solidFill>
                  <a:srgbClr val="1E88E5"/>
                </a:solidFill>
                <a:latin typeface="JetBrains Mono" pitchFamily="34" charset="0"/>
                <a:ea typeface="JetBrains Mono" pitchFamily="34" charset="-122"/>
                <a:cs typeface="JetBrains Mono" pitchFamily="34" charset="-120"/>
              </a:rPr>
              <a:t>8.36</a:t>
            </a:r>
            <a:endParaRPr lang="en-US" sz="1950" dirty="0"/>
          </a:p>
        </p:txBody>
      </p:sp>
      <p:sp>
        <p:nvSpPr>
          <p:cNvPr id="23" name="Shape 21"/>
          <p:cNvSpPr/>
          <p:nvPr/>
        </p:nvSpPr>
        <p:spPr>
          <a:xfrm>
            <a:off x="952500" y="7429500"/>
            <a:ext cx="5003764" cy="209550"/>
          </a:xfrm>
          <a:prstGeom prst="roundRect">
            <a:avLst>
              <a:gd name="adj" fmla="val 18182"/>
            </a:avLst>
          </a:prstGeom>
          <a:solidFill>
            <a:srgbClr val="EEF1F5"/>
          </a:solidFill>
          <a:ln/>
        </p:spPr>
      </p:sp>
      <p:sp>
        <p:nvSpPr>
          <p:cNvPr id="24" name="Shape 22"/>
          <p:cNvSpPr/>
          <p:nvPr/>
        </p:nvSpPr>
        <p:spPr>
          <a:xfrm>
            <a:off x="952500" y="7429500"/>
            <a:ext cx="3402482" cy="209550"/>
          </a:xfrm>
          <a:prstGeom prst="roundRect">
            <a:avLst>
              <a:gd name="adj" fmla="val 18182"/>
            </a:avLst>
          </a:prstGeom>
          <a:solidFill>
            <a:srgbClr val="1E88E5"/>
          </a:solidFill>
          <a:ln/>
        </p:spPr>
      </p:sp>
      <p:sp>
        <p:nvSpPr>
          <p:cNvPr id="25" name="Text 23"/>
          <p:cNvSpPr/>
          <p:nvPr/>
        </p:nvSpPr>
        <p:spPr>
          <a:xfrm>
            <a:off x="952500" y="7924800"/>
            <a:ext cx="5504141" cy="384788"/>
          </a:xfrm>
          <a:prstGeom prst="rect">
            <a:avLst/>
          </a:prstGeom>
          <a:noFill/>
          <a:ln/>
        </p:spPr>
        <p:txBody>
          <a:bodyPr wrap="square" lIns="25400" tIns="25400" rIns="25400" bIns="25400" rtlCol="0" anchor="t">
            <a:normAutofit/>
          </a:bodyPr>
          <a:lstStyle/>
          <a:p>
            <a:pPr algn="l" indent="0" marL="0">
              <a:lnSpc>
                <a:spcPct val="113750"/>
              </a:lnSpc>
              <a:buNone/>
            </a:pPr>
            <a:r>
              <a:rPr lang="en-US" sz="1950" dirty="0">
                <a:solidFill>
                  <a:srgbClr val="414750"/>
                </a:solidFill>
                <a:latin typeface="Inter" pitchFamily="34" charset="0"/>
                <a:ea typeface="Inter" pitchFamily="34" charset="-122"/>
                <a:cs typeface="Inter" pitchFamily="34" charset="-120"/>
              </a:rPr>
              <a:t>≈ 1/10 Active Parameters · Win Rate 0.99</a:t>
            </a:r>
            <a:endParaRPr lang="en-US" sz="1950" dirty="0"/>
          </a:p>
        </p:txBody>
      </p:sp>
      <p:sp>
        <p:nvSpPr>
          <p:cNvPr id="26" name="Shape 24"/>
          <p:cNvSpPr/>
          <p:nvPr/>
        </p:nvSpPr>
        <p:spPr>
          <a:xfrm>
            <a:off x="6642064" y="3333750"/>
            <a:ext cx="5003764" cy="13855"/>
          </a:xfrm>
          <a:prstGeom prst="rect">
            <a:avLst/>
          </a:prstGeom>
          <a:solidFill>
            <a:srgbClr val="16191F"/>
          </a:solidFill>
          <a:ln/>
        </p:spPr>
      </p:sp>
      <p:sp>
        <p:nvSpPr>
          <p:cNvPr id="27" name="Text 25"/>
          <p:cNvSpPr/>
          <p:nvPr/>
        </p:nvSpPr>
        <p:spPr>
          <a:xfrm>
            <a:off x="6642064" y="3614305"/>
            <a:ext cx="5504141"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PARADIGM</a:t>
            </a:r>
            <a:endParaRPr lang="en-US" sz="1800" dirty="0"/>
          </a:p>
        </p:txBody>
      </p:sp>
      <p:sp>
        <p:nvSpPr>
          <p:cNvPr id="28" name="Text 26"/>
          <p:cNvSpPr/>
          <p:nvPr/>
        </p:nvSpPr>
        <p:spPr>
          <a:xfrm>
            <a:off x="6642064" y="4204855"/>
            <a:ext cx="5153877" cy="876300"/>
          </a:xfrm>
          <a:prstGeom prst="rect">
            <a:avLst/>
          </a:prstGeom>
          <a:noFill/>
          <a:ln/>
        </p:spPr>
        <p:txBody>
          <a:bodyPr wrap="square" lIns="25400" tIns="25400" rIns="25400" bIns="25400" rtlCol="0" anchor="t">
            <a:normAutofit/>
          </a:bodyPr>
          <a:lstStyle/>
          <a:p>
            <a:pPr algn="l" indent="0" marL="0">
              <a:lnSpc>
                <a:spcPct val="93887"/>
              </a:lnSpc>
              <a:buNone/>
            </a:pPr>
            <a:r>
              <a:rPr lang="en-US" sz="2850" b="1" spc="-43" kern="0" dirty="0">
                <a:solidFill>
                  <a:srgbClr val="16191F"/>
                </a:solidFill>
                <a:latin typeface="Inter" pitchFamily="34" charset="0"/>
                <a:ea typeface="Inter" pitchFamily="34" charset="-122"/>
                <a:cs typeface="Inter" pitchFamily="34" charset="-120"/>
              </a:rPr>
              <a:t>vs a Multi-Agent Writers’ Room</a:t>
            </a:r>
            <a:endParaRPr lang="en-US" sz="2850" dirty="0"/>
          </a:p>
        </p:txBody>
      </p:sp>
      <p:sp>
        <p:nvSpPr>
          <p:cNvPr id="29" name="Text 27"/>
          <p:cNvSpPr/>
          <p:nvPr/>
        </p:nvSpPr>
        <p:spPr>
          <a:xfrm>
            <a:off x="6642064" y="5335732"/>
            <a:ext cx="1799987"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Agents' Room</a:t>
            </a:r>
            <a:endParaRPr lang="en-US" sz="1950" dirty="0"/>
          </a:p>
        </p:txBody>
      </p:sp>
      <p:sp>
        <p:nvSpPr>
          <p:cNvPr id="30" name="Text 28"/>
          <p:cNvSpPr/>
          <p:nvPr/>
        </p:nvSpPr>
        <p:spPr>
          <a:xfrm>
            <a:off x="11051381" y="5328805"/>
            <a:ext cx="670647" cy="363682"/>
          </a:xfrm>
          <a:prstGeom prst="rect">
            <a:avLst/>
          </a:prstGeom>
          <a:noFill/>
          <a:ln/>
        </p:spPr>
        <p:txBody>
          <a:bodyPr wrap="square" lIns="25400" tIns="25400" rIns="25400" bIns="25400" rtlCol="0" anchor="t">
            <a:normAutofit/>
          </a:bodyPr>
          <a:lstStyle/>
          <a:p>
            <a:pPr algn="l" indent="0" marL="0">
              <a:buNone/>
            </a:pPr>
            <a:r>
              <a:rPr lang="en-US" sz="1950" dirty="0">
                <a:solidFill>
                  <a:srgbClr val="414750"/>
                </a:solidFill>
                <a:latin typeface="JetBrains Mono" pitchFamily="34" charset="0"/>
                <a:ea typeface="JetBrains Mono" pitchFamily="34" charset="-122"/>
                <a:cs typeface="JetBrains Mono" pitchFamily="34" charset="-120"/>
              </a:rPr>
              <a:t>8.25</a:t>
            </a:r>
            <a:endParaRPr lang="en-US" sz="1950" dirty="0"/>
          </a:p>
        </p:txBody>
      </p:sp>
      <p:sp>
        <p:nvSpPr>
          <p:cNvPr id="31" name="Shape 29"/>
          <p:cNvSpPr/>
          <p:nvPr/>
        </p:nvSpPr>
        <p:spPr>
          <a:xfrm>
            <a:off x="6642064" y="5749636"/>
            <a:ext cx="5003764" cy="209550"/>
          </a:xfrm>
          <a:prstGeom prst="roundRect">
            <a:avLst>
              <a:gd name="adj" fmla="val 18182"/>
            </a:avLst>
          </a:prstGeom>
          <a:solidFill>
            <a:srgbClr val="EEF1F5"/>
          </a:solidFill>
          <a:ln/>
        </p:spPr>
      </p:sp>
      <p:sp>
        <p:nvSpPr>
          <p:cNvPr id="32" name="Shape 30"/>
          <p:cNvSpPr/>
          <p:nvPr/>
        </p:nvSpPr>
        <p:spPr>
          <a:xfrm>
            <a:off x="6642064" y="5749636"/>
            <a:ext cx="3127339" cy="209550"/>
          </a:xfrm>
          <a:prstGeom prst="roundRect">
            <a:avLst>
              <a:gd name="adj" fmla="val 18182"/>
            </a:avLst>
          </a:prstGeom>
          <a:solidFill>
            <a:srgbClr val="99A1AE"/>
          </a:solidFill>
          <a:ln/>
        </p:spPr>
      </p:sp>
      <p:sp>
        <p:nvSpPr>
          <p:cNvPr id="33" name="Text 31"/>
          <p:cNvSpPr/>
          <p:nvPr/>
        </p:nvSpPr>
        <p:spPr>
          <a:xfrm>
            <a:off x="6642064" y="6175664"/>
            <a:ext cx="1174822"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6191F"/>
                </a:solidFill>
                <a:latin typeface="Inter" pitchFamily="34" charset="0"/>
                <a:ea typeface="Inter" pitchFamily="34" charset="-122"/>
                <a:cs typeface="Inter" pitchFamily="34" charset="-120"/>
              </a:rPr>
              <a:t>PlotTwist</a:t>
            </a:r>
            <a:endParaRPr lang="en-US" sz="1950" dirty="0"/>
          </a:p>
        </p:txBody>
      </p:sp>
      <p:sp>
        <p:nvSpPr>
          <p:cNvPr id="34" name="Text 32"/>
          <p:cNvSpPr/>
          <p:nvPr/>
        </p:nvSpPr>
        <p:spPr>
          <a:xfrm>
            <a:off x="11051381" y="6168736"/>
            <a:ext cx="670647" cy="363682"/>
          </a:xfrm>
          <a:prstGeom prst="rect">
            <a:avLst/>
          </a:prstGeom>
          <a:noFill/>
          <a:ln/>
        </p:spPr>
        <p:txBody>
          <a:bodyPr wrap="square" lIns="25400" tIns="25400" rIns="25400" bIns="25400" rtlCol="0" anchor="t">
            <a:normAutofit/>
          </a:bodyPr>
          <a:lstStyle/>
          <a:p>
            <a:pPr algn="l" indent="0" marL="0">
              <a:buNone/>
            </a:pPr>
            <a:r>
              <a:rPr lang="en-US" sz="1950" b="1" dirty="0">
                <a:solidFill>
                  <a:srgbClr val="1E88E5"/>
                </a:solidFill>
                <a:latin typeface="JetBrains Mono" pitchFamily="34" charset="0"/>
                <a:ea typeface="JetBrains Mono" pitchFamily="34" charset="-122"/>
                <a:cs typeface="JetBrains Mono" pitchFamily="34" charset="-120"/>
              </a:rPr>
              <a:t>8.36</a:t>
            </a:r>
            <a:endParaRPr lang="en-US" sz="1950" dirty="0"/>
          </a:p>
        </p:txBody>
      </p:sp>
      <p:sp>
        <p:nvSpPr>
          <p:cNvPr id="35" name="Shape 33"/>
          <p:cNvSpPr/>
          <p:nvPr/>
        </p:nvSpPr>
        <p:spPr>
          <a:xfrm>
            <a:off x="6642064" y="6589568"/>
            <a:ext cx="5003764" cy="209550"/>
          </a:xfrm>
          <a:prstGeom prst="roundRect">
            <a:avLst>
              <a:gd name="adj" fmla="val 18182"/>
            </a:avLst>
          </a:prstGeom>
          <a:solidFill>
            <a:srgbClr val="EEF1F5"/>
          </a:solidFill>
          <a:ln/>
        </p:spPr>
      </p:sp>
      <p:sp>
        <p:nvSpPr>
          <p:cNvPr id="36" name="Shape 34"/>
          <p:cNvSpPr/>
          <p:nvPr/>
        </p:nvSpPr>
        <p:spPr>
          <a:xfrm>
            <a:off x="6642064" y="6589568"/>
            <a:ext cx="3402482" cy="209550"/>
          </a:xfrm>
          <a:prstGeom prst="roundRect">
            <a:avLst>
              <a:gd name="adj" fmla="val 18182"/>
            </a:avLst>
          </a:prstGeom>
          <a:solidFill>
            <a:srgbClr val="1E88E5"/>
          </a:solidFill>
          <a:ln/>
        </p:spPr>
      </p:sp>
      <p:sp>
        <p:nvSpPr>
          <p:cNvPr id="37" name="Text 35"/>
          <p:cNvSpPr/>
          <p:nvPr/>
        </p:nvSpPr>
        <p:spPr>
          <a:xfrm>
            <a:off x="6642064" y="7084868"/>
            <a:ext cx="5504141" cy="384788"/>
          </a:xfrm>
          <a:prstGeom prst="rect">
            <a:avLst/>
          </a:prstGeom>
          <a:noFill/>
          <a:ln/>
        </p:spPr>
        <p:txBody>
          <a:bodyPr wrap="square" lIns="25400" tIns="25400" rIns="25400" bIns="25400" rtlCol="0" anchor="t">
            <a:normAutofit/>
          </a:bodyPr>
          <a:lstStyle/>
          <a:p>
            <a:pPr algn="l" indent="0" marL="0">
              <a:lnSpc>
                <a:spcPct val="113750"/>
              </a:lnSpc>
              <a:buNone/>
            </a:pPr>
            <a:r>
              <a:rPr lang="en-US" sz="1950" dirty="0">
                <a:solidFill>
                  <a:srgbClr val="414750"/>
                </a:solidFill>
                <a:latin typeface="Inter" pitchFamily="34" charset="0"/>
                <a:ea typeface="Inter" pitchFamily="34" charset="-122"/>
                <a:cs typeface="Inter" pitchFamily="34" charset="-120"/>
              </a:rPr>
              <a:t>1 Model · 1 Pass · Win Rate 0.73</a:t>
            </a:r>
            <a:endParaRPr lang="en-US" sz="1950" dirty="0"/>
          </a:p>
        </p:txBody>
      </p:sp>
      <p:sp>
        <p:nvSpPr>
          <p:cNvPr id="38" name="Shape 36"/>
          <p:cNvSpPr/>
          <p:nvPr/>
        </p:nvSpPr>
        <p:spPr>
          <a:xfrm>
            <a:off x="12331629" y="3333750"/>
            <a:ext cx="5003764" cy="13855"/>
          </a:xfrm>
          <a:prstGeom prst="rect">
            <a:avLst/>
          </a:prstGeom>
          <a:solidFill>
            <a:srgbClr val="16191F"/>
          </a:solidFill>
          <a:ln/>
        </p:spPr>
      </p:sp>
      <p:sp>
        <p:nvSpPr>
          <p:cNvPr id="39" name="Text 37"/>
          <p:cNvSpPr/>
          <p:nvPr/>
        </p:nvSpPr>
        <p:spPr>
          <a:xfrm>
            <a:off x="12331629" y="3614305"/>
            <a:ext cx="5504141"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ALIGNMENT</a:t>
            </a:r>
            <a:endParaRPr lang="en-US" sz="1800" dirty="0"/>
          </a:p>
        </p:txBody>
      </p:sp>
      <p:sp>
        <p:nvSpPr>
          <p:cNvPr id="40" name="Text 38"/>
          <p:cNvSpPr/>
          <p:nvPr/>
        </p:nvSpPr>
        <p:spPr>
          <a:xfrm>
            <a:off x="12331629" y="4204855"/>
            <a:ext cx="5153877" cy="876300"/>
          </a:xfrm>
          <a:prstGeom prst="rect">
            <a:avLst/>
          </a:prstGeom>
          <a:noFill/>
          <a:ln/>
        </p:spPr>
        <p:txBody>
          <a:bodyPr wrap="square" lIns="25400" tIns="25400" rIns="25400" bIns="25400" rtlCol="0" anchor="t">
            <a:normAutofit/>
          </a:bodyPr>
          <a:lstStyle/>
          <a:p>
            <a:pPr algn="l" indent="0" marL="0">
              <a:lnSpc>
                <a:spcPct val="93887"/>
              </a:lnSpc>
              <a:buNone/>
            </a:pPr>
            <a:r>
              <a:rPr lang="en-US" sz="2850" b="1" spc="-43" kern="0" dirty="0">
                <a:solidFill>
                  <a:srgbClr val="16191F"/>
                </a:solidFill>
                <a:latin typeface="Inter" pitchFamily="34" charset="0"/>
                <a:ea typeface="Inter" pitchFamily="34" charset="-122"/>
                <a:cs typeface="Inter" pitchFamily="34" charset="-120"/>
              </a:rPr>
              <a:t>Same MoE, Before and After DPO</a:t>
            </a:r>
            <a:endParaRPr lang="en-US" sz="2850" dirty="0"/>
          </a:p>
        </p:txBody>
      </p:sp>
      <p:sp>
        <p:nvSpPr>
          <p:cNvPr id="41" name="Text 39"/>
          <p:cNvSpPr/>
          <p:nvPr/>
        </p:nvSpPr>
        <p:spPr>
          <a:xfrm>
            <a:off x="12331629" y="5335732"/>
            <a:ext cx="3038237" cy="342900"/>
          </a:xfrm>
          <a:prstGeom prst="rect">
            <a:avLst/>
          </a:prstGeom>
          <a:noFill/>
          <a:ln/>
        </p:spPr>
        <p:txBody>
          <a:bodyPr wrap="square" lIns="25400" tIns="25400" rIns="25400" bIns="25400" rtlCol="0" anchor="t">
            <a:normAutofit/>
          </a:bodyPr>
          <a:lstStyle/>
          <a:p>
            <a:pPr algn="l" indent="0" marL="0">
              <a:buNone/>
            </a:pPr>
            <a:r>
              <a:rPr lang="en-US" sz="1950" dirty="0">
                <a:solidFill>
                  <a:srgbClr val="16191F"/>
                </a:solidFill>
                <a:latin typeface="Inter" pitchFamily="34" charset="0"/>
                <a:ea typeface="Inter" pitchFamily="34" charset="-122"/>
                <a:cs typeface="Inter" pitchFamily="34" charset="-120"/>
              </a:rPr>
              <a:t>Qwen-3-30B-A3B Base</a:t>
            </a:r>
            <a:endParaRPr lang="en-US" sz="1950" dirty="0"/>
          </a:p>
        </p:txBody>
      </p:sp>
      <p:sp>
        <p:nvSpPr>
          <p:cNvPr id="42" name="Text 40"/>
          <p:cNvSpPr/>
          <p:nvPr/>
        </p:nvSpPr>
        <p:spPr>
          <a:xfrm>
            <a:off x="16740946" y="5328805"/>
            <a:ext cx="670647" cy="363682"/>
          </a:xfrm>
          <a:prstGeom prst="rect">
            <a:avLst/>
          </a:prstGeom>
          <a:noFill/>
          <a:ln/>
        </p:spPr>
        <p:txBody>
          <a:bodyPr wrap="square" lIns="25400" tIns="25400" rIns="25400" bIns="25400" rtlCol="0" anchor="t">
            <a:normAutofit/>
          </a:bodyPr>
          <a:lstStyle/>
          <a:p>
            <a:pPr algn="l" indent="0" marL="0">
              <a:buNone/>
            </a:pPr>
            <a:r>
              <a:rPr lang="en-US" sz="1950" dirty="0">
                <a:solidFill>
                  <a:srgbClr val="414750"/>
                </a:solidFill>
                <a:latin typeface="JetBrains Mono" pitchFamily="34" charset="0"/>
                <a:ea typeface="JetBrains Mono" pitchFamily="34" charset="-122"/>
                <a:cs typeface="JetBrains Mono" pitchFamily="34" charset="-120"/>
              </a:rPr>
              <a:t>8.03</a:t>
            </a:r>
            <a:endParaRPr lang="en-US" sz="1950" dirty="0"/>
          </a:p>
        </p:txBody>
      </p:sp>
      <p:sp>
        <p:nvSpPr>
          <p:cNvPr id="43" name="Shape 41"/>
          <p:cNvSpPr/>
          <p:nvPr/>
        </p:nvSpPr>
        <p:spPr>
          <a:xfrm>
            <a:off x="12331629" y="5749636"/>
            <a:ext cx="5003764" cy="209550"/>
          </a:xfrm>
          <a:prstGeom prst="roundRect">
            <a:avLst>
              <a:gd name="adj" fmla="val 18182"/>
            </a:avLst>
          </a:prstGeom>
          <a:solidFill>
            <a:srgbClr val="EEF1F5"/>
          </a:solidFill>
          <a:ln/>
        </p:spPr>
      </p:sp>
      <p:sp>
        <p:nvSpPr>
          <p:cNvPr id="44" name="Shape 42"/>
          <p:cNvSpPr/>
          <p:nvPr/>
        </p:nvSpPr>
        <p:spPr>
          <a:xfrm>
            <a:off x="12331629" y="5749636"/>
            <a:ext cx="2576837" cy="209550"/>
          </a:xfrm>
          <a:prstGeom prst="roundRect">
            <a:avLst>
              <a:gd name="adj" fmla="val 18182"/>
            </a:avLst>
          </a:prstGeom>
          <a:solidFill>
            <a:srgbClr val="99A1AE"/>
          </a:solidFill>
          <a:ln/>
        </p:spPr>
      </p:sp>
      <p:sp>
        <p:nvSpPr>
          <p:cNvPr id="45" name="Text 43"/>
          <p:cNvSpPr/>
          <p:nvPr/>
        </p:nvSpPr>
        <p:spPr>
          <a:xfrm>
            <a:off x="12331629" y="6175664"/>
            <a:ext cx="2500313"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6191F"/>
                </a:solidFill>
                <a:latin typeface="Inter" pitchFamily="34" charset="0"/>
                <a:ea typeface="Inter" pitchFamily="34" charset="-122"/>
                <a:cs typeface="Inter" pitchFamily="34" charset="-120"/>
              </a:rPr>
              <a:t>+ DPO on 160 Pairs</a:t>
            </a:r>
            <a:endParaRPr lang="en-US" sz="1950" dirty="0"/>
          </a:p>
        </p:txBody>
      </p:sp>
      <p:sp>
        <p:nvSpPr>
          <p:cNvPr id="46" name="Text 44"/>
          <p:cNvSpPr/>
          <p:nvPr/>
        </p:nvSpPr>
        <p:spPr>
          <a:xfrm>
            <a:off x="16740946" y="6168736"/>
            <a:ext cx="670647" cy="363682"/>
          </a:xfrm>
          <a:prstGeom prst="rect">
            <a:avLst/>
          </a:prstGeom>
          <a:noFill/>
          <a:ln/>
        </p:spPr>
        <p:txBody>
          <a:bodyPr wrap="square" lIns="25400" tIns="25400" rIns="25400" bIns="25400" rtlCol="0" anchor="t">
            <a:normAutofit/>
          </a:bodyPr>
          <a:lstStyle/>
          <a:p>
            <a:pPr algn="l" indent="0" marL="0">
              <a:buNone/>
            </a:pPr>
            <a:r>
              <a:rPr lang="en-US" sz="1950" b="1" dirty="0">
                <a:solidFill>
                  <a:srgbClr val="1E88E5"/>
                </a:solidFill>
                <a:latin typeface="JetBrains Mono" pitchFamily="34" charset="0"/>
                <a:ea typeface="JetBrains Mono" pitchFamily="34" charset="-122"/>
                <a:cs typeface="JetBrains Mono" pitchFamily="34" charset="-120"/>
              </a:rPr>
              <a:t>8.81</a:t>
            </a:r>
            <a:endParaRPr lang="en-US" sz="1950" dirty="0"/>
          </a:p>
        </p:txBody>
      </p:sp>
      <p:sp>
        <p:nvSpPr>
          <p:cNvPr id="47" name="Shape 45"/>
          <p:cNvSpPr/>
          <p:nvPr/>
        </p:nvSpPr>
        <p:spPr>
          <a:xfrm>
            <a:off x="12331629" y="6589568"/>
            <a:ext cx="5003764" cy="209550"/>
          </a:xfrm>
          <a:prstGeom prst="roundRect">
            <a:avLst>
              <a:gd name="adj" fmla="val 18182"/>
            </a:avLst>
          </a:prstGeom>
          <a:solidFill>
            <a:srgbClr val="EEF1F5"/>
          </a:solidFill>
          <a:ln/>
        </p:spPr>
      </p:sp>
      <p:sp>
        <p:nvSpPr>
          <p:cNvPr id="48" name="Shape 46"/>
          <p:cNvSpPr/>
          <p:nvPr/>
        </p:nvSpPr>
        <p:spPr>
          <a:xfrm>
            <a:off x="12331629" y="6589568"/>
            <a:ext cx="4528380" cy="209550"/>
          </a:xfrm>
          <a:prstGeom prst="roundRect">
            <a:avLst>
              <a:gd name="adj" fmla="val 18182"/>
            </a:avLst>
          </a:prstGeom>
          <a:solidFill>
            <a:srgbClr val="1E88E5"/>
          </a:solidFill>
          <a:ln/>
        </p:spPr>
      </p:sp>
      <p:sp>
        <p:nvSpPr>
          <p:cNvPr id="49" name="Text 47"/>
          <p:cNvSpPr/>
          <p:nvPr/>
        </p:nvSpPr>
        <p:spPr>
          <a:xfrm>
            <a:off x="12331629" y="7084868"/>
            <a:ext cx="5153877" cy="731477"/>
          </a:xfrm>
          <a:prstGeom prst="rect">
            <a:avLst/>
          </a:prstGeom>
          <a:noFill/>
          <a:ln/>
        </p:spPr>
        <p:txBody>
          <a:bodyPr wrap="square" lIns="25400" tIns="25400" rIns="25400" bIns="25400" rtlCol="0" anchor="t">
            <a:normAutofit/>
          </a:bodyPr>
          <a:lstStyle/>
          <a:p>
            <a:pPr algn="l" indent="0" marL="0">
              <a:lnSpc>
                <a:spcPct val="113750"/>
              </a:lnSpc>
              <a:buNone/>
            </a:pPr>
            <a:r>
              <a:rPr lang="en-US" sz="1950" dirty="0">
                <a:solidFill>
                  <a:srgbClr val="414750"/>
                </a:solidFill>
                <a:latin typeface="Inter" pitchFamily="34" charset="0"/>
                <a:ea typeface="Inter" pitchFamily="34" charset="-122"/>
                <a:cs typeface="Inter" pitchFamily="34" charset="-120"/>
              </a:rPr>
              <a:t>+0.78 · Development Evaluator, Not the Jury</a:t>
            </a:r>
            <a:endParaRPr lang="en-US" sz="1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533400"/>
            <a:ext cx="54260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III</a:t>
            </a:r>
            <a:endParaRPr lang="en-US" sz="1800" dirty="0"/>
          </a:p>
        </p:txBody>
      </p:sp>
      <p:sp>
        <p:nvSpPr>
          <p:cNvPr id="3" name="Text 1"/>
          <p:cNvSpPr/>
          <p:nvPr/>
        </p:nvSpPr>
        <p:spPr>
          <a:xfrm>
            <a:off x="1590350" y="533400"/>
            <a:ext cx="2051923"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THE PRESTIGE</a:t>
            </a:r>
            <a:endParaRPr lang="en-US" sz="1800" dirty="0"/>
          </a:p>
        </p:txBody>
      </p:sp>
      <p:sp>
        <p:nvSpPr>
          <p:cNvPr id="4" name="Shape 2"/>
          <p:cNvSpPr/>
          <p:nvPr/>
        </p:nvSpPr>
        <p:spPr>
          <a:xfrm>
            <a:off x="15271931" y="666750"/>
            <a:ext cx="457200" cy="38100"/>
          </a:xfrm>
          <a:prstGeom prst="rect">
            <a:avLst/>
          </a:prstGeom>
          <a:solidFill>
            <a:srgbClr val="99A1AE"/>
          </a:solidFill>
          <a:ln/>
        </p:spPr>
      </p:sp>
      <p:sp>
        <p:nvSpPr>
          <p:cNvPr id="5" name="Shape 3"/>
          <p:cNvSpPr/>
          <p:nvPr/>
        </p:nvSpPr>
        <p:spPr>
          <a:xfrm>
            <a:off x="15805331" y="666750"/>
            <a:ext cx="457200" cy="38100"/>
          </a:xfrm>
          <a:prstGeom prst="rect">
            <a:avLst/>
          </a:prstGeom>
          <a:solidFill>
            <a:srgbClr val="99A1AE"/>
          </a:solidFill>
          <a:ln/>
        </p:spPr>
      </p:sp>
      <p:sp>
        <p:nvSpPr>
          <p:cNvPr id="6" name="Shape 4"/>
          <p:cNvSpPr/>
          <p:nvPr/>
        </p:nvSpPr>
        <p:spPr>
          <a:xfrm>
            <a:off x="16338731" y="666750"/>
            <a:ext cx="457200" cy="38100"/>
          </a:xfrm>
          <a:prstGeom prst="rect">
            <a:avLst/>
          </a:prstGeom>
          <a:solidFill>
            <a:srgbClr val="16191F"/>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17</a:t>
            </a:r>
            <a:endParaRPr lang="en-US" sz="1800" dirty="0"/>
          </a:p>
        </p:txBody>
      </p:sp>
      <p:sp>
        <p:nvSpPr>
          <p:cNvPr id="8" name="Text 6"/>
          <p:cNvSpPr/>
          <p:nvPr/>
        </p:nvSpPr>
        <p:spPr>
          <a:xfrm>
            <a:off x="952500" y="1333500"/>
            <a:ext cx="10803136" cy="708638"/>
          </a:xfrm>
          <a:prstGeom prst="rect">
            <a:avLst/>
          </a:prstGeom>
          <a:noFill/>
          <a:ln/>
        </p:spPr>
        <p:txBody>
          <a:bodyPr wrap="square" lIns="25400" tIns="25400" rIns="25400" bIns="25400" rtlCol="0" anchor="t">
            <a:normAutofit/>
          </a:bodyPr>
          <a:lstStyle/>
          <a:p>
            <a:pPr algn="l" indent="0" marL="0">
              <a:lnSpc>
                <a:spcPct val="91321"/>
              </a:lnSpc>
              <a:buNone/>
            </a:pPr>
            <a:r>
              <a:rPr lang="en-US" sz="4800" b="1" spc="-120" kern="0" dirty="0">
                <a:solidFill>
                  <a:srgbClr val="16191F"/>
                </a:solidFill>
                <a:latin typeface="Inter" pitchFamily="34" charset="0"/>
                <a:ea typeface="Inter" pitchFamily="34" charset="-122"/>
                <a:cs typeface="Inter" pitchFamily="34" charset="-120"/>
              </a:rPr>
              <a:t>Gains grow as source quality drops</a:t>
            </a:r>
            <a:endParaRPr lang="en-US" sz="4800" dirty="0"/>
          </a:p>
        </p:txBody>
      </p:sp>
      <p:sp>
        <p:nvSpPr>
          <p:cNvPr id="9" name="Text 7"/>
          <p:cNvSpPr/>
          <p:nvPr/>
        </p:nvSpPr>
        <p:spPr>
          <a:xfrm>
            <a:off x="952500" y="2286000"/>
            <a:ext cx="7459147" cy="438150"/>
          </a:xfrm>
          <a:prstGeom prst="rect">
            <a:avLst/>
          </a:prstGeom>
          <a:noFill/>
          <a:ln/>
        </p:spPr>
        <p:txBody>
          <a:bodyPr wrap="square" lIns="25400" tIns="25400" rIns="25400" bIns="25400" rtlCol="0" anchor="t">
            <a:normAutofit/>
          </a:bodyPr>
          <a:lstStyle/>
          <a:p>
            <a:pPr algn="l" indent="0" marL="0">
              <a:lnSpc>
                <a:spcPct val="115500"/>
              </a:lnSpc>
              <a:buNone/>
            </a:pPr>
            <a:r>
              <a:rPr lang="en-US" sz="2250" dirty="0">
                <a:solidFill>
                  <a:srgbClr val="414750"/>
                </a:solidFill>
                <a:latin typeface="Inter" pitchFamily="34" charset="0"/>
                <a:ea typeface="Inter" pitchFamily="34" charset="-122"/>
                <a:cs typeface="Inter" pitchFamily="34" charset="-120"/>
              </a:rPr>
              <a:t>Gain over Source Plot · 40 Films per IMDb Stratum</a:t>
            </a:r>
            <a:endParaRPr lang="en-US" sz="2250" dirty="0"/>
          </a:p>
        </p:txBody>
      </p:sp>
      <p:sp>
        <p:nvSpPr>
          <p:cNvPr id="10" name="Shape 8"/>
          <p:cNvSpPr/>
          <p:nvPr/>
        </p:nvSpPr>
        <p:spPr>
          <a:xfrm>
            <a:off x="952500" y="7429500"/>
            <a:ext cx="6096000" cy="13855"/>
          </a:xfrm>
          <a:prstGeom prst="rect">
            <a:avLst/>
          </a:prstGeom>
          <a:solidFill>
            <a:srgbClr val="16191F"/>
          </a:solidFill>
          <a:ln/>
        </p:spPr>
      </p:sp>
      <p:sp>
        <p:nvSpPr>
          <p:cNvPr id="11" name="Text 9"/>
          <p:cNvSpPr/>
          <p:nvPr/>
        </p:nvSpPr>
        <p:spPr>
          <a:xfrm>
            <a:off x="884873" y="6198177"/>
            <a:ext cx="1487805" cy="412173"/>
          </a:xfrm>
          <a:prstGeom prst="rect">
            <a:avLst/>
          </a:prstGeom>
          <a:noFill/>
          <a:ln/>
        </p:spPr>
        <p:txBody>
          <a:bodyPr wrap="square" lIns="25400" tIns="25400" rIns="25400" bIns="25400" rtlCol="0" anchor="t">
            <a:normAutofit/>
          </a:bodyPr>
          <a:lstStyle/>
          <a:p>
            <a:pPr algn="ctr" indent="0" marL="0">
              <a:buNone/>
            </a:pPr>
            <a:r>
              <a:rPr lang="en-US" sz="2400" b="1" dirty="0">
                <a:solidFill>
                  <a:srgbClr val="16191F"/>
                </a:solidFill>
                <a:latin typeface="Inter" pitchFamily="34" charset="0"/>
                <a:ea typeface="Inter" pitchFamily="34" charset="-122"/>
                <a:cs typeface="Inter" pitchFamily="34" charset="-120"/>
              </a:rPr>
              <a:t>+0.31</a:t>
            </a:r>
            <a:endParaRPr lang="en-US" sz="2400" dirty="0"/>
          </a:p>
        </p:txBody>
      </p:sp>
      <p:sp>
        <p:nvSpPr>
          <p:cNvPr id="12" name="Shape 10"/>
          <p:cNvSpPr/>
          <p:nvPr/>
        </p:nvSpPr>
        <p:spPr>
          <a:xfrm>
            <a:off x="952500" y="6667500"/>
            <a:ext cx="1352550" cy="762000"/>
          </a:xfrm>
          <a:custGeom>
            <a:avLst/>
            <a:gdLst/>
            <a:ahLst/>
            <a:cxnLst/>
            <a:rect l="l" t="t" r="r" b="b"/>
            <a:pathLst>
              <a:path w="1352550" h="762000">
                <a:moveTo>
                  <a:pt x="57150" y="0"/>
                </a:moveTo>
                <a:lnTo>
                  <a:pt x="1295400" y="0"/>
                </a:lnTo>
                <a:arcTo hR="57150" wR="57150" stAng="16200000" swAng="5400000"/>
                <a:lnTo>
                  <a:pt x="1352550" y="762000"/>
                </a:lnTo>
                <a:lnTo>
                  <a:pt x="0" y="762000"/>
                </a:lnTo>
                <a:lnTo>
                  <a:pt x="0" y="57150"/>
                </a:lnTo>
                <a:arcTo hR="57150" wR="57150" stAng="10800000" swAng="5400000"/>
                <a:close/>
              </a:path>
            </a:pathLst>
          </a:custGeom>
          <a:solidFill>
            <a:srgbClr val="1E88E5"/>
          </a:solidFill>
          <a:ln/>
        </p:spPr>
      </p:sp>
      <p:sp>
        <p:nvSpPr>
          <p:cNvPr id="13" name="Text 11"/>
          <p:cNvSpPr/>
          <p:nvPr/>
        </p:nvSpPr>
        <p:spPr>
          <a:xfrm>
            <a:off x="2466023" y="5359977"/>
            <a:ext cx="1487805" cy="412173"/>
          </a:xfrm>
          <a:prstGeom prst="rect">
            <a:avLst/>
          </a:prstGeom>
          <a:noFill/>
          <a:ln/>
        </p:spPr>
        <p:txBody>
          <a:bodyPr wrap="square" lIns="25400" tIns="25400" rIns="25400" bIns="25400" rtlCol="0" anchor="t">
            <a:normAutofit/>
          </a:bodyPr>
          <a:lstStyle/>
          <a:p>
            <a:pPr algn="ctr" indent="0" marL="0">
              <a:buNone/>
            </a:pPr>
            <a:r>
              <a:rPr lang="en-US" sz="2400" b="1" dirty="0">
                <a:solidFill>
                  <a:srgbClr val="16191F"/>
                </a:solidFill>
                <a:latin typeface="Inter" pitchFamily="34" charset="0"/>
                <a:ea typeface="Inter" pitchFamily="34" charset="-122"/>
                <a:cs typeface="Inter" pitchFamily="34" charset="-120"/>
              </a:rPr>
              <a:t>+0.65</a:t>
            </a:r>
            <a:endParaRPr lang="en-US" sz="2400" dirty="0"/>
          </a:p>
        </p:txBody>
      </p:sp>
      <p:sp>
        <p:nvSpPr>
          <p:cNvPr id="14" name="Shape 12"/>
          <p:cNvSpPr/>
          <p:nvPr/>
        </p:nvSpPr>
        <p:spPr>
          <a:xfrm>
            <a:off x="2533650" y="5829300"/>
            <a:ext cx="1352550" cy="1600200"/>
          </a:xfrm>
          <a:custGeom>
            <a:avLst/>
            <a:gdLst/>
            <a:ahLst/>
            <a:cxnLst/>
            <a:rect l="l" t="t" r="r" b="b"/>
            <a:pathLst>
              <a:path w="1352550" h="1600200">
                <a:moveTo>
                  <a:pt x="57150" y="0"/>
                </a:moveTo>
                <a:lnTo>
                  <a:pt x="1295400" y="0"/>
                </a:lnTo>
                <a:arcTo hR="57150" wR="57150" stAng="16200000" swAng="5400000"/>
                <a:lnTo>
                  <a:pt x="1352550" y="1600200"/>
                </a:lnTo>
                <a:lnTo>
                  <a:pt x="0" y="1600200"/>
                </a:lnTo>
                <a:lnTo>
                  <a:pt x="0" y="57150"/>
                </a:lnTo>
                <a:arcTo hR="57150" wR="57150" stAng="10800000" swAng="5400000"/>
                <a:close/>
              </a:path>
            </a:pathLst>
          </a:custGeom>
          <a:solidFill>
            <a:srgbClr val="1E88E5"/>
          </a:solidFill>
          <a:ln/>
        </p:spPr>
      </p:sp>
      <p:sp>
        <p:nvSpPr>
          <p:cNvPr id="15" name="Text 13"/>
          <p:cNvSpPr/>
          <p:nvPr/>
        </p:nvSpPr>
        <p:spPr>
          <a:xfrm>
            <a:off x="4047173" y="4559877"/>
            <a:ext cx="1487805" cy="412173"/>
          </a:xfrm>
          <a:prstGeom prst="rect">
            <a:avLst/>
          </a:prstGeom>
          <a:noFill/>
          <a:ln/>
        </p:spPr>
        <p:txBody>
          <a:bodyPr wrap="square" lIns="25400" tIns="25400" rIns="25400" bIns="25400" rtlCol="0" anchor="t">
            <a:normAutofit/>
          </a:bodyPr>
          <a:lstStyle/>
          <a:p>
            <a:pPr algn="ctr" indent="0" marL="0">
              <a:buNone/>
            </a:pPr>
            <a:r>
              <a:rPr lang="en-US" sz="2400" b="1" dirty="0">
                <a:solidFill>
                  <a:srgbClr val="16191F"/>
                </a:solidFill>
                <a:latin typeface="Inter" pitchFamily="34" charset="0"/>
                <a:ea typeface="Inter" pitchFamily="34" charset="-122"/>
                <a:cs typeface="Inter" pitchFamily="34" charset="-120"/>
              </a:rPr>
              <a:t>+0.98</a:t>
            </a:r>
            <a:endParaRPr lang="en-US" sz="2400" dirty="0"/>
          </a:p>
        </p:txBody>
      </p:sp>
      <p:sp>
        <p:nvSpPr>
          <p:cNvPr id="16" name="Shape 14"/>
          <p:cNvSpPr/>
          <p:nvPr/>
        </p:nvSpPr>
        <p:spPr>
          <a:xfrm>
            <a:off x="4114800" y="5029200"/>
            <a:ext cx="1352550" cy="2400300"/>
          </a:xfrm>
          <a:custGeom>
            <a:avLst/>
            <a:gdLst/>
            <a:ahLst/>
            <a:cxnLst/>
            <a:rect l="l" t="t" r="r" b="b"/>
            <a:pathLst>
              <a:path w="1352550" h="2400300">
                <a:moveTo>
                  <a:pt x="57150" y="0"/>
                </a:moveTo>
                <a:lnTo>
                  <a:pt x="1295400" y="0"/>
                </a:lnTo>
                <a:arcTo hR="57150" wR="57150" stAng="16200000" swAng="5400000"/>
                <a:lnTo>
                  <a:pt x="1352550" y="2400300"/>
                </a:lnTo>
                <a:lnTo>
                  <a:pt x="0" y="2400300"/>
                </a:lnTo>
                <a:lnTo>
                  <a:pt x="0" y="57150"/>
                </a:lnTo>
                <a:arcTo hR="57150" wR="57150" stAng="10800000" swAng="5400000"/>
                <a:close/>
              </a:path>
            </a:pathLst>
          </a:custGeom>
          <a:solidFill>
            <a:srgbClr val="1E88E5"/>
          </a:solidFill>
          <a:ln/>
        </p:spPr>
      </p:sp>
      <p:sp>
        <p:nvSpPr>
          <p:cNvPr id="17" name="Text 15"/>
          <p:cNvSpPr/>
          <p:nvPr/>
        </p:nvSpPr>
        <p:spPr>
          <a:xfrm>
            <a:off x="5628323" y="3816927"/>
            <a:ext cx="1487805" cy="412173"/>
          </a:xfrm>
          <a:prstGeom prst="rect">
            <a:avLst/>
          </a:prstGeom>
          <a:noFill/>
          <a:ln/>
        </p:spPr>
        <p:txBody>
          <a:bodyPr wrap="square" lIns="25400" tIns="25400" rIns="25400" bIns="25400" rtlCol="0" anchor="t">
            <a:normAutofit/>
          </a:bodyPr>
          <a:lstStyle/>
          <a:p>
            <a:pPr algn="ctr" indent="0" marL="0">
              <a:buNone/>
            </a:pPr>
            <a:r>
              <a:rPr lang="en-US" sz="2400" b="1" dirty="0">
                <a:solidFill>
                  <a:srgbClr val="16191F"/>
                </a:solidFill>
                <a:latin typeface="Inter" pitchFamily="34" charset="0"/>
                <a:ea typeface="Inter" pitchFamily="34" charset="-122"/>
                <a:cs typeface="Inter" pitchFamily="34" charset="-120"/>
              </a:rPr>
              <a:t>+1.28</a:t>
            </a:r>
            <a:endParaRPr lang="en-US" sz="2400" dirty="0"/>
          </a:p>
        </p:txBody>
      </p:sp>
      <p:sp>
        <p:nvSpPr>
          <p:cNvPr id="18" name="Shape 16"/>
          <p:cNvSpPr/>
          <p:nvPr/>
        </p:nvSpPr>
        <p:spPr>
          <a:xfrm>
            <a:off x="5695950" y="4286250"/>
            <a:ext cx="1352550" cy="3143250"/>
          </a:xfrm>
          <a:custGeom>
            <a:avLst/>
            <a:gdLst/>
            <a:ahLst/>
            <a:cxnLst/>
            <a:rect l="l" t="t" r="r" b="b"/>
            <a:pathLst>
              <a:path w="1352550" h="3143250">
                <a:moveTo>
                  <a:pt x="57150" y="0"/>
                </a:moveTo>
                <a:lnTo>
                  <a:pt x="1295400" y="0"/>
                </a:lnTo>
                <a:arcTo hR="57150" wR="57150" stAng="16200000" swAng="5400000"/>
                <a:lnTo>
                  <a:pt x="1352550" y="3143250"/>
                </a:lnTo>
                <a:lnTo>
                  <a:pt x="0" y="3143250"/>
                </a:lnTo>
                <a:lnTo>
                  <a:pt x="0" y="57150"/>
                </a:lnTo>
                <a:arcTo hR="57150" wR="57150" stAng="10800000" swAng="5400000"/>
                <a:close/>
              </a:path>
            </a:pathLst>
          </a:custGeom>
          <a:solidFill>
            <a:srgbClr val="1E88E5"/>
          </a:solidFill>
          <a:ln/>
        </p:spPr>
      </p:sp>
      <p:sp>
        <p:nvSpPr>
          <p:cNvPr id="19" name="Text 17"/>
          <p:cNvSpPr/>
          <p:nvPr/>
        </p:nvSpPr>
        <p:spPr>
          <a:xfrm>
            <a:off x="884873" y="7595755"/>
            <a:ext cx="148780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414750"/>
                </a:solidFill>
                <a:latin typeface="JetBrains Mono" pitchFamily="34" charset="0"/>
                <a:ea typeface="JetBrains Mono" pitchFamily="34" charset="-122"/>
                <a:cs typeface="JetBrains Mono" pitchFamily="34" charset="-120"/>
              </a:rPr>
              <a:t>Excellent</a:t>
            </a:r>
            <a:endParaRPr lang="en-US" sz="1800" dirty="0"/>
          </a:p>
        </p:txBody>
      </p:sp>
      <p:sp>
        <p:nvSpPr>
          <p:cNvPr id="20" name="Text 18"/>
          <p:cNvSpPr/>
          <p:nvPr/>
        </p:nvSpPr>
        <p:spPr>
          <a:xfrm>
            <a:off x="2466023" y="7595755"/>
            <a:ext cx="148780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414750"/>
                </a:solidFill>
                <a:latin typeface="JetBrains Mono" pitchFamily="34" charset="0"/>
                <a:ea typeface="JetBrains Mono" pitchFamily="34" charset="-122"/>
                <a:cs typeface="JetBrains Mono" pitchFamily="34" charset="-120"/>
              </a:rPr>
              <a:t>Good</a:t>
            </a:r>
            <a:endParaRPr lang="en-US" sz="1800" dirty="0"/>
          </a:p>
        </p:txBody>
      </p:sp>
      <p:sp>
        <p:nvSpPr>
          <p:cNvPr id="21" name="Text 19"/>
          <p:cNvSpPr/>
          <p:nvPr/>
        </p:nvSpPr>
        <p:spPr>
          <a:xfrm>
            <a:off x="4047173" y="7595755"/>
            <a:ext cx="148780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414750"/>
                </a:solidFill>
                <a:latin typeface="JetBrains Mono" pitchFamily="34" charset="0"/>
                <a:ea typeface="JetBrains Mono" pitchFamily="34" charset="-122"/>
                <a:cs typeface="JetBrains Mono" pitchFamily="34" charset="-120"/>
              </a:rPr>
              <a:t>Mid</a:t>
            </a:r>
            <a:endParaRPr lang="en-US" sz="1800" dirty="0"/>
          </a:p>
        </p:txBody>
      </p:sp>
      <p:sp>
        <p:nvSpPr>
          <p:cNvPr id="22" name="Text 20"/>
          <p:cNvSpPr/>
          <p:nvPr/>
        </p:nvSpPr>
        <p:spPr>
          <a:xfrm>
            <a:off x="5628323" y="7595755"/>
            <a:ext cx="148780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414750"/>
                </a:solidFill>
                <a:latin typeface="JetBrains Mono" pitchFamily="34" charset="0"/>
                <a:ea typeface="JetBrains Mono" pitchFamily="34" charset="-122"/>
                <a:cs typeface="JetBrains Mono" pitchFamily="34" charset="-120"/>
              </a:rPr>
              <a:t>Low</a:t>
            </a:r>
            <a:endParaRPr lang="en-US" sz="1800" dirty="0"/>
          </a:p>
        </p:txBody>
      </p:sp>
      <p:sp>
        <p:nvSpPr>
          <p:cNvPr id="23" name="Text 21"/>
          <p:cNvSpPr/>
          <p:nvPr/>
        </p:nvSpPr>
        <p:spPr>
          <a:xfrm>
            <a:off x="884873" y="8052955"/>
            <a:ext cx="148780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6B7380"/>
                </a:solidFill>
                <a:latin typeface="JetBrains Mono" pitchFamily="34" charset="0"/>
                <a:ea typeface="JetBrains Mono" pitchFamily="34" charset="-122"/>
                <a:cs typeface="JetBrains Mono" pitchFamily="34" charset="-120"/>
              </a:rPr>
              <a:t>&gt; 8</a:t>
            </a:r>
            <a:endParaRPr lang="en-US" sz="1800" dirty="0"/>
          </a:p>
        </p:txBody>
      </p:sp>
      <p:sp>
        <p:nvSpPr>
          <p:cNvPr id="24" name="Text 22"/>
          <p:cNvSpPr/>
          <p:nvPr/>
        </p:nvSpPr>
        <p:spPr>
          <a:xfrm>
            <a:off x="2466023" y="8052955"/>
            <a:ext cx="148780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6B7380"/>
                </a:solidFill>
                <a:latin typeface="JetBrains Mono" pitchFamily="34" charset="0"/>
                <a:ea typeface="JetBrains Mono" pitchFamily="34" charset="-122"/>
                <a:cs typeface="JetBrains Mono" pitchFamily="34" charset="-120"/>
              </a:rPr>
              <a:t>7–8</a:t>
            </a:r>
            <a:endParaRPr lang="en-US" sz="1800" dirty="0"/>
          </a:p>
        </p:txBody>
      </p:sp>
      <p:sp>
        <p:nvSpPr>
          <p:cNvPr id="25" name="Text 23"/>
          <p:cNvSpPr/>
          <p:nvPr/>
        </p:nvSpPr>
        <p:spPr>
          <a:xfrm>
            <a:off x="4047173" y="8052955"/>
            <a:ext cx="148780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6B7380"/>
                </a:solidFill>
                <a:latin typeface="JetBrains Mono" pitchFamily="34" charset="0"/>
                <a:ea typeface="JetBrains Mono" pitchFamily="34" charset="-122"/>
                <a:cs typeface="JetBrains Mono" pitchFamily="34" charset="-120"/>
              </a:rPr>
              <a:t>6–7</a:t>
            </a:r>
            <a:endParaRPr lang="en-US" sz="1800" dirty="0"/>
          </a:p>
        </p:txBody>
      </p:sp>
      <p:sp>
        <p:nvSpPr>
          <p:cNvPr id="26" name="Text 24"/>
          <p:cNvSpPr/>
          <p:nvPr/>
        </p:nvSpPr>
        <p:spPr>
          <a:xfrm>
            <a:off x="5628323" y="8052955"/>
            <a:ext cx="148780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6B7380"/>
                </a:solidFill>
                <a:latin typeface="JetBrains Mono" pitchFamily="34" charset="0"/>
                <a:ea typeface="JetBrains Mono" pitchFamily="34" charset="-122"/>
                <a:cs typeface="JetBrains Mono" pitchFamily="34" charset="-120"/>
              </a:rPr>
              <a:t>≤ 6</a:t>
            </a:r>
            <a:endParaRPr lang="en-US" sz="1800" dirty="0"/>
          </a:p>
        </p:txBody>
      </p:sp>
      <p:sp>
        <p:nvSpPr>
          <p:cNvPr id="27" name="Text 25"/>
          <p:cNvSpPr/>
          <p:nvPr/>
        </p:nvSpPr>
        <p:spPr>
          <a:xfrm>
            <a:off x="952500" y="8643505"/>
            <a:ext cx="841447"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6191F"/>
                </a:solidFill>
                <a:latin typeface="Inter" pitchFamily="34" charset="0"/>
                <a:ea typeface="Inter" pitchFamily="34" charset="-122"/>
                <a:cs typeface="Inter" pitchFamily="34" charset="-120"/>
              </a:rPr>
              <a:t>Refine</a:t>
            </a:r>
            <a:endParaRPr lang="en-US" sz="1950" dirty="0"/>
          </a:p>
        </p:txBody>
      </p:sp>
      <p:sp>
        <p:nvSpPr>
          <p:cNvPr id="28" name="Shape 26"/>
          <p:cNvSpPr/>
          <p:nvPr/>
        </p:nvSpPr>
        <p:spPr>
          <a:xfrm>
            <a:off x="1870147" y="8788977"/>
            <a:ext cx="3625020" cy="13855"/>
          </a:xfrm>
          <a:prstGeom prst="rect">
            <a:avLst/>
          </a:prstGeom>
          <a:solidFill>
            <a:srgbClr val="16191F"/>
          </a:solidFill>
          <a:ln/>
        </p:spPr>
      </p:sp>
      <p:sp>
        <p:nvSpPr>
          <p:cNvPr id="29" name="Shape 27"/>
          <p:cNvSpPr/>
          <p:nvPr/>
        </p:nvSpPr>
        <p:spPr>
          <a:xfrm>
            <a:off x="5401649" y="8717107"/>
            <a:ext cx="131618" cy="152400"/>
          </a:xfrm>
          <a:prstGeom prst="rect">
            <a:avLst/>
          </a:prstGeom>
          <a:solidFill>
            <a:srgbClr val="16191F"/>
          </a:solidFill>
          <a:ln/>
        </p:spPr>
      </p:sp>
      <p:sp>
        <p:nvSpPr>
          <p:cNvPr id="30" name="Text 28"/>
          <p:cNvSpPr/>
          <p:nvPr/>
        </p:nvSpPr>
        <p:spPr>
          <a:xfrm>
            <a:off x="5647567" y="8643505"/>
            <a:ext cx="1541026"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6191F"/>
                </a:solidFill>
                <a:latin typeface="Inter" pitchFamily="34" charset="0"/>
                <a:ea typeface="Inter" pitchFamily="34" charset="-122"/>
                <a:cs typeface="Inter" pitchFamily="34" charset="-120"/>
              </a:rPr>
              <a:t>Restructure</a:t>
            </a:r>
            <a:endParaRPr lang="en-US" sz="1950" dirty="0"/>
          </a:p>
        </p:txBody>
      </p:sp>
      <p:sp>
        <p:nvSpPr>
          <p:cNvPr id="31" name="Shape 29"/>
          <p:cNvSpPr/>
          <p:nvPr/>
        </p:nvSpPr>
        <p:spPr>
          <a:xfrm>
            <a:off x="7734300" y="5743575"/>
            <a:ext cx="5219700" cy="9525"/>
          </a:xfrm>
          <a:prstGeom prst="rect">
            <a:avLst/>
          </a:prstGeom>
          <a:solidFill>
            <a:srgbClr val="CFD4DC"/>
          </a:solidFill>
          <a:ln/>
        </p:spPr>
      </p:sp>
      <p:sp>
        <p:nvSpPr>
          <p:cNvPr id="32" name="Text 30"/>
          <p:cNvSpPr/>
          <p:nvPr/>
        </p:nvSpPr>
        <p:spPr>
          <a:xfrm>
            <a:off x="7734300" y="5960052"/>
            <a:ext cx="57416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EXCELLENT</a:t>
            </a:r>
            <a:endParaRPr lang="en-US" sz="1800" dirty="0"/>
          </a:p>
        </p:txBody>
      </p:sp>
      <p:sp>
        <p:nvSpPr>
          <p:cNvPr id="33" name="Text 31"/>
          <p:cNvSpPr/>
          <p:nvPr/>
        </p:nvSpPr>
        <p:spPr>
          <a:xfrm>
            <a:off x="7734300" y="6360102"/>
            <a:ext cx="5741670" cy="423863"/>
          </a:xfrm>
          <a:prstGeom prst="rect">
            <a:avLst/>
          </a:prstGeom>
          <a:noFill/>
          <a:ln/>
        </p:spPr>
        <p:txBody>
          <a:bodyPr wrap="square" lIns="25400" tIns="25400" rIns="25400" bIns="25400" rtlCol="0" anchor="t">
            <a:normAutofit/>
          </a:bodyPr>
          <a:lstStyle/>
          <a:p>
            <a:pPr algn="l" indent="0" marL="0">
              <a:lnSpc>
                <a:spcPct val="111375"/>
              </a:lnSpc>
              <a:buNone/>
            </a:pPr>
            <a:r>
              <a:rPr lang="en-US" sz="2250" dirty="0">
                <a:solidFill>
                  <a:srgbClr val="16191F"/>
                </a:solidFill>
                <a:latin typeface="Inter" pitchFamily="34" charset="0"/>
                <a:ea typeface="Inter" pitchFamily="34" charset="-122"/>
                <a:cs typeface="Inter" pitchFamily="34" charset="-120"/>
              </a:rPr>
              <a:t>Light Touch · Pacing Unchanged</a:t>
            </a:r>
            <a:endParaRPr lang="en-US" sz="2250" dirty="0"/>
          </a:p>
        </p:txBody>
      </p:sp>
      <p:sp>
        <p:nvSpPr>
          <p:cNvPr id="34" name="Shape 32"/>
          <p:cNvSpPr/>
          <p:nvPr/>
        </p:nvSpPr>
        <p:spPr>
          <a:xfrm>
            <a:off x="7734300" y="7088765"/>
            <a:ext cx="5219700" cy="9525"/>
          </a:xfrm>
          <a:prstGeom prst="rect">
            <a:avLst/>
          </a:prstGeom>
          <a:solidFill>
            <a:srgbClr val="CFD4DC"/>
          </a:solidFill>
          <a:ln/>
        </p:spPr>
      </p:sp>
      <p:sp>
        <p:nvSpPr>
          <p:cNvPr id="35" name="Text 33"/>
          <p:cNvSpPr/>
          <p:nvPr/>
        </p:nvSpPr>
        <p:spPr>
          <a:xfrm>
            <a:off x="7734300" y="7305242"/>
            <a:ext cx="57416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7380"/>
                </a:solidFill>
                <a:latin typeface="JetBrains Mono" pitchFamily="34" charset="0"/>
                <a:ea typeface="JetBrains Mono" pitchFamily="34" charset="-122"/>
                <a:cs typeface="JetBrains Mono" pitchFamily="34" charset="-120"/>
              </a:rPr>
              <a:t>LOW</a:t>
            </a:r>
            <a:endParaRPr lang="en-US" sz="1800" dirty="0"/>
          </a:p>
        </p:txBody>
      </p:sp>
      <p:sp>
        <p:nvSpPr>
          <p:cNvPr id="36" name="Text 34"/>
          <p:cNvSpPr/>
          <p:nvPr/>
        </p:nvSpPr>
        <p:spPr>
          <a:xfrm>
            <a:off x="7734300" y="7705292"/>
            <a:ext cx="5741670" cy="423863"/>
          </a:xfrm>
          <a:prstGeom prst="rect">
            <a:avLst/>
          </a:prstGeom>
          <a:noFill/>
          <a:ln/>
        </p:spPr>
        <p:txBody>
          <a:bodyPr wrap="square" lIns="25400" tIns="25400" rIns="25400" bIns="25400" rtlCol="0" anchor="t">
            <a:normAutofit/>
          </a:bodyPr>
          <a:lstStyle/>
          <a:p>
            <a:pPr algn="l" indent="0" marL="0">
              <a:lnSpc>
                <a:spcPct val="111375"/>
              </a:lnSpc>
              <a:buNone/>
            </a:pPr>
            <a:r>
              <a:rPr lang="en-US" sz="2250" dirty="0">
                <a:solidFill>
                  <a:srgbClr val="16191F"/>
                </a:solidFill>
                <a:latin typeface="Inter" pitchFamily="34" charset="0"/>
                <a:ea typeface="Inter" pitchFamily="34" charset="-122"/>
                <a:cs typeface="Inter" pitchFamily="34" charset="-120"/>
              </a:rPr>
              <a:t>Beats Original on ≥ 97.5% of Films</a:t>
            </a:r>
            <a:endParaRPr lang="en-US" sz="2250" dirty="0"/>
          </a:p>
        </p:txBody>
      </p:sp>
      <p:sp>
        <p:nvSpPr>
          <p:cNvPr id="37" name="Shape 35"/>
          <p:cNvSpPr/>
          <p:nvPr/>
        </p:nvSpPr>
        <p:spPr>
          <a:xfrm>
            <a:off x="13525500" y="5258666"/>
            <a:ext cx="4000500" cy="1123084"/>
          </a:xfrm>
          <a:prstGeom prst="roundRect">
            <a:avLst>
              <a:gd name="adj" fmla="val 27140"/>
            </a:avLst>
          </a:prstGeom>
          <a:solidFill>
            <a:srgbClr val="FFFFFF"/>
          </a:solidFill>
          <a:ln w="13855">
            <a:solidFill>
              <a:srgbClr val="16191F"/>
            </a:solidFill>
            <a:prstDash val="solid"/>
          </a:ln>
        </p:spPr>
      </p:sp>
      <p:sp>
        <p:nvSpPr>
          <p:cNvPr id="38" name="Text 36"/>
          <p:cNvSpPr/>
          <p:nvPr/>
        </p:nvSpPr>
        <p:spPr>
          <a:xfrm>
            <a:off x="13825105" y="5463021"/>
            <a:ext cx="2882911" cy="741651"/>
          </a:xfrm>
          <a:prstGeom prst="rect">
            <a:avLst/>
          </a:prstGeom>
          <a:noFill/>
          <a:ln/>
        </p:spPr>
        <p:txBody>
          <a:bodyPr wrap="square" lIns="0" tIns="0" rIns="0" bIns="0" rtlCol="0" anchor="t">
            <a:normAutofit/>
          </a:bodyPr>
          <a:lstStyle/>
          <a:p>
            <a:pPr algn="l" indent="0" marL="0">
              <a:lnSpc>
                <a:spcPct val="103125"/>
              </a:lnSpc>
              <a:buNone/>
            </a:pPr>
            <a:r>
              <a:rPr lang="en-US" sz="2250" dirty="0">
                <a:solidFill>
                  <a:srgbClr val="16191F"/>
                </a:solidFill>
                <a:latin typeface="Inter" pitchFamily="34" charset="0"/>
                <a:ea typeface="Inter" pitchFamily="34" charset="-122"/>
                <a:cs typeface="Inter" pitchFamily="34" charset="-120"/>
              </a:rPr>
              <a:t>Doesn't it just inflate every score?</a:t>
            </a:r>
            <a:endParaRPr lang="en-US" sz="2250" dirty="0"/>
          </a:p>
        </p:txBody>
      </p:sp>
      <p:sp>
        <p:nvSpPr>
          <p:cNvPr id="39" name="Shape 37"/>
          <p:cNvSpPr/>
          <p:nvPr/>
        </p:nvSpPr>
        <p:spPr>
          <a:xfrm>
            <a:off x="15884236" y="6416387"/>
            <a:ext cx="199159" cy="199159"/>
          </a:xfrm>
          <a:prstGeom prst="ellipse">
            <a:avLst/>
          </a:prstGeom>
          <a:solidFill>
            <a:srgbClr val="FFFFFF"/>
          </a:solidFill>
          <a:ln w="13855">
            <a:solidFill>
              <a:srgbClr val="16191F"/>
            </a:solidFill>
            <a:prstDash val="solid"/>
          </a:ln>
        </p:spPr>
      </p:sp>
      <p:sp>
        <p:nvSpPr>
          <p:cNvPr id="40" name="Shape 38"/>
          <p:cNvSpPr/>
          <p:nvPr/>
        </p:nvSpPr>
        <p:spPr>
          <a:xfrm>
            <a:off x="16093787" y="6683087"/>
            <a:ext cx="122959" cy="122959"/>
          </a:xfrm>
          <a:prstGeom prst="ellipse">
            <a:avLst/>
          </a:prstGeom>
          <a:solidFill>
            <a:srgbClr val="FFFFFF"/>
          </a:solidFill>
          <a:ln w="13855">
            <a:solidFill>
              <a:srgbClr val="16191F"/>
            </a:solidFill>
            <a:prstDash val="solid"/>
          </a:ln>
        </p:spPr>
      </p:sp>
      <p:pic>
        <p:nvPicPr>
          <p:cNvPr id="41" name="Image 0" descr="preencoded.png">    </p:cNvPr>
          <p:cNvPicPr>
            <a:picLocks noChangeAspect="1"/>
          </p:cNvPicPr>
          <p:nvPr/>
        </p:nvPicPr>
        <p:blipFill>
          <a:blip r:embed="rId1"/>
          <a:stretch>
            <a:fillRect/>
          </a:stretch>
        </p:blipFill>
        <p:spPr>
          <a:xfrm>
            <a:off x="14292480" y="6858000"/>
            <a:ext cx="3043021" cy="3429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91F"/>
        </a:solidFill>
      </p:bgPr>
    </p:bg>
    <p:spTree>
      <p:nvGrpSpPr>
        <p:cNvPr id="1" name=""/>
        <p:cNvGrpSpPr/>
        <p:nvPr/>
      </p:nvGrpSpPr>
      <p:grpSpPr>
        <a:xfrm>
          <a:off x="0" y="0"/>
          <a:ext cx="0" cy="0"/>
          <a:chOff x="0" y="0"/>
          <a:chExt cx="0" cy="0"/>
        </a:xfrm>
      </p:grpSpPr>
      <p:sp>
        <p:nvSpPr>
          <p:cNvPr id="2" name="Text 0"/>
          <p:cNvSpPr/>
          <p:nvPr/>
        </p:nvSpPr>
        <p:spPr>
          <a:xfrm>
            <a:off x="952500" y="533400"/>
            <a:ext cx="54260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III</a:t>
            </a:r>
            <a:endParaRPr lang="en-US" sz="1800" dirty="0"/>
          </a:p>
        </p:txBody>
      </p:sp>
      <p:sp>
        <p:nvSpPr>
          <p:cNvPr id="3" name="Text 1"/>
          <p:cNvSpPr/>
          <p:nvPr/>
        </p:nvSpPr>
        <p:spPr>
          <a:xfrm>
            <a:off x="1590350" y="533400"/>
            <a:ext cx="2051923"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THE PRESTIGE</a:t>
            </a:r>
            <a:endParaRPr lang="en-US" sz="1800" dirty="0"/>
          </a:p>
        </p:txBody>
      </p:sp>
      <p:sp>
        <p:nvSpPr>
          <p:cNvPr id="4" name="Shape 2"/>
          <p:cNvSpPr/>
          <p:nvPr/>
        </p:nvSpPr>
        <p:spPr>
          <a:xfrm>
            <a:off x="15271931" y="666750"/>
            <a:ext cx="457200" cy="38100"/>
          </a:xfrm>
          <a:prstGeom prst="rect">
            <a:avLst/>
          </a:prstGeom>
          <a:solidFill>
            <a:srgbClr val="99A1AE"/>
          </a:solidFill>
          <a:ln/>
        </p:spPr>
      </p:sp>
      <p:sp>
        <p:nvSpPr>
          <p:cNvPr id="5" name="Shape 3"/>
          <p:cNvSpPr/>
          <p:nvPr/>
        </p:nvSpPr>
        <p:spPr>
          <a:xfrm>
            <a:off x="15805331" y="666750"/>
            <a:ext cx="457200" cy="38100"/>
          </a:xfrm>
          <a:prstGeom prst="rect">
            <a:avLst/>
          </a:prstGeom>
          <a:solidFill>
            <a:srgbClr val="99A1AE"/>
          </a:solidFill>
          <a:ln/>
        </p:spPr>
      </p:sp>
      <p:sp>
        <p:nvSpPr>
          <p:cNvPr id="6" name="Shape 4"/>
          <p:cNvSpPr/>
          <p:nvPr/>
        </p:nvSpPr>
        <p:spPr>
          <a:xfrm>
            <a:off x="16338731" y="666750"/>
            <a:ext cx="457200" cy="38100"/>
          </a:xfrm>
          <a:prstGeom prst="rect">
            <a:avLst/>
          </a:prstGeom>
          <a:solidFill>
            <a:srgbClr val="FFFFFF"/>
          </a:solidFill>
          <a:ln/>
        </p:spPr>
      </p:sp>
      <p:sp>
        <p:nvSpPr>
          <p:cNvPr id="7" name="Text 5"/>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18</a:t>
            </a:r>
            <a:endParaRPr lang="en-US" sz="1800" dirty="0"/>
          </a:p>
        </p:txBody>
      </p:sp>
      <p:sp>
        <p:nvSpPr>
          <p:cNvPr id="8" name="Shape 6"/>
          <p:cNvSpPr/>
          <p:nvPr/>
        </p:nvSpPr>
        <p:spPr>
          <a:xfrm>
            <a:off x="8953500" y="3048000"/>
            <a:ext cx="9525000" cy="9525000"/>
          </a:xfrm>
          <a:prstGeom prst="ellipse">
            <a:avLst/>
          </a:prstGeom>
          <a:gradFill rotWithShape="1">
            <a:gsLst>
              <a:gs pos="0">
                <a:srgbClr val="FFFFFF">
                  <a:alpha val="13000"/>
                </a:srgbClr>
              </a:gs>
              <a:gs pos="100000">
                <a:srgbClr val="FFFFFF">
                  <a:alpha val="0"/>
                </a:srgbClr>
              </a:gs>
            </a:gsLst>
            <a:path path="circle">
              <a:fillToRect l="50000" t="50000" r="50000" b="50000"/>
            </a:path>
          </a:gradFill>
          <a:ln/>
        </p:spPr>
      </p:sp>
      <p:sp>
        <p:nvSpPr>
          <p:cNvPr id="9" name="Text 7"/>
          <p:cNvSpPr/>
          <p:nvPr/>
        </p:nvSpPr>
        <p:spPr>
          <a:xfrm>
            <a:off x="952500" y="1428750"/>
            <a:ext cx="13146405" cy="1747838"/>
          </a:xfrm>
          <a:prstGeom prst="rect">
            <a:avLst/>
          </a:prstGeom>
          <a:noFill/>
          <a:ln/>
        </p:spPr>
        <p:txBody>
          <a:bodyPr wrap="square" lIns="25400" tIns="25400" rIns="25400" bIns="25400" rtlCol="0" anchor="t">
            <a:normAutofit/>
          </a:bodyPr>
          <a:lstStyle/>
          <a:p>
            <a:pPr algn="l" indent="0" marL="0">
              <a:lnSpc>
                <a:spcPct val="84534"/>
              </a:lnSpc>
              <a:buNone/>
            </a:pPr>
            <a:r>
              <a:rPr lang="en-US" sz="6600" b="1" spc="-231" kern="0" dirty="0">
                <a:solidFill>
                  <a:srgbClr val="FFFFFF"/>
                </a:solidFill>
                <a:latin typeface="Inter" pitchFamily="34" charset="0"/>
                <a:ea typeface="Inter" pitchFamily="34" charset="-122"/>
                <a:cs typeface="Inter" pitchFamily="34" charset="-120"/>
              </a:rPr>
              <a:t>3B active parameters, competitive with the frontier</a:t>
            </a:r>
            <a:endParaRPr lang="en-US" sz="6600" dirty="0"/>
          </a:p>
        </p:txBody>
      </p:sp>
      <p:sp>
        <p:nvSpPr>
          <p:cNvPr id="10" name="Text 8"/>
          <p:cNvSpPr/>
          <p:nvPr/>
        </p:nvSpPr>
        <p:spPr>
          <a:xfrm>
            <a:off x="952500" y="3810000"/>
            <a:ext cx="11184255" cy="1028700"/>
          </a:xfrm>
          <a:prstGeom prst="rect">
            <a:avLst/>
          </a:prstGeom>
          <a:noFill/>
          <a:ln/>
        </p:spPr>
        <p:txBody>
          <a:bodyPr wrap="square" lIns="25400" tIns="25400" rIns="25400" bIns="25400" rtlCol="0" anchor="t">
            <a:normAutofit/>
          </a:bodyPr>
          <a:lstStyle/>
          <a:p>
            <a:pPr algn="l" indent="0" marL="0">
              <a:lnSpc>
                <a:spcPct val="108333"/>
              </a:lnSpc>
              <a:buNone/>
            </a:pPr>
            <a:r>
              <a:rPr lang="en-US" sz="3000" dirty="0">
                <a:solidFill>
                  <a:srgbClr val="99A1AE"/>
                </a:solidFill>
                <a:latin typeface="Inter" pitchFamily="34" charset="0"/>
                <a:ea typeface="Inter" pitchFamily="34" charset="-122"/>
                <a:cs typeface="Inter" pitchFamily="34" charset="-120"/>
              </a:rPr>
              <a:t>Structured, preference-based alignment is a resource-efficient approach to high-quality creative plot generation.</a:t>
            </a:r>
            <a:endParaRPr lang="en-US" sz="3000" dirty="0"/>
          </a:p>
        </p:txBody>
      </p:sp>
      <p:sp>
        <p:nvSpPr>
          <p:cNvPr id="11" name="Shape 9"/>
          <p:cNvSpPr/>
          <p:nvPr/>
        </p:nvSpPr>
        <p:spPr>
          <a:xfrm>
            <a:off x="952500" y="5715000"/>
            <a:ext cx="3555964" cy="9525"/>
          </a:xfrm>
          <a:prstGeom prst="rect">
            <a:avLst/>
          </a:prstGeom>
          <a:solidFill>
            <a:srgbClr val="414750"/>
          </a:solidFill>
          <a:ln/>
        </p:spPr>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5950527"/>
            <a:ext cx="419100" cy="419100"/>
          </a:xfrm>
          <a:prstGeom prst="rect">
            <a:avLst/>
          </a:prstGeom>
        </p:spPr>
      </p:pic>
      <p:sp>
        <p:nvSpPr>
          <p:cNvPr id="13" name="Shape 10"/>
          <p:cNvSpPr/>
          <p:nvPr/>
        </p:nvSpPr>
        <p:spPr>
          <a:xfrm>
            <a:off x="1524000" y="5950527"/>
            <a:ext cx="1703893" cy="419100"/>
          </a:xfrm>
          <a:prstGeom prst="roundRect">
            <a:avLst>
              <a:gd name="adj" fmla="val 50000"/>
            </a:avLst>
          </a:prstGeom>
          <a:solidFill>
            <a:srgbClr val="7C4DFF"/>
          </a:solidFill>
          <a:ln/>
        </p:spPr>
      </p:sp>
      <p:sp>
        <p:nvSpPr>
          <p:cNvPr id="14" name="Text 11"/>
          <p:cNvSpPr/>
          <p:nvPr/>
        </p:nvSpPr>
        <p:spPr>
          <a:xfrm>
            <a:off x="1676400" y="6007677"/>
            <a:ext cx="147529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FFFFFF"/>
                </a:solidFill>
                <a:latin typeface="JetBrains Mono" pitchFamily="34" charset="0"/>
                <a:ea typeface="JetBrains Mono" pitchFamily="34" charset="-122"/>
                <a:cs typeface="JetBrains Mono" pitchFamily="34" charset="-120"/>
              </a:rPr>
              <a:t>01 REWARD</a:t>
            </a:r>
            <a:endParaRPr lang="en-US" sz="1800" dirty="0"/>
          </a:p>
        </p:txBody>
      </p:sp>
      <p:sp>
        <p:nvSpPr>
          <p:cNvPr id="15" name="Text 12"/>
          <p:cNvSpPr/>
          <p:nvPr/>
        </p:nvSpPr>
        <p:spPr>
          <a:xfrm>
            <a:off x="952500" y="6541077"/>
            <a:ext cx="3662643" cy="781050"/>
          </a:xfrm>
          <a:prstGeom prst="rect">
            <a:avLst/>
          </a:prstGeom>
          <a:noFill/>
          <a:ln/>
        </p:spPr>
        <p:txBody>
          <a:bodyPr wrap="square" lIns="25400" tIns="25400" rIns="25400" bIns="25400" rtlCol="0" anchor="t">
            <a:normAutofit/>
          </a:bodyPr>
          <a:lstStyle/>
          <a:p>
            <a:pPr algn="l" indent="0" marL="0">
              <a:lnSpc>
                <a:spcPct val="107250"/>
              </a:lnSpc>
              <a:buNone/>
            </a:pPr>
            <a:r>
              <a:rPr lang="en-US" sz="2250" dirty="0">
                <a:solidFill>
                  <a:srgbClr val="FFFFFF"/>
                </a:solidFill>
                <a:latin typeface="Inter" pitchFamily="34" charset="0"/>
                <a:ea typeface="Inter" pitchFamily="34" charset="-122"/>
                <a:cs typeface="Inter" pitchFamily="34" charset="-120"/>
              </a:rPr>
              <a:t>Positive–Negative Aspect Ratings</a:t>
            </a:r>
            <a:endParaRPr lang="en-US" sz="2250" dirty="0"/>
          </a:p>
        </p:txBody>
      </p:sp>
      <p:sp>
        <p:nvSpPr>
          <p:cNvPr id="16" name="Shape 13"/>
          <p:cNvSpPr/>
          <p:nvPr/>
        </p:nvSpPr>
        <p:spPr>
          <a:xfrm>
            <a:off x="4889464" y="5715000"/>
            <a:ext cx="3555964" cy="9525"/>
          </a:xfrm>
          <a:prstGeom prst="rect">
            <a:avLst/>
          </a:prstGeom>
          <a:solidFill>
            <a:srgbClr val="414750"/>
          </a:solidFill>
          <a:ln/>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9464" y="5950527"/>
            <a:ext cx="419100" cy="419100"/>
          </a:xfrm>
          <a:prstGeom prst="rect">
            <a:avLst/>
          </a:prstGeom>
        </p:spPr>
      </p:pic>
      <p:sp>
        <p:nvSpPr>
          <p:cNvPr id="18" name="Shape 14"/>
          <p:cNvSpPr/>
          <p:nvPr/>
        </p:nvSpPr>
        <p:spPr>
          <a:xfrm>
            <a:off x="5460964" y="5950527"/>
            <a:ext cx="2170185" cy="419100"/>
          </a:xfrm>
          <a:prstGeom prst="roundRect">
            <a:avLst>
              <a:gd name="adj" fmla="val 50000"/>
            </a:avLst>
          </a:prstGeom>
          <a:solidFill>
            <a:srgbClr val="1E88E5"/>
          </a:solidFill>
          <a:ln/>
        </p:spPr>
      </p:sp>
      <p:sp>
        <p:nvSpPr>
          <p:cNvPr id="19" name="Text 15"/>
          <p:cNvSpPr/>
          <p:nvPr/>
        </p:nvSpPr>
        <p:spPr>
          <a:xfrm>
            <a:off x="5613364" y="6007677"/>
            <a:ext cx="194158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FFFFFF"/>
                </a:solidFill>
                <a:latin typeface="JetBrains Mono" pitchFamily="34" charset="0"/>
                <a:ea typeface="JetBrains Mono" pitchFamily="34" charset="-122"/>
                <a:cs typeface="JetBrains Mono" pitchFamily="34" charset="-120"/>
              </a:rPr>
              <a:t>02 GENERATOR</a:t>
            </a:r>
            <a:endParaRPr lang="en-US" sz="1800" dirty="0"/>
          </a:p>
        </p:txBody>
      </p:sp>
      <p:sp>
        <p:nvSpPr>
          <p:cNvPr id="20" name="Text 16"/>
          <p:cNvSpPr/>
          <p:nvPr/>
        </p:nvSpPr>
        <p:spPr>
          <a:xfrm>
            <a:off x="4889464" y="6541077"/>
            <a:ext cx="3662643" cy="781050"/>
          </a:xfrm>
          <a:prstGeom prst="rect">
            <a:avLst/>
          </a:prstGeom>
          <a:noFill/>
          <a:ln/>
        </p:spPr>
        <p:txBody>
          <a:bodyPr wrap="square" lIns="25400" tIns="25400" rIns="25400" bIns="25400" rtlCol="0" anchor="t">
            <a:normAutofit/>
          </a:bodyPr>
          <a:lstStyle/>
          <a:p>
            <a:pPr algn="l" indent="0" marL="0">
              <a:lnSpc>
                <a:spcPct val="107250"/>
              </a:lnSpc>
              <a:buNone/>
            </a:pPr>
            <a:r>
              <a:rPr lang="en-US" sz="2250" dirty="0">
                <a:solidFill>
                  <a:srgbClr val="FFFFFF"/>
                </a:solidFill>
                <a:latin typeface="Inter" pitchFamily="34" charset="0"/>
                <a:ea typeface="Inter" pitchFamily="34" charset="-122"/>
                <a:cs typeface="Inter" pitchFamily="34" charset="-120"/>
              </a:rPr>
              <a:t>3B-Active MoE · DPO · 160 Pairs</a:t>
            </a:r>
            <a:endParaRPr lang="en-US" sz="2250" dirty="0"/>
          </a:p>
        </p:txBody>
      </p:sp>
      <p:sp>
        <p:nvSpPr>
          <p:cNvPr id="21" name="Shape 17"/>
          <p:cNvSpPr/>
          <p:nvPr/>
        </p:nvSpPr>
        <p:spPr>
          <a:xfrm>
            <a:off x="8826428" y="5715000"/>
            <a:ext cx="3555964" cy="9525"/>
          </a:xfrm>
          <a:prstGeom prst="rect">
            <a:avLst/>
          </a:prstGeom>
          <a:solidFill>
            <a:srgbClr val="414750"/>
          </a:solidFill>
          <a:ln/>
        </p:spPr>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26428" y="5950527"/>
            <a:ext cx="419100" cy="419100"/>
          </a:xfrm>
          <a:prstGeom prst="rect">
            <a:avLst/>
          </a:prstGeom>
        </p:spPr>
      </p:pic>
      <p:sp>
        <p:nvSpPr>
          <p:cNvPr id="23" name="Shape 18"/>
          <p:cNvSpPr/>
          <p:nvPr/>
        </p:nvSpPr>
        <p:spPr>
          <a:xfrm>
            <a:off x="9397928" y="5950527"/>
            <a:ext cx="1393031" cy="419100"/>
          </a:xfrm>
          <a:prstGeom prst="roundRect">
            <a:avLst>
              <a:gd name="adj" fmla="val 50000"/>
            </a:avLst>
          </a:prstGeom>
          <a:solidFill>
            <a:srgbClr val="0F9D58"/>
          </a:solidFill>
          <a:ln/>
        </p:spPr>
      </p:sp>
      <p:sp>
        <p:nvSpPr>
          <p:cNvPr id="24" name="Text 19"/>
          <p:cNvSpPr/>
          <p:nvPr/>
        </p:nvSpPr>
        <p:spPr>
          <a:xfrm>
            <a:off x="9550328" y="6007677"/>
            <a:ext cx="1164431"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FFFFFF"/>
                </a:solidFill>
                <a:latin typeface="JetBrains Mono" pitchFamily="34" charset="0"/>
                <a:ea typeface="JetBrains Mono" pitchFamily="34" charset="-122"/>
                <a:cs typeface="JetBrains Mono" pitchFamily="34" charset="-120"/>
              </a:rPr>
              <a:t>03 JURY</a:t>
            </a:r>
            <a:endParaRPr lang="en-US" sz="1800" dirty="0"/>
          </a:p>
        </p:txBody>
      </p:sp>
      <p:sp>
        <p:nvSpPr>
          <p:cNvPr id="25" name="Text 20"/>
          <p:cNvSpPr/>
          <p:nvPr/>
        </p:nvSpPr>
        <p:spPr>
          <a:xfrm>
            <a:off x="8826428" y="6541077"/>
            <a:ext cx="3662643" cy="781050"/>
          </a:xfrm>
          <a:prstGeom prst="rect">
            <a:avLst/>
          </a:prstGeom>
          <a:noFill/>
          <a:ln/>
        </p:spPr>
        <p:txBody>
          <a:bodyPr wrap="square" lIns="25400" tIns="25400" rIns="25400" bIns="25400" rtlCol="0" anchor="t">
            <a:normAutofit/>
          </a:bodyPr>
          <a:lstStyle/>
          <a:p>
            <a:pPr algn="l" indent="0" marL="0">
              <a:lnSpc>
                <a:spcPct val="107250"/>
              </a:lnSpc>
              <a:buNone/>
            </a:pPr>
            <a:r>
              <a:rPr lang="en-US" sz="2250" dirty="0">
                <a:solidFill>
                  <a:srgbClr val="FFFFFF"/>
                </a:solidFill>
                <a:latin typeface="Inter" pitchFamily="34" charset="0"/>
                <a:ea typeface="Inter" pitchFamily="34" charset="-122"/>
                <a:cs typeface="Inter" pitchFamily="34" charset="-120"/>
              </a:rPr>
              <a:t>Cross-Family, Evidence-Grounded</a:t>
            </a:r>
            <a:endParaRPr lang="en-US" sz="2250" dirty="0"/>
          </a:p>
        </p:txBody>
      </p:sp>
      <p:sp>
        <p:nvSpPr>
          <p:cNvPr id="26" name="Text 21"/>
          <p:cNvSpPr/>
          <p:nvPr/>
        </p:nvSpPr>
        <p:spPr>
          <a:xfrm>
            <a:off x="952500" y="8532669"/>
            <a:ext cx="1063769" cy="342900"/>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99A1AE"/>
                </a:solidFill>
                <a:latin typeface="JetBrains Mono" pitchFamily="34" charset="0"/>
                <a:ea typeface="JetBrains Mono" pitchFamily="34" charset="-122"/>
                <a:cs typeface="JetBrains Mono" pitchFamily="34" charset="-120"/>
              </a:rPr>
              <a:t>LIMITS</a:t>
            </a:r>
            <a:endParaRPr lang="en-US" sz="1800" dirty="0"/>
          </a:p>
        </p:txBody>
      </p:sp>
      <p:sp>
        <p:nvSpPr>
          <p:cNvPr id="27" name="Shape 22"/>
          <p:cNvSpPr/>
          <p:nvPr/>
        </p:nvSpPr>
        <p:spPr>
          <a:xfrm>
            <a:off x="2130569" y="8449541"/>
            <a:ext cx="3835328" cy="471055"/>
          </a:xfrm>
          <a:prstGeom prst="roundRect">
            <a:avLst>
              <a:gd name="adj" fmla="val 24265"/>
            </a:avLst>
          </a:prstGeom>
          <a:ln w="6927">
            <a:solidFill>
              <a:srgbClr val="414750"/>
            </a:solidFill>
            <a:prstDash val="solid"/>
          </a:ln>
        </p:spPr>
      </p:sp>
      <p:pic>
        <p:nvPicPr>
          <p:cNvPr id="2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89897" y="8551719"/>
            <a:ext cx="266700" cy="266700"/>
          </a:xfrm>
          <a:prstGeom prst="rect">
            <a:avLst/>
          </a:prstGeom>
        </p:spPr>
      </p:pic>
      <p:sp>
        <p:nvSpPr>
          <p:cNvPr id="29" name="Text 23"/>
          <p:cNvSpPr/>
          <p:nvPr/>
        </p:nvSpPr>
        <p:spPr>
          <a:xfrm>
            <a:off x="2651847" y="8532669"/>
            <a:ext cx="3249365" cy="342900"/>
          </a:xfrm>
          <a:prstGeom prst="rect">
            <a:avLst/>
          </a:prstGeom>
          <a:noFill/>
          <a:ln/>
        </p:spPr>
        <p:txBody>
          <a:bodyPr wrap="square" lIns="0" tIns="0" rIns="0" bIns="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LLM Judges, Not Experts</a:t>
            </a:r>
            <a:endParaRPr lang="en-US" sz="1800" dirty="0"/>
          </a:p>
        </p:txBody>
      </p:sp>
      <p:sp>
        <p:nvSpPr>
          <p:cNvPr id="30" name="Shape 24"/>
          <p:cNvSpPr/>
          <p:nvPr/>
        </p:nvSpPr>
        <p:spPr>
          <a:xfrm>
            <a:off x="6099247" y="8449541"/>
            <a:ext cx="2875251" cy="471055"/>
          </a:xfrm>
          <a:prstGeom prst="roundRect">
            <a:avLst>
              <a:gd name="adj" fmla="val 24265"/>
            </a:avLst>
          </a:prstGeom>
          <a:ln w="6927">
            <a:solidFill>
              <a:srgbClr val="414750"/>
            </a:solidFill>
            <a:prstDash val="solid"/>
          </a:ln>
        </p:spPr>
      </p:sp>
      <p:pic>
        <p:nvPicPr>
          <p:cNvPr id="3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58574" y="8551719"/>
            <a:ext cx="266700" cy="266700"/>
          </a:xfrm>
          <a:prstGeom prst="rect">
            <a:avLst/>
          </a:prstGeom>
        </p:spPr>
      </p:pic>
      <p:sp>
        <p:nvSpPr>
          <p:cNvPr id="32" name="Text 25"/>
          <p:cNvSpPr/>
          <p:nvPr/>
        </p:nvSpPr>
        <p:spPr>
          <a:xfrm>
            <a:off x="6620524" y="8532669"/>
            <a:ext cx="2270847" cy="342900"/>
          </a:xfrm>
          <a:prstGeom prst="rect">
            <a:avLst/>
          </a:prstGeom>
          <a:noFill/>
          <a:ln/>
        </p:spPr>
        <p:txBody>
          <a:bodyPr wrap="square" lIns="0" tIns="0" rIns="0" bIns="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English Synopses</a:t>
            </a:r>
            <a:endParaRPr lang="en-US" sz="1800" dirty="0"/>
          </a:p>
        </p:txBody>
      </p:sp>
      <p:sp>
        <p:nvSpPr>
          <p:cNvPr id="33" name="Shape 26"/>
          <p:cNvSpPr/>
          <p:nvPr/>
        </p:nvSpPr>
        <p:spPr>
          <a:xfrm>
            <a:off x="952500" y="9053946"/>
            <a:ext cx="3698190" cy="471055"/>
          </a:xfrm>
          <a:prstGeom prst="roundRect">
            <a:avLst>
              <a:gd name="adj" fmla="val 24265"/>
            </a:avLst>
          </a:prstGeom>
          <a:ln w="6927">
            <a:solidFill>
              <a:srgbClr val="414750"/>
            </a:solidFill>
            <a:prstDash val="solid"/>
          </a:ln>
        </p:spPr>
      </p:sp>
      <p:pic>
        <p:nvPicPr>
          <p:cNvPr id="3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11827" y="9156123"/>
            <a:ext cx="266700" cy="266700"/>
          </a:xfrm>
          <a:prstGeom prst="rect">
            <a:avLst/>
          </a:prstGeom>
        </p:spPr>
      </p:pic>
      <p:sp>
        <p:nvSpPr>
          <p:cNvPr id="35" name="Text 27"/>
          <p:cNvSpPr/>
          <p:nvPr/>
        </p:nvSpPr>
        <p:spPr>
          <a:xfrm>
            <a:off x="1473777" y="9137073"/>
            <a:ext cx="3108113" cy="342900"/>
          </a:xfrm>
          <a:prstGeom prst="rect">
            <a:avLst/>
          </a:prstGeom>
          <a:noFill/>
          <a:ln/>
        </p:spPr>
        <p:txBody>
          <a:bodyPr wrap="square" lIns="0" tIns="0" rIns="0" bIns="0" rtlCol="0" anchor="t">
            <a:normAutofit/>
          </a:bodyPr>
          <a:lstStyle/>
          <a:p>
            <a:pPr algn="l" indent="0" marL="0">
              <a:buNone/>
            </a:pPr>
            <a:r>
              <a:rPr lang="en-US" sz="1800" dirty="0">
                <a:solidFill>
                  <a:srgbClr val="FFFFFF"/>
                </a:solidFill>
                <a:latin typeface="JetBrains Mono" pitchFamily="34" charset="0"/>
                <a:ea typeface="JetBrains Mono" pitchFamily="34" charset="-122"/>
                <a:cs typeface="JetBrains Mono" pitchFamily="34" charset="-120"/>
              </a:rPr>
              <a:t>Claude Comparison Open</a:t>
            </a:r>
            <a:endParaRPr lang="en-US" sz="1800" dirty="0"/>
          </a:p>
        </p:txBody>
      </p:sp>
      <p:pic>
        <p:nvPicPr>
          <p:cNvPr id="36" name="Image 6" descr="preencoded.png">    </p:cNvPr>
          <p:cNvPicPr>
            <a:picLocks noChangeAspect="1"/>
          </p:cNvPicPr>
          <p:nvPr/>
        </p:nvPicPr>
        <p:blipFill>
          <a:blip r:embed="rId13"/>
          <a:stretch>
            <a:fillRect/>
          </a:stretch>
        </p:blipFill>
        <p:spPr>
          <a:xfrm>
            <a:off x="13570527" y="5905500"/>
            <a:ext cx="3860223" cy="4381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91F"/>
        </a:solidFill>
      </p:bgPr>
    </p:bg>
    <p:spTree>
      <p:nvGrpSpPr>
        <p:cNvPr id="1" name=""/>
        <p:cNvGrpSpPr/>
        <p:nvPr/>
      </p:nvGrpSpPr>
      <p:grpSpPr>
        <a:xfrm>
          <a:off x="0" y="0"/>
          <a:ext cx="0" cy="0"/>
          <a:chOff x="0" y="0"/>
          <a:chExt cx="0" cy="0"/>
        </a:xfrm>
      </p:grpSpPr>
      <p:sp>
        <p:nvSpPr>
          <p:cNvPr id="2" name="Text 0"/>
          <p:cNvSpPr/>
          <p:nvPr/>
        </p:nvSpPr>
        <p:spPr>
          <a:xfrm>
            <a:off x="952500" y="533400"/>
            <a:ext cx="1539002"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PLOTTWIST</a:t>
            </a:r>
            <a:endParaRPr lang="en-US" sz="1800" dirty="0"/>
          </a:p>
        </p:txBody>
      </p:sp>
      <p:sp>
        <p:nvSpPr>
          <p:cNvPr id="3" name="Text 1"/>
          <p:cNvSpPr/>
          <p:nvPr/>
        </p:nvSpPr>
        <p:spPr>
          <a:xfrm>
            <a:off x="17024531" y="533400"/>
            <a:ext cx="38717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99A1AE"/>
                </a:solidFill>
                <a:latin typeface="JetBrains Mono" pitchFamily="34" charset="0"/>
                <a:ea typeface="JetBrains Mono" pitchFamily="34" charset="-122"/>
                <a:cs typeface="JetBrains Mono" pitchFamily="34" charset="-120"/>
              </a:rPr>
              <a:t>19</a:t>
            </a:r>
            <a:endParaRPr lang="en-US" sz="1800" dirty="0"/>
          </a:p>
        </p:txBody>
      </p:sp>
      <p:sp>
        <p:nvSpPr>
          <p:cNvPr id="4" name="Text 2"/>
          <p:cNvSpPr/>
          <p:nvPr/>
        </p:nvSpPr>
        <p:spPr>
          <a:xfrm>
            <a:off x="952500" y="3566680"/>
            <a:ext cx="7195185" cy="391391"/>
          </a:xfrm>
          <a:prstGeom prst="rect">
            <a:avLst/>
          </a:prstGeom>
          <a:noFill/>
          <a:ln/>
        </p:spPr>
        <p:txBody>
          <a:bodyPr wrap="square" lIns="25400" tIns="25400" rIns="25400" bIns="25400" rtlCol="0" anchor="t">
            <a:normAutofit/>
          </a:bodyPr>
          <a:lstStyle/>
          <a:p>
            <a:pPr algn="l" indent="0" marL="0">
              <a:buNone/>
            </a:pPr>
            <a:r>
              <a:rPr lang="en-US" sz="2100" spc="420" kern="0" dirty="0">
                <a:solidFill>
                  <a:srgbClr val="99A1AE"/>
                </a:solidFill>
                <a:latin typeface="JetBrains Mono" pitchFamily="34" charset="0"/>
                <a:ea typeface="JetBrains Mono" pitchFamily="34" charset="-122"/>
                <a:cs typeface="JetBrains Mono" pitchFamily="34" charset="-120"/>
              </a:rPr>
              <a:t>CURTAIN CALL</a:t>
            </a:r>
            <a:endParaRPr lang="en-US" sz="2100" dirty="0"/>
          </a:p>
        </p:txBody>
      </p:sp>
      <p:sp>
        <p:nvSpPr>
          <p:cNvPr id="5" name="Text 3"/>
          <p:cNvSpPr/>
          <p:nvPr/>
        </p:nvSpPr>
        <p:spPr>
          <a:xfrm>
            <a:off x="952500" y="4186671"/>
            <a:ext cx="6737310" cy="2571750"/>
          </a:xfrm>
          <a:prstGeom prst="rect">
            <a:avLst/>
          </a:prstGeom>
          <a:noFill/>
          <a:ln/>
        </p:spPr>
        <p:txBody>
          <a:bodyPr wrap="square" lIns="25400" tIns="25400" rIns="25400" bIns="25400" rtlCol="0" anchor="t">
            <a:normAutofit/>
          </a:bodyPr>
          <a:lstStyle/>
          <a:p>
            <a:pPr algn="l" indent="0" marL="0">
              <a:lnSpc>
                <a:spcPct val="78825"/>
              </a:lnSpc>
              <a:buNone/>
            </a:pPr>
            <a:r>
              <a:rPr lang="en-US" sz="10500" b="1" spc="-420" kern="0" dirty="0">
                <a:solidFill>
                  <a:srgbClr val="FFFFFF"/>
                </a:solidFill>
                <a:latin typeface="Inter" pitchFamily="34" charset="0"/>
                <a:ea typeface="Inter" pitchFamily="34" charset="-122"/>
                <a:cs typeface="Inter" pitchFamily="34" charset="-120"/>
              </a:rPr>
              <a:t>Any questions?</a:t>
            </a:r>
            <a:endParaRPr lang="en-US" sz="10500" dirty="0"/>
          </a:p>
        </p:txBody>
      </p:sp>
      <p:sp>
        <p:nvSpPr>
          <p:cNvPr id="6" name="Shape 4"/>
          <p:cNvSpPr/>
          <p:nvPr/>
        </p:nvSpPr>
        <p:spPr>
          <a:xfrm>
            <a:off x="7429500" y="1714500"/>
            <a:ext cx="11430000" cy="11430000"/>
          </a:xfrm>
          <a:prstGeom prst="ellipse">
            <a:avLst/>
          </a:prstGeom>
          <a:gradFill rotWithShape="1">
            <a:gsLst>
              <a:gs pos="0">
                <a:srgbClr val="FFFFFF">
                  <a:alpha val="14000"/>
                </a:srgbClr>
              </a:gs>
              <a:gs pos="100000">
                <a:srgbClr val="FFFFFF">
                  <a:alpha val="0"/>
                </a:srgbClr>
              </a:gs>
            </a:gsLst>
            <a:path path="circle">
              <a:fillToRect l="50000" t="50000" r="50000" b="50000"/>
            </a:path>
          </a:gradFill>
          <a:ln/>
        </p:spPr>
      </p:sp>
      <p:pic>
        <p:nvPicPr>
          <p:cNvPr id="7" name="Image 0" descr="preencoded.png">    </p:cNvPr>
          <p:cNvPicPr>
            <a:picLocks noChangeAspect="1"/>
          </p:cNvPicPr>
          <p:nvPr/>
        </p:nvPicPr>
        <p:blipFill>
          <a:blip r:embed="rId1"/>
          <a:stretch>
            <a:fillRect/>
          </a:stretch>
        </p:blipFill>
        <p:spPr>
          <a:xfrm>
            <a:off x="8712886" y="3429000"/>
            <a:ext cx="938461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657225"/>
            <a:ext cx="1835944" cy="323850"/>
          </a:xfrm>
          <a:prstGeom prst="rect">
            <a:avLst/>
          </a:prstGeom>
        </p:spPr>
      </p:pic>
      <p:pic>
        <p:nvPicPr>
          <p:cNvPr id="3" name="Image 1" descr="preencoded.png">    </p:cNvPr>
          <p:cNvPicPr>
            <a:picLocks noChangeAspect="1"/>
          </p:cNvPicPr>
          <p:nvPr/>
        </p:nvPicPr>
        <p:blipFill>
          <a:blip r:embed="rId2"/>
          <a:stretch>
            <a:fillRect/>
          </a:stretch>
        </p:blipFill>
        <p:spPr>
          <a:xfrm>
            <a:off x="14054679" y="533400"/>
            <a:ext cx="3280822" cy="571500"/>
          </a:xfrm>
          <a:prstGeom prst="rect">
            <a:avLst/>
          </a:prstGeom>
        </p:spPr>
      </p:pic>
      <p:sp>
        <p:nvSpPr>
          <p:cNvPr id="4" name="Text 0"/>
          <p:cNvSpPr/>
          <p:nvPr/>
        </p:nvSpPr>
        <p:spPr>
          <a:xfrm>
            <a:off x="952500" y="2602273"/>
            <a:ext cx="10477500" cy="1752600"/>
          </a:xfrm>
          <a:prstGeom prst="rect">
            <a:avLst/>
          </a:prstGeom>
          <a:noFill/>
          <a:ln/>
        </p:spPr>
        <p:txBody>
          <a:bodyPr wrap="none" lIns="25400" tIns="25400" rIns="25400" bIns="25400" rtlCol="0" anchor="t">
            <a:normAutofit/>
          </a:bodyPr>
          <a:lstStyle/>
          <a:p>
            <a:pPr algn="l" indent="0" marL="0">
              <a:lnSpc>
                <a:spcPct val="74548"/>
              </a:lnSpc>
              <a:buNone/>
            </a:pPr>
            <a:r>
              <a:rPr lang="en-US" sz="15000" b="1" spc="-675" kern="0" dirty="0">
                <a:solidFill>
                  <a:srgbClr val="16191F"/>
                </a:solidFill>
                <a:latin typeface="Inter" pitchFamily="34" charset="0"/>
                <a:ea typeface="Inter" pitchFamily="34" charset="-122"/>
                <a:cs typeface="Inter" pitchFamily="34" charset="-120"/>
              </a:rPr>
              <a:t>PlotTwist</a:t>
            </a:r>
            <a:endParaRPr lang="en-US" sz="15000" dirty="0"/>
          </a:p>
        </p:txBody>
      </p:sp>
      <p:sp>
        <p:nvSpPr>
          <p:cNvPr id="5" name="Text 1"/>
          <p:cNvSpPr/>
          <p:nvPr/>
        </p:nvSpPr>
        <p:spPr>
          <a:xfrm>
            <a:off x="952500" y="4583473"/>
            <a:ext cx="9810750" cy="1043853"/>
          </a:xfrm>
          <a:prstGeom prst="rect">
            <a:avLst/>
          </a:prstGeom>
          <a:noFill/>
          <a:ln/>
        </p:spPr>
        <p:txBody>
          <a:bodyPr wrap="square" lIns="25400" tIns="25400" rIns="25400" bIns="25400" rtlCol="0" anchor="t">
            <a:normAutofit/>
          </a:bodyPr>
          <a:lstStyle/>
          <a:p>
            <a:pPr algn="l" indent="0" marL="0">
              <a:lnSpc>
                <a:spcPct val="98108"/>
              </a:lnSpc>
              <a:buNone/>
            </a:pPr>
            <a:r>
              <a:rPr lang="en-US" sz="3300" spc="-49" kern="0" dirty="0">
                <a:solidFill>
                  <a:srgbClr val="414750"/>
                </a:solidFill>
                <a:latin typeface="Inter" pitchFamily="34" charset="0"/>
                <a:ea typeface="Inter" pitchFamily="34" charset="-122"/>
                <a:cs typeface="Inter" pitchFamily="34" charset="-120"/>
              </a:rPr>
              <a:t>A Creative Plot Generation Framework with Small Language Models</a:t>
            </a:r>
            <a:endParaRPr lang="en-US" sz="3300" dirty="0"/>
          </a:p>
        </p:txBody>
      </p:sp>
      <p:sp>
        <p:nvSpPr>
          <p:cNvPr id="6" name="Shape 2"/>
          <p:cNvSpPr/>
          <p:nvPr/>
        </p:nvSpPr>
        <p:spPr>
          <a:xfrm>
            <a:off x="13213774" y="1652371"/>
            <a:ext cx="4052455" cy="4052455"/>
          </a:xfrm>
          <a:prstGeom prst="roundRect">
            <a:avLst>
              <a:gd name="adj" fmla="val 5641"/>
            </a:avLst>
          </a:prstGeom>
          <a:solidFill>
            <a:srgbClr val="FFFFFF"/>
          </a:solidFill>
          <a:ln w="6927">
            <a:solidFill>
              <a:srgbClr val="CFD4DC"/>
            </a:solidFill>
            <a:prstDash val="solid"/>
          </a:ln>
        </p:spPr>
      </p:sp>
      <p:pic>
        <p:nvPicPr>
          <p:cNvPr id="7" name="Image 2" descr="preencoded.png">    </p:cNvPr>
          <p:cNvPicPr>
            <a:picLocks noChangeAspect="1"/>
          </p:cNvPicPr>
          <p:nvPr/>
        </p:nvPicPr>
        <p:blipFill>
          <a:blip r:embed="rId3"/>
          <a:stretch>
            <a:fillRect/>
          </a:stretch>
        </p:blipFill>
        <p:spPr>
          <a:xfrm>
            <a:off x="13525500" y="1964098"/>
            <a:ext cx="3429000" cy="3429000"/>
          </a:xfrm>
          <a:prstGeom prst="rect">
            <a:avLst/>
          </a:prstGeom>
        </p:spPr>
      </p:pic>
      <p:sp>
        <p:nvSpPr>
          <p:cNvPr id="8" name="Text 3"/>
          <p:cNvSpPr/>
          <p:nvPr/>
        </p:nvSpPr>
        <p:spPr>
          <a:xfrm>
            <a:off x="13081635" y="5895326"/>
            <a:ext cx="4316730" cy="681903"/>
          </a:xfrm>
          <a:prstGeom prst="rect">
            <a:avLst/>
          </a:prstGeom>
          <a:noFill/>
          <a:ln/>
        </p:spPr>
        <p:txBody>
          <a:bodyPr wrap="square" lIns="25400" tIns="25400" rIns="25400" bIns="25400" rtlCol="0" anchor="t">
            <a:normAutofit/>
          </a:bodyPr>
          <a:lstStyle/>
          <a:p>
            <a:pPr algn="ctr" indent="0" marL="0">
              <a:lnSpc>
                <a:spcPct val="105625"/>
              </a:lnSpc>
              <a:buNone/>
            </a:pPr>
            <a:r>
              <a:rPr lang="en-US" sz="1950" dirty="0">
                <a:solidFill>
                  <a:srgbClr val="414750"/>
                </a:solidFill>
                <a:latin typeface="Inter" pitchFamily="34" charset="0"/>
                <a:ea typeface="Inter" pitchFamily="34" charset="-122"/>
                <a:cs typeface="Inter" pitchFamily="34" charset="-120"/>
              </a:rPr>
              <a:t>Visit here to know more about our work</a:t>
            </a:r>
            <a:endParaRPr lang="en-US" sz="1950" dirty="0"/>
          </a:p>
        </p:txBody>
      </p:sp>
      <p:sp>
        <p:nvSpPr>
          <p:cNvPr id="9" name="Shape 4"/>
          <p:cNvSpPr/>
          <p:nvPr/>
        </p:nvSpPr>
        <p:spPr>
          <a:xfrm>
            <a:off x="952500" y="8098848"/>
            <a:ext cx="16383000" cy="9525"/>
          </a:xfrm>
          <a:prstGeom prst="rect">
            <a:avLst/>
          </a:prstGeom>
          <a:solidFill>
            <a:srgbClr val="CFD4DC"/>
          </a:solidFill>
          <a:ln/>
        </p:spPr>
      </p:sp>
      <p:sp>
        <p:nvSpPr>
          <p:cNvPr id="10" name="Text 5"/>
          <p:cNvSpPr/>
          <p:nvPr/>
        </p:nvSpPr>
        <p:spPr>
          <a:xfrm>
            <a:off x="952500" y="8448675"/>
            <a:ext cx="3026212" cy="476250"/>
          </a:xfrm>
          <a:prstGeom prst="rect">
            <a:avLst/>
          </a:prstGeom>
          <a:noFill/>
          <a:ln/>
        </p:spPr>
        <p:txBody>
          <a:bodyPr wrap="none" lIns="25400" tIns="25400" rIns="25400" bIns="25400" rtlCol="0" anchor="t">
            <a:normAutofit/>
          </a:bodyPr>
          <a:lstStyle/>
          <a:p>
            <a:pPr algn="l" indent="0" marL="0">
              <a:lnSpc>
                <a:spcPct val="95833"/>
              </a:lnSpc>
              <a:buNone/>
            </a:pPr>
            <a:r>
              <a:rPr lang="en-US" sz="3000" b="1" spc="-45" kern="0" dirty="0">
                <a:solidFill>
                  <a:srgbClr val="16191F"/>
                </a:solidFill>
                <a:latin typeface="Inter" pitchFamily="34" charset="0"/>
                <a:ea typeface="Inter" pitchFamily="34" charset="-122"/>
                <a:cs typeface="Inter" pitchFamily="34" charset="-120"/>
              </a:rPr>
              <a:t>Abhinav Thorat</a:t>
            </a:r>
            <a:endParaRPr lang="en-US" sz="3000" dirty="0"/>
          </a:p>
        </p:txBody>
      </p:sp>
      <p:sp>
        <p:nvSpPr>
          <p:cNvPr id="11" name="Text 6"/>
          <p:cNvSpPr/>
          <p:nvPr/>
        </p:nvSpPr>
        <p:spPr>
          <a:xfrm>
            <a:off x="4122702" y="8448675"/>
            <a:ext cx="1896904" cy="476250"/>
          </a:xfrm>
          <a:prstGeom prst="rect">
            <a:avLst/>
          </a:prstGeom>
          <a:noFill/>
          <a:ln/>
        </p:spPr>
        <p:txBody>
          <a:bodyPr wrap="none" lIns="25400" tIns="25400" rIns="25400" bIns="25400" rtlCol="0" anchor="t">
            <a:normAutofit/>
          </a:bodyPr>
          <a:lstStyle/>
          <a:p>
            <a:pPr algn="l" indent="0" marL="0">
              <a:lnSpc>
                <a:spcPct val="95833"/>
              </a:lnSpc>
              <a:buNone/>
            </a:pPr>
            <a:r>
              <a:rPr lang="en-US" sz="3000" b="1" spc="-45" kern="0" dirty="0">
                <a:solidFill>
                  <a:srgbClr val="16191F"/>
                </a:solidFill>
                <a:latin typeface="Inter" pitchFamily="34" charset="0"/>
                <a:ea typeface="Inter" pitchFamily="34" charset="-122"/>
                <a:cs typeface="Inter" pitchFamily="34" charset="-120"/>
              </a:rPr>
              <a:t>Ravi Kolla</a:t>
            </a:r>
            <a:endParaRPr lang="en-US" sz="3000" dirty="0"/>
          </a:p>
        </p:txBody>
      </p:sp>
      <p:sp>
        <p:nvSpPr>
          <p:cNvPr id="12" name="Text 7"/>
          <p:cNvSpPr/>
          <p:nvPr/>
        </p:nvSpPr>
        <p:spPr>
          <a:xfrm>
            <a:off x="6266259" y="8448675"/>
            <a:ext cx="2214086" cy="476250"/>
          </a:xfrm>
          <a:prstGeom prst="rect">
            <a:avLst/>
          </a:prstGeom>
          <a:noFill/>
          <a:ln/>
        </p:spPr>
        <p:txBody>
          <a:bodyPr wrap="none" lIns="25400" tIns="25400" rIns="25400" bIns="25400" rtlCol="0" anchor="t">
            <a:normAutofit/>
          </a:bodyPr>
          <a:lstStyle/>
          <a:p>
            <a:pPr algn="l" indent="0" marL="0">
              <a:lnSpc>
                <a:spcPct val="95833"/>
              </a:lnSpc>
              <a:buNone/>
            </a:pPr>
            <a:r>
              <a:rPr lang="en-US" sz="3000" b="1" spc="-45" kern="0" dirty="0">
                <a:solidFill>
                  <a:srgbClr val="16191F"/>
                </a:solidFill>
                <a:latin typeface="Inter" pitchFamily="34" charset="0"/>
                <a:ea typeface="Inter" pitchFamily="34" charset="-122"/>
                <a:cs typeface="Inter" pitchFamily="34" charset="-120"/>
              </a:rPr>
              <a:t>Jyotin Goel</a:t>
            </a:r>
            <a:endParaRPr lang="en-US" sz="3000" dirty="0"/>
          </a:p>
        </p:txBody>
      </p:sp>
      <p:sp>
        <p:nvSpPr>
          <p:cNvPr id="13" name="Text 8"/>
          <p:cNvSpPr/>
          <p:nvPr/>
        </p:nvSpPr>
        <p:spPr>
          <a:xfrm>
            <a:off x="8698166" y="8448675"/>
            <a:ext cx="3088124" cy="476250"/>
          </a:xfrm>
          <a:prstGeom prst="rect">
            <a:avLst/>
          </a:prstGeom>
          <a:noFill/>
          <a:ln/>
        </p:spPr>
        <p:txBody>
          <a:bodyPr wrap="none" lIns="25400" tIns="25400" rIns="25400" bIns="25400" rtlCol="0" anchor="t">
            <a:normAutofit/>
          </a:bodyPr>
          <a:lstStyle/>
          <a:p>
            <a:pPr algn="l" indent="0" marL="0">
              <a:lnSpc>
                <a:spcPct val="95833"/>
              </a:lnSpc>
              <a:buNone/>
            </a:pPr>
            <a:r>
              <a:rPr lang="en-US" sz="3000" b="1" spc="-45" kern="0" dirty="0">
                <a:solidFill>
                  <a:srgbClr val="16191F"/>
                </a:solidFill>
                <a:latin typeface="Inter" pitchFamily="34" charset="0"/>
                <a:ea typeface="Inter" pitchFamily="34" charset="-122"/>
                <a:cs typeface="Inter" pitchFamily="34" charset="-120"/>
              </a:rPr>
              <a:t>Madhav Kataria</a:t>
            </a:r>
            <a:endParaRPr lang="en-US" sz="3000" dirty="0"/>
          </a:p>
        </p:txBody>
      </p:sp>
      <p:sp>
        <p:nvSpPr>
          <p:cNvPr id="14" name="Text 9"/>
          <p:cNvSpPr/>
          <p:nvPr/>
        </p:nvSpPr>
        <p:spPr>
          <a:xfrm>
            <a:off x="11924651" y="8448675"/>
            <a:ext cx="3853815" cy="476250"/>
          </a:xfrm>
          <a:prstGeom prst="rect">
            <a:avLst/>
          </a:prstGeom>
          <a:noFill/>
          <a:ln/>
        </p:spPr>
        <p:txBody>
          <a:bodyPr wrap="none" lIns="25400" tIns="25400" rIns="25400" bIns="25400" rtlCol="0" anchor="t">
            <a:normAutofit/>
          </a:bodyPr>
          <a:lstStyle/>
          <a:p>
            <a:pPr algn="l" indent="0" marL="0">
              <a:lnSpc>
                <a:spcPct val="95833"/>
              </a:lnSpc>
              <a:buNone/>
            </a:pPr>
            <a:r>
              <a:rPr lang="en-US" sz="3000" b="1" spc="-45" kern="0" dirty="0">
                <a:solidFill>
                  <a:srgbClr val="16191F"/>
                </a:solidFill>
                <a:latin typeface="Inter" pitchFamily="34" charset="0"/>
                <a:ea typeface="Inter" pitchFamily="34" charset="-122"/>
                <a:cs typeface="Inter" pitchFamily="34" charset="-120"/>
              </a:rPr>
              <a:t>Niranjan Pedanekar</a:t>
            </a:r>
            <a:endParaRPr lang="en-US" sz="3000" dirty="0"/>
          </a:p>
        </p:txBody>
      </p:sp>
      <p:sp>
        <p:nvSpPr>
          <p:cNvPr id="15" name="Text 10"/>
          <p:cNvSpPr/>
          <p:nvPr/>
        </p:nvSpPr>
        <p:spPr>
          <a:xfrm>
            <a:off x="952500" y="9058275"/>
            <a:ext cx="18021300" cy="409575"/>
          </a:xfrm>
          <a:prstGeom prst="rect">
            <a:avLst/>
          </a:prstGeom>
          <a:noFill/>
          <a:ln/>
        </p:spPr>
        <p:txBody>
          <a:bodyPr wrap="square" lIns="25400" tIns="25400" rIns="25400" bIns="25400" rtlCol="0" anchor="t">
            <a:normAutofit/>
          </a:bodyPr>
          <a:lstStyle/>
          <a:p>
            <a:pPr algn="l" indent="0" marL="0">
              <a:lnSpc>
                <a:spcPct val="107250"/>
              </a:lnSpc>
              <a:buNone/>
            </a:pPr>
            <a:r>
              <a:rPr lang="en-US" sz="2250" dirty="0">
                <a:solidFill>
                  <a:srgbClr val="414750"/>
                </a:solidFill>
                <a:latin typeface="Inter" pitchFamily="34" charset="0"/>
                <a:ea typeface="Inter" pitchFamily="34" charset="-122"/>
                <a:cs typeface="Inter" pitchFamily="34" charset="-120"/>
              </a:rPr>
              <a:t>User Engagement Research, Sony Research India</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2026-09-23T14:37:15Z</dcterms:created>
  <dcterms:modified xsi:type="dcterms:W3CDTF">2026-09-23T14:37:15Z</dcterms:modified>
</cp:coreProperties>
</file>